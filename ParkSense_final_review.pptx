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0156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ParkSense uses ordinary cameras and computer vision to tell drivers which parking bays are free, and recommends the best bay. Team name: THREE OF US.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problem statement into three deliverables: detect free vs occupied using cameras, do it in real time, and give users availability plus navigation.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clarity slide for the reviewers: every keyword in the problem statement maps to one concrete thing we will build.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The problem is everyday and relatable; the camera approach is what makes the solution cheap and scalable compared with in-ground sensors.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capabilities. The numbers on the right are design targets we will validate during testing, not measured results yet.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end-to-end flow: camera, video stream, computer vision with YOLO and OpenCV, slot identification, occupancy detection, availability calculation, web dashboard and finally slot recommendation. Follow the numbers 1 to 8; the flow snakes down at stage 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in one view: camera captures the lot, the AI layer finds slots and classifies FREE or OCCUPIED, and also flags wrong parking and emergency-lane blocking. The backend stores status and events and triggers alerts. The dashboard shows counts, the live map and the best slot. The output stage delivers the slot, navigation, ML-based availability prediction and alerts.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is a two-part idea: YOLO finds vehicles, and simple geometry decides which bay each vehicle sits in. Smoothing over a few frames avoids false flicker when a car is just passing by.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also asks for navigation. Our final stage recommends the best free bay and draws the route from the entrance to it on the lot map. For a first version the lot layout is a hand-drawn graph.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safety feature: the emergency or fire lane is marked as a protected zone. The same camera that finds free bays also spots a vehicle parked in that lane and alerts security. When an ambulance or fire truck is detected, the dashboard shows a cleared route. Note: recognising ambulances and fire trucks needs a custom-trained YOLO class, so for the demo this can be simulated. Fire lanes are commonly kept at least 20 ft (about 6 m) wide under IFC / NFPA 1 baselines; confirm the local code.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special workflows. A: wrong parking is a zone check on every detected vehicle. B: emergency-lane blocking uses a dwell timer so a car merely passing through does not trigger a false alert; the delay is configurable. C: navigation picks the best or nearest free slot and the dashboard guides the driver. The alert cards at the bottom are examples of what the dashboard shows; locations and slot IDs are illustrative.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web dashboard is the user-facing side: counts, a slot map, and a recommended bay with a Show route button. Admins get an extra analytics view.</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open source and free, and every tool here can run on a laptop, so the demo does not depend on special hardware. YOLO can be swapped for another detector without changing the rest of the pipeline.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against the two common alternatives. Ground sensors are accurate but costly per bay; gate counters are cheap but cannot say which bay is free or guide anyone. ParkSense covers both gaps.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Reviewers like to see that risks were thought through. Occlusion and lighting are the main technical risks; privacy is handled by design because no plate data leaves the processing step.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Review is the analysis and design phase. From here the work is build detection first, then connect it to the dashboard and routing, then test and polish. Adjust phase names to your actual review dates.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impact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1.png"/><Relationship Id="rId7"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8.png"/><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11E"/>
        </a:solidFill>
        <a:effectLst/>
      </p:bgPr>
    </p:bg>
    <p:spTree>
      <p:nvGrpSpPr>
        <p:cNvPr id="1" name=""/>
        <p:cNvGrpSpPr/>
        <p:nvPr/>
      </p:nvGrpSpPr>
      <p:grpSpPr>
        <a:xfrm>
          <a:off x="0" y="0"/>
          <a:ext cx="0" cy="0"/>
          <a:chOff x="0" y="0"/>
          <a:chExt cx="0" cy="0"/>
        </a:xfrm>
      </p:grpSpPr>
      <p:sp>
        <p:nvSpPr>
          <p:cNvPr id="3" name="Text 1"/>
          <p:cNvSpPr txBox="1"/>
          <p:nvPr/>
        </p:nvSpPr>
        <p:spPr>
          <a:xfrm>
            <a:off x="548640" y="1097280"/>
            <a:ext cx="4572000" cy="914400"/>
          </a:xfrm>
          <a:prstGeom prst="rect">
            <a:avLst/>
          </a:prstGeom>
          <a:noFill/>
          <a:ln/>
        </p:spPr>
        <p:txBody>
          <a:bodyPr wrap="square" lIns="0" tIns="0" rIns="0" bIns="0" rtlCol="0" anchor="t"/>
          <a:lstStyle/>
          <a:p>
            <a:pPr marL="0" indent="0">
              <a:buNone/>
            </a:pPr>
            <a:r>
              <a:rPr lang="en-US" sz="6000" b="1" dirty="0">
                <a:solidFill>
                  <a:srgbClr val="FFFFFF"/>
                </a:solidFill>
                <a:latin typeface="Cambria" pitchFamily="34" charset="0"/>
                <a:ea typeface="Cambria" pitchFamily="34" charset="-122"/>
                <a:cs typeface="Cambria" pitchFamily="34" charset="-120"/>
              </a:rPr>
              <a:t>ParkSense</a:t>
            </a:r>
            <a:endParaRPr lang="en-US" sz="6000" dirty="0"/>
          </a:p>
        </p:txBody>
      </p:sp>
      <p:sp>
        <p:nvSpPr>
          <p:cNvPr id="4" name="Text 2"/>
          <p:cNvSpPr txBox="1"/>
          <p:nvPr/>
        </p:nvSpPr>
        <p:spPr>
          <a:xfrm>
            <a:off x="548640" y="2148840"/>
            <a:ext cx="4297680" cy="914400"/>
          </a:xfrm>
          <a:prstGeom prst="rect">
            <a:avLst/>
          </a:prstGeom>
          <a:noFill/>
          <a:ln/>
        </p:spPr>
        <p:txBody>
          <a:bodyPr wrap="square" lIns="0" tIns="0" rIns="0" bIns="0" rtlCol="0" anchor="t"/>
          <a:lstStyle/>
          <a:p>
            <a:pPr marL="0" indent="0">
              <a:buNone/>
            </a:pPr>
            <a:r>
              <a:rPr lang="en-US" sz="2000" dirty="0">
                <a:solidFill>
                  <a:srgbClr val="E1DDD9"/>
                </a:solidFill>
                <a:latin typeface="Arial" pitchFamily="34" charset="0"/>
                <a:ea typeface="Arial" pitchFamily="34" charset="-122"/>
                <a:cs typeface="Arial" pitchFamily="34" charset="-120"/>
              </a:rPr>
              <a:t>Camera-based real-time parking detection, availability and slot navigation</a:t>
            </a:r>
            <a:endParaRPr lang="en-US" sz="2000" dirty="0"/>
          </a:p>
        </p:txBody>
      </p:sp>
      <p:sp>
        <p:nvSpPr>
          <p:cNvPr id="6" name="Shape 4"/>
          <p:cNvSpPr/>
          <p:nvPr/>
        </p:nvSpPr>
        <p:spPr>
          <a:xfrm>
            <a:off x="5212080" y="502920"/>
            <a:ext cx="3474720" cy="4114800"/>
          </a:xfrm>
          <a:prstGeom prst="roundRect">
            <a:avLst>
              <a:gd name="adj" fmla="val 3158"/>
            </a:avLst>
          </a:prstGeom>
          <a:solidFill>
            <a:srgbClr val="3A332E"/>
          </a:solidFill>
          <a:ln/>
        </p:spPr>
        <p:txBody>
          <a:bodyPr/>
          <a:lstStyle/>
          <a:p>
            <a:endParaRPr lang="en-IN"/>
          </a:p>
        </p:txBody>
      </p:sp>
      <p:sp>
        <p:nvSpPr>
          <p:cNvPr id="7" name="Shape 5"/>
          <p:cNvSpPr/>
          <p:nvPr/>
        </p:nvSpPr>
        <p:spPr>
          <a:xfrm>
            <a:off x="5422392" y="777240"/>
            <a:ext cx="932688" cy="713232"/>
          </a:xfrm>
          <a:prstGeom prst="roundRect">
            <a:avLst>
              <a:gd name="adj" fmla="val 7692"/>
            </a:avLst>
          </a:prstGeom>
          <a:solidFill>
            <a:srgbClr val="E5484D">
              <a:alpha val="20000"/>
            </a:srgbClr>
          </a:solidFill>
          <a:ln w="19050">
            <a:solidFill>
              <a:srgbClr val="E5484D"/>
            </a:solidFill>
            <a:prstDash val="solid"/>
          </a:ln>
        </p:spPr>
        <p:txBody>
          <a:bodyPr/>
          <a:lstStyle/>
          <a:p>
            <a:endParaRPr lang="en-IN"/>
          </a:p>
        </p:txBody>
      </p:sp>
      <p:pic>
        <p:nvPicPr>
          <p:cNvPr id="8" name="Image 0" descr="preencoded.png"/>
          <p:cNvPicPr>
            <a:picLocks noChangeAspect="1"/>
          </p:cNvPicPr>
          <p:nvPr/>
        </p:nvPicPr>
        <p:blipFill>
          <a:blip r:embed="rId3"/>
          <a:stretch>
            <a:fillRect/>
          </a:stretch>
        </p:blipFill>
        <p:spPr>
          <a:xfrm>
            <a:off x="5710428" y="955548"/>
            <a:ext cx="356616" cy="356616"/>
          </a:xfrm>
          <a:prstGeom prst="rect">
            <a:avLst/>
          </a:prstGeom>
        </p:spPr>
      </p:pic>
      <p:sp>
        <p:nvSpPr>
          <p:cNvPr id="9" name="Text 6"/>
          <p:cNvSpPr txBox="1"/>
          <p:nvPr/>
        </p:nvSpPr>
        <p:spPr>
          <a:xfrm>
            <a:off x="6483096" y="777240"/>
            <a:ext cx="932688" cy="713232"/>
          </a:xfrm>
          <a:prstGeom prst="roundRect">
            <a:avLst>
              <a:gd name="adj" fmla="val 7692"/>
            </a:avLst>
          </a:prstGeom>
          <a:solidFill>
            <a:srgbClr val="1FBF75">
              <a:alpha val="12000"/>
            </a:srgbClr>
          </a:solidFill>
          <a:ln w="19050">
            <a:solidFill>
              <a:srgbClr val="1FBF75"/>
            </a:solidFill>
          </a:ln>
        </p:spPr>
        <p:txBody>
          <a:bodyPr wrap="square" lIns="0" tIns="0" rIns="0" bIns="0" rtlCol="0" anchor="ctr"/>
          <a:lstStyle/>
          <a:p>
            <a:pPr marL="0" indent="0" algn="ctr">
              <a:buNone/>
            </a:pPr>
            <a:r>
              <a:rPr lang="en-US" sz="2000" b="1" dirty="0">
                <a:solidFill>
                  <a:srgbClr val="1FBF75"/>
                </a:solidFill>
                <a:latin typeface="Arial" pitchFamily="34" charset="0"/>
                <a:ea typeface="Arial" pitchFamily="34" charset="-122"/>
                <a:cs typeface="Arial" pitchFamily="34" charset="-120"/>
              </a:rPr>
              <a:t>P</a:t>
            </a:r>
            <a:endParaRPr lang="en-US" sz="2000" dirty="0"/>
          </a:p>
        </p:txBody>
      </p:sp>
      <p:sp>
        <p:nvSpPr>
          <p:cNvPr id="10" name="Shape 7"/>
          <p:cNvSpPr/>
          <p:nvPr/>
        </p:nvSpPr>
        <p:spPr>
          <a:xfrm>
            <a:off x="7543800" y="777240"/>
            <a:ext cx="932688" cy="713232"/>
          </a:xfrm>
          <a:prstGeom prst="roundRect">
            <a:avLst>
              <a:gd name="adj" fmla="val 7692"/>
            </a:avLst>
          </a:prstGeom>
          <a:solidFill>
            <a:srgbClr val="E5484D">
              <a:alpha val="20000"/>
            </a:srgbClr>
          </a:solidFill>
          <a:ln w="19050">
            <a:solidFill>
              <a:srgbClr val="E5484D"/>
            </a:solidFill>
            <a:prstDash val="solid"/>
          </a:ln>
        </p:spPr>
        <p:txBody>
          <a:bodyPr/>
          <a:lstStyle/>
          <a:p>
            <a:endParaRPr lang="en-IN"/>
          </a:p>
        </p:txBody>
      </p:sp>
      <p:pic>
        <p:nvPicPr>
          <p:cNvPr id="11" name="Image 1" descr="preencoded.png"/>
          <p:cNvPicPr>
            <a:picLocks noChangeAspect="1"/>
          </p:cNvPicPr>
          <p:nvPr/>
        </p:nvPicPr>
        <p:blipFill>
          <a:blip r:embed="rId3"/>
          <a:stretch>
            <a:fillRect/>
          </a:stretch>
        </p:blipFill>
        <p:spPr>
          <a:xfrm>
            <a:off x="7831836" y="955548"/>
            <a:ext cx="356616" cy="356616"/>
          </a:xfrm>
          <a:prstGeom prst="rect">
            <a:avLst/>
          </a:prstGeom>
        </p:spPr>
      </p:pic>
      <p:sp>
        <p:nvSpPr>
          <p:cNvPr id="12" name="Text 8"/>
          <p:cNvSpPr txBox="1"/>
          <p:nvPr/>
        </p:nvSpPr>
        <p:spPr>
          <a:xfrm>
            <a:off x="5422392" y="1618488"/>
            <a:ext cx="932688" cy="713232"/>
          </a:xfrm>
          <a:prstGeom prst="roundRect">
            <a:avLst>
              <a:gd name="adj" fmla="val 7692"/>
            </a:avLst>
          </a:prstGeom>
          <a:solidFill>
            <a:srgbClr val="1FBF75">
              <a:alpha val="12000"/>
            </a:srgbClr>
          </a:solidFill>
          <a:ln w="19050">
            <a:solidFill>
              <a:srgbClr val="1FBF75"/>
            </a:solidFill>
          </a:ln>
        </p:spPr>
        <p:txBody>
          <a:bodyPr wrap="square" lIns="0" tIns="0" rIns="0" bIns="0" rtlCol="0" anchor="ctr"/>
          <a:lstStyle/>
          <a:p>
            <a:pPr marL="0" indent="0" algn="ctr">
              <a:buNone/>
            </a:pPr>
            <a:r>
              <a:rPr lang="en-US" sz="2000" b="1" dirty="0">
                <a:solidFill>
                  <a:srgbClr val="1FBF75"/>
                </a:solidFill>
                <a:latin typeface="Arial" pitchFamily="34" charset="0"/>
                <a:ea typeface="Arial" pitchFamily="34" charset="-122"/>
                <a:cs typeface="Arial" pitchFamily="34" charset="-120"/>
              </a:rPr>
              <a:t>P</a:t>
            </a:r>
            <a:endParaRPr lang="en-US" sz="2000" dirty="0"/>
          </a:p>
        </p:txBody>
      </p:sp>
      <p:sp>
        <p:nvSpPr>
          <p:cNvPr id="13" name="Shape 9"/>
          <p:cNvSpPr/>
          <p:nvPr/>
        </p:nvSpPr>
        <p:spPr>
          <a:xfrm>
            <a:off x="6483096" y="1618488"/>
            <a:ext cx="932688" cy="713232"/>
          </a:xfrm>
          <a:prstGeom prst="roundRect">
            <a:avLst>
              <a:gd name="adj" fmla="val 7692"/>
            </a:avLst>
          </a:prstGeom>
          <a:solidFill>
            <a:srgbClr val="E5484D">
              <a:alpha val="20000"/>
            </a:srgbClr>
          </a:solidFill>
          <a:ln w="19050">
            <a:solidFill>
              <a:srgbClr val="E5484D"/>
            </a:solidFill>
            <a:prstDash val="solid"/>
          </a:ln>
        </p:spPr>
        <p:txBody>
          <a:bodyPr/>
          <a:lstStyle/>
          <a:p>
            <a:endParaRPr lang="en-IN"/>
          </a:p>
        </p:txBody>
      </p:sp>
      <p:pic>
        <p:nvPicPr>
          <p:cNvPr id="14" name="Image 2" descr="preencoded.png"/>
          <p:cNvPicPr>
            <a:picLocks noChangeAspect="1"/>
          </p:cNvPicPr>
          <p:nvPr/>
        </p:nvPicPr>
        <p:blipFill>
          <a:blip r:embed="rId3"/>
          <a:stretch>
            <a:fillRect/>
          </a:stretch>
        </p:blipFill>
        <p:spPr>
          <a:xfrm>
            <a:off x="6771132" y="1796796"/>
            <a:ext cx="356616" cy="356616"/>
          </a:xfrm>
          <a:prstGeom prst="rect">
            <a:avLst/>
          </a:prstGeom>
        </p:spPr>
      </p:pic>
      <p:sp>
        <p:nvSpPr>
          <p:cNvPr id="15" name="Shape 10"/>
          <p:cNvSpPr/>
          <p:nvPr/>
        </p:nvSpPr>
        <p:spPr>
          <a:xfrm>
            <a:off x="7543800" y="1618488"/>
            <a:ext cx="932688" cy="713232"/>
          </a:xfrm>
          <a:prstGeom prst="roundRect">
            <a:avLst>
              <a:gd name="adj" fmla="val 7692"/>
            </a:avLst>
          </a:prstGeom>
          <a:solidFill>
            <a:srgbClr val="E5484D">
              <a:alpha val="20000"/>
            </a:srgbClr>
          </a:solidFill>
          <a:ln w="19050">
            <a:solidFill>
              <a:srgbClr val="E5484D"/>
            </a:solidFill>
            <a:prstDash val="solid"/>
          </a:ln>
        </p:spPr>
        <p:txBody>
          <a:bodyPr/>
          <a:lstStyle/>
          <a:p>
            <a:endParaRPr lang="en-IN"/>
          </a:p>
        </p:txBody>
      </p:sp>
      <p:pic>
        <p:nvPicPr>
          <p:cNvPr id="16" name="Image 3" descr="preencoded.png"/>
          <p:cNvPicPr>
            <a:picLocks noChangeAspect="1"/>
          </p:cNvPicPr>
          <p:nvPr/>
        </p:nvPicPr>
        <p:blipFill>
          <a:blip r:embed="rId3"/>
          <a:stretch>
            <a:fillRect/>
          </a:stretch>
        </p:blipFill>
        <p:spPr>
          <a:xfrm>
            <a:off x="7831836" y="1796796"/>
            <a:ext cx="356616" cy="356616"/>
          </a:xfrm>
          <a:prstGeom prst="rect">
            <a:avLst/>
          </a:prstGeom>
        </p:spPr>
      </p:pic>
      <p:sp>
        <p:nvSpPr>
          <p:cNvPr id="17" name="Shape 11"/>
          <p:cNvSpPr/>
          <p:nvPr/>
        </p:nvSpPr>
        <p:spPr>
          <a:xfrm>
            <a:off x="5422392" y="2459736"/>
            <a:ext cx="932688" cy="713232"/>
          </a:xfrm>
          <a:prstGeom prst="roundRect">
            <a:avLst>
              <a:gd name="adj" fmla="val 7692"/>
            </a:avLst>
          </a:prstGeom>
          <a:solidFill>
            <a:srgbClr val="E5484D">
              <a:alpha val="20000"/>
            </a:srgbClr>
          </a:solidFill>
          <a:ln w="19050">
            <a:solidFill>
              <a:srgbClr val="E5484D"/>
            </a:solidFill>
            <a:prstDash val="solid"/>
          </a:ln>
        </p:spPr>
        <p:txBody>
          <a:bodyPr/>
          <a:lstStyle/>
          <a:p>
            <a:endParaRPr lang="en-IN"/>
          </a:p>
        </p:txBody>
      </p:sp>
      <p:pic>
        <p:nvPicPr>
          <p:cNvPr id="18" name="Image 4" descr="preencoded.png"/>
          <p:cNvPicPr>
            <a:picLocks noChangeAspect="1"/>
          </p:cNvPicPr>
          <p:nvPr/>
        </p:nvPicPr>
        <p:blipFill>
          <a:blip r:embed="rId3"/>
          <a:stretch>
            <a:fillRect/>
          </a:stretch>
        </p:blipFill>
        <p:spPr>
          <a:xfrm>
            <a:off x="5710428" y="2638044"/>
            <a:ext cx="356616" cy="356616"/>
          </a:xfrm>
          <a:prstGeom prst="rect">
            <a:avLst/>
          </a:prstGeom>
        </p:spPr>
      </p:pic>
      <p:sp>
        <p:nvSpPr>
          <p:cNvPr id="19" name="Shape 12"/>
          <p:cNvSpPr/>
          <p:nvPr/>
        </p:nvSpPr>
        <p:spPr>
          <a:xfrm>
            <a:off x="6483096" y="2459736"/>
            <a:ext cx="932688" cy="713232"/>
          </a:xfrm>
          <a:prstGeom prst="roundRect">
            <a:avLst>
              <a:gd name="adj" fmla="val 7692"/>
            </a:avLst>
          </a:prstGeom>
          <a:solidFill>
            <a:srgbClr val="E5484D">
              <a:alpha val="20000"/>
            </a:srgbClr>
          </a:solidFill>
          <a:ln w="19050">
            <a:solidFill>
              <a:srgbClr val="E5484D"/>
            </a:solidFill>
            <a:prstDash val="solid"/>
          </a:ln>
        </p:spPr>
        <p:txBody>
          <a:bodyPr/>
          <a:lstStyle/>
          <a:p>
            <a:endParaRPr lang="en-IN"/>
          </a:p>
        </p:txBody>
      </p:sp>
      <p:pic>
        <p:nvPicPr>
          <p:cNvPr id="20" name="Image 5" descr="preencoded.png"/>
          <p:cNvPicPr>
            <a:picLocks noChangeAspect="1"/>
          </p:cNvPicPr>
          <p:nvPr/>
        </p:nvPicPr>
        <p:blipFill>
          <a:blip r:embed="rId3"/>
          <a:stretch>
            <a:fillRect/>
          </a:stretch>
        </p:blipFill>
        <p:spPr>
          <a:xfrm>
            <a:off x="6771132" y="2638044"/>
            <a:ext cx="356616" cy="356616"/>
          </a:xfrm>
          <a:prstGeom prst="rect">
            <a:avLst/>
          </a:prstGeom>
        </p:spPr>
      </p:pic>
      <p:sp>
        <p:nvSpPr>
          <p:cNvPr id="21" name="Text 13"/>
          <p:cNvSpPr txBox="1"/>
          <p:nvPr/>
        </p:nvSpPr>
        <p:spPr>
          <a:xfrm>
            <a:off x="7543800" y="2459736"/>
            <a:ext cx="932688" cy="713232"/>
          </a:xfrm>
          <a:prstGeom prst="roundRect">
            <a:avLst>
              <a:gd name="adj" fmla="val 7692"/>
            </a:avLst>
          </a:prstGeom>
          <a:solidFill>
            <a:srgbClr val="1FBF75">
              <a:alpha val="12000"/>
            </a:srgbClr>
          </a:solidFill>
          <a:ln w="19050">
            <a:solidFill>
              <a:srgbClr val="1FBF75"/>
            </a:solidFill>
          </a:ln>
        </p:spPr>
        <p:txBody>
          <a:bodyPr wrap="square" lIns="0" tIns="0" rIns="0" bIns="0" rtlCol="0" anchor="ctr"/>
          <a:lstStyle/>
          <a:p>
            <a:pPr marL="0" indent="0" algn="ctr">
              <a:buNone/>
            </a:pPr>
            <a:r>
              <a:rPr lang="en-US" sz="2000" b="1" dirty="0">
                <a:solidFill>
                  <a:srgbClr val="1FBF75"/>
                </a:solidFill>
                <a:latin typeface="Arial" pitchFamily="34" charset="0"/>
                <a:ea typeface="Arial" pitchFamily="34" charset="-122"/>
                <a:cs typeface="Arial" pitchFamily="34" charset="-120"/>
              </a:rPr>
              <a:t>P</a:t>
            </a:r>
            <a:endParaRPr lang="en-US" sz="2000" dirty="0"/>
          </a:p>
        </p:txBody>
      </p:sp>
      <p:sp>
        <p:nvSpPr>
          <p:cNvPr id="22" name="Text 14"/>
          <p:cNvSpPr txBox="1"/>
          <p:nvPr/>
        </p:nvSpPr>
        <p:spPr>
          <a:xfrm>
            <a:off x="5422392" y="3300984"/>
            <a:ext cx="932688" cy="713232"/>
          </a:xfrm>
          <a:prstGeom prst="roundRect">
            <a:avLst>
              <a:gd name="adj" fmla="val 7692"/>
            </a:avLst>
          </a:prstGeom>
          <a:solidFill>
            <a:srgbClr val="1FBF75">
              <a:alpha val="12000"/>
            </a:srgbClr>
          </a:solidFill>
          <a:ln w="19050">
            <a:solidFill>
              <a:srgbClr val="1FBF75"/>
            </a:solidFill>
          </a:ln>
        </p:spPr>
        <p:txBody>
          <a:bodyPr wrap="square" lIns="0" tIns="0" rIns="0" bIns="0" rtlCol="0" anchor="ctr"/>
          <a:lstStyle/>
          <a:p>
            <a:pPr marL="0" indent="0" algn="ctr">
              <a:buNone/>
            </a:pPr>
            <a:r>
              <a:rPr lang="en-US" sz="2000" b="1" dirty="0">
                <a:solidFill>
                  <a:srgbClr val="1FBF75"/>
                </a:solidFill>
                <a:latin typeface="Arial" pitchFamily="34" charset="0"/>
                <a:ea typeface="Arial" pitchFamily="34" charset="-122"/>
                <a:cs typeface="Arial" pitchFamily="34" charset="-120"/>
              </a:rPr>
              <a:t>P</a:t>
            </a:r>
            <a:endParaRPr lang="en-US" sz="2000" dirty="0"/>
          </a:p>
        </p:txBody>
      </p:sp>
      <p:sp>
        <p:nvSpPr>
          <p:cNvPr id="23" name="Text 15"/>
          <p:cNvSpPr txBox="1"/>
          <p:nvPr/>
        </p:nvSpPr>
        <p:spPr>
          <a:xfrm>
            <a:off x="6483096" y="3300984"/>
            <a:ext cx="932688" cy="713232"/>
          </a:xfrm>
          <a:prstGeom prst="roundRect">
            <a:avLst>
              <a:gd name="adj" fmla="val 7692"/>
            </a:avLst>
          </a:prstGeom>
          <a:solidFill>
            <a:srgbClr val="1FBF75">
              <a:alpha val="12000"/>
            </a:srgbClr>
          </a:solidFill>
          <a:ln w="19050">
            <a:solidFill>
              <a:srgbClr val="1FBF75"/>
            </a:solidFill>
          </a:ln>
        </p:spPr>
        <p:txBody>
          <a:bodyPr wrap="square" lIns="0" tIns="0" rIns="0" bIns="0" rtlCol="0" anchor="ctr"/>
          <a:lstStyle/>
          <a:p>
            <a:pPr marL="0" indent="0" algn="ctr">
              <a:buNone/>
            </a:pPr>
            <a:r>
              <a:rPr lang="en-US" sz="2000" b="1" dirty="0">
                <a:solidFill>
                  <a:srgbClr val="1FBF75"/>
                </a:solidFill>
                <a:latin typeface="Arial" pitchFamily="34" charset="0"/>
                <a:ea typeface="Arial" pitchFamily="34" charset="-122"/>
                <a:cs typeface="Arial" pitchFamily="34" charset="-120"/>
              </a:rPr>
              <a:t>P</a:t>
            </a:r>
            <a:endParaRPr lang="en-US" sz="2000" dirty="0"/>
          </a:p>
        </p:txBody>
      </p:sp>
      <p:sp>
        <p:nvSpPr>
          <p:cNvPr id="24" name="Shape 16"/>
          <p:cNvSpPr/>
          <p:nvPr/>
        </p:nvSpPr>
        <p:spPr>
          <a:xfrm>
            <a:off x="7543800" y="3300984"/>
            <a:ext cx="932688" cy="713232"/>
          </a:xfrm>
          <a:prstGeom prst="roundRect">
            <a:avLst>
              <a:gd name="adj" fmla="val 7692"/>
            </a:avLst>
          </a:prstGeom>
          <a:solidFill>
            <a:srgbClr val="E5484D">
              <a:alpha val="20000"/>
            </a:srgbClr>
          </a:solidFill>
          <a:ln w="19050">
            <a:solidFill>
              <a:srgbClr val="E5484D"/>
            </a:solidFill>
            <a:prstDash val="solid"/>
          </a:ln>
        </p:spPr>
        <p:txBody>
          <a:bodyPr/>
          <a:lstStyle/>
          <a:p>
            <a:endParaRPr lang="en-IN"/>
          </a:p>
        </p:txBody>
      </p:sp>
      <p:pic>
        <p:nvPicPr>
          <p:cNvPr id="25" name="Image 6" descr="preencoded.png"/>
          <p:cNvPicPr>
            <a:picLocks noChangeAspect="1"/>
          </p:cNvPicPr>
          <p:nvPr/>
        </p:nvPicPr>
        <p:blipFill>
          <a:blip r:embed="rId3"/>
          <a:stretch>
            <a:fillRect/>
          </a:stretch>
        </p:blipFill>
        <p:spPr>
          <a:xfrm>
            <a:off x="7831836" y="3479292"/>
            <a:ext cx="356616" cy="356616"/>
          </a:xfrm>
          <a:prstGeom prst="rect">
            <a:avLst/>
          </a:prstGeom>
        </p:spPr>
      </p:pic>
      <p:sp>
        <p:nvSpPr>
          <p:cNvPr id="26" name="Shape 17"/>
          <p:cNvSpPr/>
          <p:nvPr/>
        </p:nvSpPr>
        <p:spPr>
          <a:xfrm>
            <a:off x="5486400" y="4224528"/>
            <a:ext cx="146304" cy="146304"/>
          </a:xfrm>
          <a:prstGeom prst="rect">
            <a:avLst/>
          </a:prstGeom>
          <a:solidFill>
            <a:srgbClr val="1FBF75"/>
          </a:solidFill>
          <a:ln/>
        </p:spPr>
        <p:txBody>
          <a:bodyPr/>
          <a:lstStyle/>
          <a:p>
            <a:endParaRPr lang="en-IN"/>
          </a:p>
        </p:txBody>
      </p:sp>
      <p:sp>
        <p:nvSpPr>
          <p:cNvPr id="27" name="Text 18"/>
          <p:cNvSpPr txBox="1"/>
          <p:nvPr/>
        </p:nvSpPr>
        <p:spPr>
          <a:xfrm>
            <a:off x="5715000" y="4187952"/>
            <a:ext cx="731520" cy="219456"/>
          </a:xfrm>
          <a:prstGeom prst="rect">
            <a:avLst/>
          </a:prstGeom>
          <a:noFill/>
          <a:ln/>
        </p:spPr>
        <p:txBody>
          <a:bodyPr wrap="square" lIns="0" tIns="0" rIns="0" bIns="0" rtlCol="0" anchor="ctr"/>
          <a:lstStyle/>
          <a:p>
            <a:pPr marL="0" indent="0">
              <a:buNone/>
            </a:pPr>
            <a:r>
              <a:rPr lang="en-US" sz="1200" dirty="0">
                <a:solidFill>
                  <a:srgbClr val="E1DDD9"/>
                </a:solidFill>
                <a:latin typeface="Arial" pitchFamily="34" charset="0"/>
                <a:ea typeface="Arial" pitchFamily="34" charset="-122"/>
                <a:cs typeface="Arial" pitchFamily="34" charset="-120"/>
              </a:rPr>
              <a:t>Free</a:t>
            </a:r>
            <a:endParaRPr lang="en-US" sz="1200" dirty="0"/>
          </a:p>
        </p:txBody>
      </p:sp>
      <p:sp>
        <p:nvSpPr>
          <p:cNvPr id="28" name="Shape 19"/>
          <p:cNvSpPr/>
          <p:nvPr/>
        </p:nvSpPr>
        <p:spPr>
          <a:xfrm>
            <a:off x="6492240" y="4224528"/>
            <a:ext cx="146304" cy="146304"/>
          </a:xfrm>
          <a:prstGeom prst="rect">
            <a:avLst/>
          </a:prstGeom>
          <a:solidFill>
            <a:srgbClr val="E5484D"/>
          </a:solidFill>
          <a:ln/>
        </p:spPr>
        <p:txBody>
          <a:bodyPr/>
          <a:lstStyle/>
          <a:p>
            <a:endParaRPr lang="en-IN"/>
          </a:p>
        </p:txBody>
      </p:sp>
      <p:sp>
        <p:nvSpPr>
          <p:cNvPr id="29" name="Text 20"/>
          <p:cNvSpPr txBox="1"/>
          <p:nvPr/>
        </p:nvSpPr>
        <p:spPr>
          <a:xfrm>
            <a:off x="6720840" y="4187952"/>
            <a:ext cx="1097280" cy="219456"/>
          </a:xfrm>
          <a:prstGeom prst="rect">
            <a:avLst/>
          </a:prstGeom>
          <a:noFill/>
          <a:ln/>
        </p:spPr>
        <p:txBody>
          <a:bodyPr wrap="square" lIns="0" tIns="0" rIns="0" bIns="0" rtlCol="0" anchor="ctr"/>
          <a:lstStyle/>
          <a:p>
            <a:pPr marL="0" indent="0">
              <a:buNone/>
            </a:pPr>
            <a:r>
              <a:rPr lang="en-US" sz="1200" dirty="0">
                <a:solidFill>
                  <a:srgbClr val="E1DDD9"/>
                </a:solidFill>
                <a:latin typeface="Arial" pitchFamily="34" charset="0"/>
                <a:ea typeface="Arial" pitchFamily="34" charset="-122"/>
                <a:cs typeface="Arial" pitchFamily="34" charset="-120"/>
              </a:rPr>
              <a:t>Occupied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8F7"/>
        </a:solidFill>
        <a:effectLst/>
      </p:bgPr>
    </p:bg>
    <p:spTree>
      <p:nvGrpSpPr>
        <p:cNvPr id="1" name=""/>
        <p:cNvGrpSpPr/>
        <p:nvPr/>
      </p:nvGrpSpPr>
      <p:grpSpPr>
        <a:xfrm>
          <a:off x="0" y="0"/>
          <a:ext cx="0" cy="0"/>
          <a:chOff x="0" y="0"/>
          <a:chExt cx="0" cy="0"/>
        </a:xfrm>
      </p:grpSpPr>
      <p:sp>
        <p:nvSpPr>
          <p:cNvPr id="2" name="Text 0"/>
          <p:cNvSpPr txBox="1"/>
          <p:nvPr/>
        </p:nvSpPr>
        <p:spPr>
          <a:xfrm>
            <a:off x="685800" y="265176"/>
            <a:ext cx="8229600" cy="640080"/>
          </a:xfrm>
          <a:prstGeom prst="rect">
            <a:avLst/>
          </a:prstGeom>
          <a:noFill/>
          <a:ln/>
        </p:spPr>
        <p:txBody>
          <a:bodyPr wrap="square" lIns="0" tIns="0" rIns="0" bIns="0" rtlCol="0" anchor="ctr"/>
          <a:lstStyle/>
          <a:p>
            <a:pPr marL="0" indent="0">
              <a:buNone/>
            </a:pPr>
            <a:r>
              <a:rPr lang="en-US" sz="3400" b="1" dirty="0">
                <a:solidFill>
                  <a:srgbClr val="36312D"/>
                </a:solidFill>
                <a:latin typeface="Cambria" pitchFamily="34" charset="0"/>
                <a:ea typeface="Cambria" pitchFamily="34" charset="-122"/>
                <a:cs typeface="Cambria" pitchFamily="34" charset="-120"/>
              </a:rPr>
              <a:t>What the problem asks</a:t>
            </a:r>
            <a:endParaRPr lang="en-US" sz="3400" dirty="0"/>
          </a:p>
        </p:txBody>
      </p:sp>
      <p:sp>
        <p:nvSpPr>
          <p:cNvPr id="3" name="Shape 1"/>
          <p:cNvSpPr/>
          <p:nvPr/>
        </p:nvSpPr>
        <p:spPr>
          <a:xfrm>
            <a:off x="685800" y="1088136"/>
            <a:ext cx="8229600" cy="914400"/>
          </a:xfrm>
          <a:prstGeom prst="roundRect">
            <a:avLst>
              <a:gd name="adj" fmla="val 8000"/>
            </a:avLst>
          </a:prstGeom>
          <a:solidFill>
            <a:srgbClr val="26211E"/>
          </a:solidFill>
          <a:ln/>
        </p:spPr>
        <p:txBody>
          <a:bodyPr/>
          <a:lstStyle/>
          <a:p>
            <a:endParaRPr lang="en-IN"/>
          </a:p>
        </p:txBody>
      </p:sp>
      <p:sp>
        <p:nvSpPr>
          <p:cNvPr id="4" name="Text 2"/>
          <p:cNvSpPr txBox="1"/>
          <p:nvPr/>
        </p:nvSpPr>
        <p:spPr>
          <a:xfrm>
            <a:off x="914400" y="1088136"/>
            <a:ext cx="7772400" cy="914400"/>
          </a:xfrm>
          <a:prstGeom prst="rect">
            <a:avLst/>
          </a:prstGeom>
          <a:noFill/>
          <a:ln/>
        </p:spPr>
        <p:txBody>
          <a:bodyPr wrap="square" lIns="0" tIns="0" rIns="0" bIns="0" rtlCol="0" anchor="ctr"/>
          <a:lstStyle/>
          <a:p>
            <a:pPr marL="0" indent="0">
              <a:buNone/>
            </a:pPr>
            <a:r>
              <a:rPr lang="en-US" sz="1500" i="1" dirty="0">
                <a:solidFill>
                  <a:srgbClr val="FFFFFF"/>
                </a:solidFill>
                <a:latin typeface="Arial" pitchFamily="34" charset="0"/>
                <a:ea typeface="Arial" pitchFamily="34" charset="-122"/>
                <a:cs typeface="Arial" pitchFamily="34" charset="-120"/>
              </a:rPr>
              <a:t>“Develop a camera-based solution that detects available and occupied parking spaces in real time and provides users with parking availability and navigation information.”</a:t>
            </a:r>
            <a:endParaRPr lang="en-US" sz="1500" dirty="0"/>
          </a:p>
        </p:txBody>
      </p:sp>
      <p:sp>
        <p:nvSpPr>
          <p:cNvPr id="5" name="Shape 3"/>
          <p:cNvSpPr/>
          <p:nvPr/>
        </p:nvSpPr>
        <p:spPr>
          <a:xfrm>
            <a:off x="685800" y="2276856"/>
            <a:ext cx="2560320" cy="2240280"/>
          </a:xfrm>
          <a:prstGeom prst="roundRect">
            <a:avLst>
              <a:gd name="adj" fmla="val 3265"/>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6" name="Shape 4"/>
          <p:cNvSpPr/>
          <p:nvPr/>
        </p:nvSpPr>
        <p:spPr>
          <a:xfrm>
            <a:off x="914400" y="2505456"/>
            <a:ext cx="548640" cy="548640"/>
          </a:xfrm>
          <a:prstGeom prst="ellipse">
            <a:avLst/>
          </a:prstGeom>
          <a:solidFill>
            <a:srgbClr val="3A332E"/>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1051560" y="2642616"/>
            <a:ext cx="274320" cy="274320"/>
          </a:xfrm>
          <a:prstGeom prst="rect">
            <a:avLst/>
          </a:prstGeom>
        </p:spPr>
      </p:pic>
      <p:sp>
        <p:nvSpPr>
          <p:cNvPr id="8" name="Text 5"/>
          <p:cNvSpPr txBox="1"/>
          <p:nvPr/>
        </p:nvSpPr>
        <p:spPr>
          <a:xfrm>
            <a:off x="2514600" y="2551176"/>
            <a:ext cx="548640" cy="365760"/>
          </a:xfrm>
          <a:prstGeom prst="rect">
            <a:avLst/>
          </a:prstGeom>
          <a:noFill/>
          <a:ln/>
        </p:spPr>
        <p:txBody>
          <a:bodyPr wrap="square" lIns="0" tIns="0" rIns="0" bIns="0" rtlCol="0" anchor="t"/>
          <a:lstStyle/>
          <a:p>
            <a:pPr marL="0" indent="0" algn="r">
              <a:buNone/>
            </a:pPr>
            <a:r>
              <a:rPr lang="en-US" sz="2200" b="1" dirty="0">
                <a:solidFill>
                  <a:srgbClr val="EAE7E4"/>
                </a:solidFill>
                <a:latin typeface="Cambria" pitchFamily="34" charset="0"/>
                <a:ea typeface="Cambria" pitchFamily="34" charset="-122"/>
                <a:cs typeface="Cambria" pitchFamily="34" charset="-120"/>
              </a:rPr>
              <a:t>01</a:t>
            </a:r>
            <a:endParaRPr lang="en-US" sz="2200" dirty="0"/>
          </a:p>
        </p:txBody>
      </p:sp>
      <p:sp>
        <p:nvSpPr>
          <p:cNvPr id="9" name="Text 6"/>
          <p:cNvSpPr txBox="1"/>
          <p:nvPr/>
        </p:nvSpPr>
        <p:spPr>
          <a:xfrm>
            <a:off x="914400" y="3191256"/>
            <a:ext cx="2103120" cy="320040"/>
          </a:xfrm>
          <a:prstGeom prst="rect">
            <a:avLst/>
          </a:prstGeom>
          <a:noFill/>
          <a:ln/>
        </p:spPr>
        <p:txBody>
          <a:bodyPr wrap="square" lIns="0" tIns="0" rIns="0" bIns="0" rtlCol="0" anchor="t"/>
          <a:lstStyle/>
          <a:p>
            <a:pPr marL="0" indent="0">
              <a:buNone/>
            </a:pPr>
            <a:r>
              <a:rPr lang="en-US" sz="2000" b="1" dirty="0">
                <a:solidFill>
                  <a:srgbClr val="36312D"/>
                </a:solidFill>
                <a:latin typeface="Arial" pitchFamily="34" charset="0"/>
                <a:ea typeface="Arial" pitchFamily="34" charset="-122"/>
                <a:cs typeface="Arial" pitchFamily="34" charset="-120"/>
              </a:rPr>
              <a:t>Detect</a:t>
            </a:r>
            <a:endParaRPr lang="en-US" sz="2000" dirty="0"/>
          </a:p>
        </p:txBody>
      </p:sp>
      <p:sp>
        <p:nvSpPr>
          <p:cNvPr id="10" name="Text 7"/>
          <p:cNvSpPr txBox="1"/>
          <p:nvPr/>
        </p:nvSpPr>
        <p:spPr>
          <a:xfrm>
            <a:off x="914400" y="3557016"/>
            <a:ext cx="2103120" cy="868680"/>
          </a:xfrm>
          <a:prstGeom prst="rect">
            <a:avLst/>
          </a:prstGeom>
          <a:noFill/>
          <a:ln/>
        </p:spPr>
        <p:txBody>
          <a:bodyPr wrap="square" lIns="0" tIns="0" rIns="0" bIns="0" rtlCol="0" anchor="t"/>
          <a:lstStyle/>
          <a:p>
            <a:pPr marL="0" indent="0">
              <a:buNone/>
            </a:pPr>
            <a:r>
              <a:rPr lang="en-US" sz="1400" dirty="0">
                <a:solidFill>
                  <a:srgbClr val="79736E"/>
                </a:solidFill>
                <a:latin typeface="Arial" pitchFamily="34" charset="0"/>
                <a:ea typeface="Arial" pitchFamily="34" charset="-122"/>
                <a:cs typeface="Arial" pitchFamily="34" charset="-120"/>
              </a:rPr>
              <a:t>Use camera video to decide, for every parking space, whether it is free or occupied.</a:t>
            </a:r>
            <a:endParaRPr lang="en-US" sz="1400" dirty="0"/>
          </a:p>
        </p:txBody>
      </p:sp>
      <p:sp>
        <p:nvSpPr>
          <p:cNvPr id="11" name="Shape 8"/>
          <p:cNvSpPr/>
          <p:nvPr/>
        </p:nvSpPr>
        <p:spPr>
          <a:xfrm>
            <a:off x="3520440" y="2276856"/>
            <a:ext cx="2560320" cy="2240280"/>
          </a:xfrm>
          <a:prstGeom prst="roundRect">
            <a:avLst>
              <a:gd name="adj" fmla="val 3265"/>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12" name="Shape 9"/>
          <p:cNvSpPr/>
          <p:nvPr/>
        </p:nvSpPr>
        <p:spPr>
          <a:xfrm>
            <a:off x="3749040" y="2505456"/>
            <a:ext cx="548640" cy="548640"/>
          </a:xfrm>
          <a:prstGeom prst="ellipse">
            <a:avLst/>
          </a:prstGeom>
          <a:solidFill>
            <a:srgbClr val="3A332E"/>
          </a:solidFill>
          <a:ln/>
        </p:spPr>
        <p:txBody>
          <a:bodyPr/>
          <a:lstStyle/>
          <a:p>
            <a:endParaRPr lang="en-IN"/>
          </a:p>
        </p:txBody>
      </p:sp>
      <p:pic>
        <p:nvPicPr>
          <p:cNvPr id="13" name="Image 1" descr="preencoded.png"/>
          <p:cNvPicPr>
            <a:picLocks noChangeAspect="1"/>
          </p:cNvPicPr>
          <p:nvPr/>
        </p:nvPicPr>
        <p:blipFill>
          <a:blip r:embed="rId4"/>
          <a:stretch>
            <a:fillRect/>
          </a:stretch>
        </p:blipFill>
        <p:spPr>
          <a:xfrm>
            <a:off x="3886200" y="2642616"/>
            <a:ext cx="274320" cy="274320"/>
          </a:xfrm>
          <a:prstGeom prst="rect">
            <a:avLst/>
          </a:prstGeom>
        </p:spPr>
      </p:pic>
      <p:sp>
        <p:nvSpPr>
          <p:cNvPr id="14" name="Text 10"/>
          <p:cNvSpPr txBox="1"/>
          <p:nvPr/>
        </p:nvSpPr>
        <p:spPr>
          <a:xfrm>
            <a:off x="5349240" y="2551176"/>
            <a:ext cx="548640" cy="365760"/>
          </a:xfrm>
          <a:prstGeom prst="rect">
            <a:avLst/>
          </a:prstGeom>
          <a:noFill/>
          <a:ln/>
        </p:spPr>
        <p:txBody>
          <a:bodyPr wrap="square" lIns="0" tIns="0" rIns="0" bIns="0" rtlCol="0" anchor="t"/>
          <a:lstStyle/>
          <a:p>
            <a:pPr marL="0" indent="0" algn="r">
              <a:buNone/>
            </a:pPr>
            <a:r>
              <a:rPr lang="en-US" sz="2200" b="1" dirty="0">
                <a:solidFill>
                  <a:srgbClr val="EAE7E4"/>
                </a:solidFill>
                <a:latin typeface="Cambria" pitchFamily="34" charset="0"/>
                <a:ea typeface="Cambria" pitchFamily="34" charset="-122"/>
                <a:cs typeface="Cambria" pitchFamily="34" charset="-120"/>
              </a:rPr>
              <a:t>02</a:t>
            </a:r>
            <a:endParaRPr lang="en-US" sz="2200" dirty="0"/>
          </a:p>
        </p:txBody>
      </p:sp>
      <p:sp>
        <p:nvSpPr>
          <p:cNvPr id="15" name="Text 11"/>
          <p:cNvSpPr txBox="1"/>
          <p:nvPr/>
        </p:nvSpPr>
        <p:spPr>
          <a:xfrm>
            <a:off x="3749040" y="3191256"/>
            <a:ext cx="2103120" cy="320040"/>
          </a:xfrm>
          <a:prstGeom prst="rect">
            <a:avLst/>
          </a:prstGeom>
          <a:noFill/>
          <a:ln/>
        </p:spPr>
        <p:txBody>
          <a:bodyPr wrap="square" lIns="0" tIns="0" rIns="0" bIns="0" rtlCol="0" anchor="t"/>
          <a:lstStyle/>
          <a:p>
            <a:pPr marL="0" indent="0">
              <a:buNone/>
            </a:pPr>
            <a:r>
              <a:rPr lang="en-US" sz="2000" b="1" dirty="0">
                <a:solidFill>
                  <a:srgbClr val="36312D"/>
                </a:solidFill>
                <a:latin typeface="Arial" pitchFamily="34" charset="0"/>
                <a:ea typeface="Arial" pitchFamily="34" charset="-122"/>
                <a:cs typeface="Arial" pitchFamily="34" charset="-120"/>
              </a:rPr>
              <a:t>Real time</a:t>
            </a:r>
            <a:endParaRPr lang="en-US" sz="2000" dirty="0"/>
          </a:p>
        </p:txBody>
      </p:sp>
      <p:sp>
        <p:nvSpPr>
          <p:cNvPr id="16" name="Text 12"/>
          <p:cNvSpPr txBox="1"/>
          <p:nvPr/>
        </p:nvSpPr>
        <p:spPr>
          <a:xfrm>
            <a:off x="3749040" y="3557016"/>
            <a:ext cx="2103120" cy="868680"/>
          </a:xfrm>
          <a:prstGeom prst="rect">
            <a:avLst/>
          </a:prstGeom>
          <a:noFill/>
          <a:ln/>
        </p:spPr>
        <p:txBody>
          <a:bodyPr wrap="square" lIns="0" tIns="0" rIns="0" bIns="0" rtlCol="0" anchor="t"/>
          <a:lstStyle/>
          <a:p>
            <a:pPr marL="0" indent="0">
              <a:buNone/>
            </a:pPr>
            <a:r>
              <a:rPr lang="en-US" sz="1400" dirty="0">
                <a:solidFill>
                  <a:srgbClr val="79736E"/>
                </a:solidFill>
                <a:latin typeface="Arial" pitchFamily="34" charset="0"/>
                <a:ea typeface="Arial" pitchFamily="34" charset="-122"/>
                <a:cs typeface="Arial" pitchFamily="34" charset="-120"/>
              </a:rPr>
              <a:t>Status must update live as cars arrive and leave, not as a one-time snapshot.</a:t>
            </a:r>
            <a:endParaRPr lang="en-US" sz="1400" dirty="0"/>
          </a:p>
        </p:txBody>
      </p:sp>
      <p:sp>
        <p:nvSpPr>
          <p:cNvPr id="17" name="Shape 13"/>
          <p:cNvSpPr/>
          <p:nvPr/>
        </p:nvSpPr>
        <p:spPr>
          <a:xfrm>
            <a:off x="6355080" y="2276856"/>
            <a:ext cx="2560320" cy="2240280"/>
          </a:xfrm>
          <a:prstGeom prst="roundRect">
            <a:avLst>
              <a:gd name="adj" fmla="val 3265"/>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18" name="Shape 14"/>
          <p:cNvSpPr/>
          <p:nvPr/>
        </p:nvSpPr>
        <p:spPr>
          <a:xfrm>
            <a:off x="6583680" y="2505456"/>
            <a:ext cx="548640" cy="548640"/>
          </a:xfrm>
          <a:prstGeom prst="ellipse">
            <a:avLst/>
          </a:prstGeom>
          <a:solidFill>
            <a:srgbClr val="3A332E"/>
          </a:solidFill>
          <a:ln/>
        </p:spPr>
        <p:txBody>
          <a:bodyPr/>
          <a:lstStyle/>
          <a:p>
            <a:endParaRPr lang="en-IN"/>
          </a:p>
        </p:txBody>
      </p:sp>
      <p:pic>
        <p:nvPicPr>
          <p:cNvPr id="19" name="Image 2" descr="preencoded.png"/>
          <p:cNvPicPr>
            <a:picLocks noChangeAspect="1"/>
          </p:cNvPicPr>
          <p:nvPr/>
        </p:nvPicPr>
        <p:blipFill>
          <a:blip r:embed="rId5"/>
          <a:stretch>
            <a:fillRect/>
          </a:stretch>
        </p:blipFill>
        <p:spPr>
          <a:xfrm>
            <a:off x="6720840" y="2642616"/>
            <a:ext cx="274320" cy="274320"/>
          </a:xfrm>
          <a:prstGeom prst="rect">
            <a:avLst/>
          </a:prstGeom>
        </p:spPr>
      </p:pic>
      <p:sp>
        <p:nvSpPr>
          <p:cNvPr id="20" name="Text 15"/>
          <p:cNvSpPr txBox="1"/>
          <p:nvPr/>
        </p:nvSpPr>
        <p:spPr>
          <a:xfrm>
            <a:off x="8183880" y="2551176"/>
            <a:ext cx="548640" cy="365760"/>
          </a:xfrm>
          <a:prstGeom prst="rect">
            <a:avLst/>
          </a:prstGeom>
          <a:noFill/>
          <a:ln/>
        </p:spPr>
        <p:txBody>
          <a:bodyPr wrap="square" lIns="0" tIns="0" rIns="0" bIns="0" rtlCol="0" anchor="t"/>
          <a:lstStyle/>
          <a:p>
            <a:pPr marL="0" indent="0" algn="r">
              <a:buNone/>
            </a:pPr>
            <a:r>
              <a:rPr lang="en-US" sz="2200" b="1" dirty="0">
                <a:solidFill>
                  <a:srgbClr val="EAE7E4"/>
                </a:solidFill>
                <a:latin typeface="Cambria" pitchFamily="34" charset="0"/>
                <a:ea typeface="Cambria" pitchFamily="34" charset="-122"/>
                <a:cs typeface="Cambria" pitchFamily="34" charset="-120"/>
              </a:rPr>
              <a:t>03</a:t>
            </a:r>
            <a:endParaRPr lang="en-US" sz="2200" dirty="0"/>
          </a:p>
        </p:txBody>
      </p:sp>
      <p:sp>
        <p:nvSpPr>
          <p:cNvPr id="21" name="Text 16"/>
          <p:cNvSpPr txBox="1"/>
          <p:nvPr/>
        </p:nvSpPr>
        <p:spPr>
          <a:xfrm>
            <a:off x="6583680" y="3191256"/>
            <a:ext cx="2103120" cy="320040"/>
          </a:xfrm>
          <a:prstGeom prst="rect">
            <a:avLst/>
          </a:prstGeom>
          <a:noFill/>
          <a:ln/>
        </p:spPr>
        <p:txBody>
          <a:bodyPr wrap="square" lIns="0" tIns="0" rIns="0" bIns="0" rtlCol="0" anchor="t"/>
          <a:lstStyle/>
          <a:p>
            <a:pPr marL="0" indent="0">
              <a:buNone/>
            </a:pPr>
            <a:r>
              <a:rPr lang="en-US" sz="2000" b="1" dirty="0">
                <a:solidFill>
                  <a:srgbClr val="36312D"/>
                </a:solidFill>
                <a:latin typeface="Arial" pitchFamily="34" charset="0"/>
                <a:ea typeface="Arial" pitchFamily="34" charset="-122"/>
                <a:cs typeface="Arial" pitchFamily="34" charset="-120"/>
              </a:rPr>
              <a:t>Inform and guide</a:t>
            </a:r>
            <a:endParaRPr lang="en-US" sz="2000" dirty="0"/>
          </a:p>
        </p:txBody>
      </p:sp>
      <p:sp>
        <p:nvSpPr>
          <p:cNvPr id="22" name="Text 17"/>
          <p:cNvSpPr txBox="1"/>
          <p:nvPr/>
        </p:nvSpPr>
        <p:spPr>
          <a:xfrm>
            <a:off x="6583680" y="3557016"/>
            <a:ext cx="2103120" cy="868680"/>
          </a:xfrm>
          <a:prstGeom prst="rect">
            <a:avLst/>
          </a:prstGeom>
          <a:noFill/>
          <a:ln/>
        </p:spPr>
        <p:txBody>
          <a:bodyPr wrap="square" lIns="0" tIns="0" rIns="0" bIns="0" rtlCol="0" anchor="t"/>
          <a:lstStyle/>
          <a:p>
            <a:pPr marL="0" indent="0">
              <a:buNone/>
            </a:pPr>
            <a:r>
              <a:rPr lang="en-US" sz="1400" dirty="0">
                <a:solidFill>
                  <a:srgbClr val="79736E"/>
                </a:solidFill>
                <a:latin typeface="Arial" pitchFamily="34" charset="0"/>
                <a:ea typeface="Arial" pitchFamily="34" charset="-122"/>
                <a:cs typeface="Arial" pitchFamily="34" charset="-120"/>
              </a:rPr>
              <a:t>Show users what is available and guide them to a free space.</a:t>
            </a:r>
            <a:endParaRPr lang="en-US" sz="1400" dirty="0"/>
          </a:p>
        </p:txBody>
      </p:sp>
      <p:sp>
        <p:nvSpPr>
          <p:cNvPr id="23" name="Text 18"/>
          <p:cNvSpPr txBox="1"/>
          <p:nvPr/>
        </p:nvSpPr>
        <p:spPr>
          <a:xfrm>
            <a:off x="685800" y="4745736"/>
            <a:ext cx="5486400" cy="201168"/>
          </a:xfrm>
          <a:prstGeom prst="rect">
            <a:avLst/>
          </a:prstGeom>
          <a:noFill/>
          <a:ln/>
        </p:spPr>
        <p:txBody>
          <a:bodyPr wrap="square" lIns="0" tIns="0" rIns="0" bIns="0" rtlCol="0" anchor="t"/>
          <a:lstStyle/>
          <a:p>
            <a:pPr marL="0" indent="0">
              <a:buNone/>
            </a:pPr>
            <a:r>
              <a:rPr lang="en-US" sz="1000" dirty="0" err="1">
                <a:solidFill>
                  <a:srgbClr val="79736E"/>
                </a:solidFill>
                <a:latin typeface="Arial" pitchFamily="34" charset="0"/>
                <a:ea typeface="Arial" pitchFamily="34" charset="-122"/>
                <a:cs typeface="Arial" pitchFamily="34" charset="-120"/>
              </a:rPr>
              <a:t>ParkSense</a:t>
            </a:r>
            <a:r>
              <a:rPr lang="en-US" sz="1000" dirty="0">
                <a:solidFill>
                  <a:srgbClr val="79736E"/>
                </a:solidFill>
                <a:latin typeface="Arial" pitchFamily="34" charset="0"/>
                <a:ea typeface="Arial" pitchFamily="34" charset="-122"/>
                <a:cs typeface="Arial" pitchFamily="34" charset="-120"/>
              </a:rPr>
              <a:t>   ·  Final Review</a:t>
            </a:r>
            <a:endParaRPr lang="en-US" sz="1000" dirty="0"/>
          </a:p>
        </p:txBody>
      </p:sp>
      <p:sp>
        <p:nvSpPr>
          <p:cNvPr id="24" name="Text 19"/>
          <p:cNvSpPr txBox="1"/>
          <p:nvPr/>
        </p:nvSpPr>
        <p:spPr>
          <a:xfrm>
            <a:off x="8458200" y="4745736"/>
            <a:ext cx="457200" cy="201168"/>
          </a:xfrm>
          <a:prstGeom prst="rect">
            <a:avLst/>
          </a:prstGeom>
          <a:noFill/>
          <a:ln/>
        </p:spPr>
        <p:txBody>
          <a:bodyPr wrap="square" lIns="0" tIns="0" rIns="0" bIns="0" rtlCol="0" anchor="t"/>
          <a:lstStyle/>
          <a:p>
            <a:pPr marL="0" indent="0" algn="r">
              <a:buNone/>
            </a:pPr>
            <a:r>
              <a:rPr lang="en-US" sz="1000" dirty="0">
                <a:solidFill>
                  <a:srgbClr val="79736E"/>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8F7"/>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ctr"/>
          <a:lstStyle/>
          <a:p>
            <a:pPr marL="0" indent="0">
              <a:buNone/>
            </a:pPr>
            <a:r>
              <a:rPr lang="en-US" sz="3400" b="1" dirty="0">
                <a:solidFill>
                  <a:srgbClr val="36312D"/>
                </a:solidFill>
                <a:latin typeface="Cambria" pitchFamily="34" charset="0"/>
                <a:ea typeface="Cambria" pitchFamily="34" charset="-122"/>
                <a:cs typeface="Cambria" pitchFamily="34" charset="-120"/>
              </a:rPr>
              <a:t>Decoding the problem</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3246120"/>
        </p:xfrm>
        <a:graphic>
          <a:graphicData uri="http://schemas.openxmlformats.org/drawingml/2006/table">
            <a:tbl>
              <a:tblPr/>
              <a:tblGrid>
                <a:gridCol w="21945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411480">
                <a:tc>
                  <a:txBody>
                    <a:bodyPr/>
                    <a:lstStyle/>
                    <a:p>
                      <a:pPr marL="0" indent="0">
                        <a:buNone/>
                      </a:pPr>
                      <a:r>
                        <a:rPr lang="en-US" sz="1400" b="1" dirty="0">
                          <a:solidFill>
                            <a:srgbClr val="FFFFFF"/>
                          </a:solidFill>
                          <a:latin typeface="Arial" pitchFamily="34" charset="0"/>
                          <a:ea typeface="Arial" pitchFamily="34" charset="-122"/>
                          <a:cs typeface="Arial" pitchFamily="34" charset="-120"/>
                        </a:rPr>
                        <a:t>Keyword</a:t>
                      </a:r>
                      <a:endParaRPr lang="en-US" sz="14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3A332E"/>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What it really means</a:t>
                      </a:r>
                      <a:endParaRPr lang="en-US" sz="14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3A332E"/>
                    </a:solidFill>
                  </a:tcPr>
                </a:tc>
                <a:tc>
                  <a:txBody>
                    <a:bodyPr/>
                    <a:lstStyle/>
                    <a:p>
                      <a:pPr marL="0" indent="0">
                        <a:buNone/>
                      </a:pPr>
                      <a:r>
                        <a:rPr lang="en-US" sz="1400" b="1" dirty="0">
                          <a:solidFill>
                            <a:srgbClr val="FFFFFF"/>
                          </a:solidFill>
                          <a:latin typeface="Arial" pitchFamily="34" charset="0"/>
                          <a:ea typeface="Arial" pitchFamily="34" charset="-122"/>
                          <a:cs typeface="Arial" pitchFamily="34" charset="-120"/>
                        </a:rPr>
                        <a:t>What we build</a:t>
                      </a:r>
                      <a:endParaRPr lang="en-US" sz="14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3A332E"/>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rgbClr val="36312D"/>
                          </a:solidFill>
                          <a:latin typeface="Arial" pitchFamily="34" charset="0"/>
                          <a:ea typeface="Arial" pitchFamily="34" charset="-122"/>
                          <a:cs typeface="Arial" pitchFamily="34" charset="-120"/>
                        </a:rPr>
                        <a:t>Camera-based</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FFFFF"/>
                    </a:solidFill>
                  </a:tcPr>
                </a:tc>
                <a:tc>
                  <a:txBody>
                    <a:bodyPr/>
                    <a:lstStyle/>
                    <a:p>
                      <a:pPr marL="0" indent="0">
                        <a:buNone/>
                      </a:pPr>
                      <a:r>
                        <a:rPr lang="en-US" sz="1300" dirty="0">
                          <a:solidFill>
                            <a:srgbClr val="36312D"/>
                          </a:solidFill>
                          <a:latin typeface="Arial" pitchFamily="34" charset="0"/>
                          <a:ea typeface="Arial" pitchFamily="34" charset="-122"/>
                          <a:cs typeface="Arial" pitchFamily="34" charset="-120"/>
                        </a:rPr>
                        <a:t>Vision-only sensing; no per-bay hardware</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FFFFF"/>
                    </a:solidFill>
                  </a:tcPr>
                </a:tc>
                <a:tc>
                  <a:txBody>
                    <a:bodyPr/>
                    <a:lstStyle/>
                    <a:p>
                      <a:pPr marL="0" indent="0">
                        <a:buNone/>
                      </a:pPr>
                      <a:r>
                        <a:rPr lang="en-US" sz="1300" dirty="0">
                          <a:solidFill>
                            <a:srgbClr val="36312D"/>
                          </a:solidFill>
                          <a:latin typeface="Arial" pitchFamily="34" charset="0"/>
                          <a:ea typeface="Arial" pitchFamily="34" charset="-122"/>
                          <a:cs typeface="Arial" pitchFamily="34" charset="-120"/>
                        </a:rPr>
                        <a:t>OpenCV + YOLO on IP / CCTV video</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300" b="1" dirty="0">
                          <a:solidFill>
                            <a:srgbClr val="36312D"/>
                          </a:solidFill>
                          <a:latin typeface="Arial" pitchFamily="34" charset="0"/>
                          <a:ea typeface="Arial" pitchFamily="34" charset="-122"/>
                          <a:cs typeface="Arial" pitchFamily="34" charset="-120"/>
                        </a:rPr>
                        <a:t>Detect available and occupied</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9F8F7"/>
                    </a:solidFill>
                  </a:tcPr>
                </a:tc>
                <a:tc>
                  <a:txBody>
                    <a:bodyPr/>
                    <a:lstStyle/>
                    <a:p>
                      <a:pPr marL="0" indent="0">
                        <a:buNone/>
                      </a:pPr>
                      <a:r>
                        <a:rPr lang="en-US" sz="1300" dirty="0">
                          <a:solidFill>
                            <a:srgbClr val="36312D"/>
                          </a:solidFill>
                          <a:latin typeface="Arial" pitchFamily="34" charset="0"/>
                          <a:ea typeface="Arial" pitchFamily="34" charset="-122"/>
                          <a:cs typeface="Arial" pitchFamily="34" charset="-120"/>
                        </a:rPr>
                        <a:t>A free or occupied label for every bay</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9F8F7"/>
                    </a:solidFill>
                  </a:tcPr>
                </a:tc>
                <a:tc>
                  <a:txBody>
                    <a:bodyPr/>
                    <a:lstStyle/>
                    <a:p>
                      <a:pPr marL="0" indent="0">
                        <a:buNone/>
                      </a:pPr>
                      <a:r>
                        <a:rPr lang="en-US" sz="1300" dirty="0">
                          <a:solidFill>
                            <a:srgbClr val="36312D"/>
                          </a:solidFill>
                          <a:latin typeface="Arial" pitchFamily="34" charset="0"/>
                          <a:ea typeface="Arial" pitchFamily="34" charset="-122"/>
                          <a:cs typeface="Arial" pitchFamily="34" charset="-120"/>
                        </a:rPr>
                        <a:t>Slot polygons + vehicle-overlap logic</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9F8F7"/>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rgbClr val="36312D"/>
                          </a:solidFill>
                          <a:latin typeface="Arial" pitchFamily="34" charset="0"/>
                          <a:ea typeface="Arial" pitchFamily="34" charset="-122"/>
                          <a:cs typeface="Arial" pitchFamily="34" charset="-120"/>
                        </a:rPr>
                        <a:t>Real time</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FFFFF"/>
                    </a:solidFill>
                  </a:tcPr>
                </a:tc>
                <a:tc>
                  <a:txBody>
                    <a:bodyPr/>
                    <a:lstStyle/>
                    <a:p>
                      <a:pPr marL="0" indent="0">
                        <a:buNone/>
                      </a:pPr>
                      <a:r>
                        <a:rPr lang="en-US" sz="1300" dirty="0">
                          <a:solidFill>
                            <a:srgbClr val="36312D"/>
                          </a:solidFill>
                          <a:latin typeface="Arial" pitchFamily="34" charset="0"/>
                          <a:ea typeface="Arial" pitchFamily="34" charset="-122"/>
                          <a:cs typeface="Arial" pitchFamily="34" charset="-120"/>
                        </a:rPr>
                        <a:t>Status updates within seconds of a change</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FFFFF"/>
                    </a:solidFill>
                  </a:tcPr>
                </a:tc>
                <a:tc>
                  <a:txBody>
                    <a:bodyPr/>
                    <a:lstStyle/>
                    <a:p>
                      <a:pPr marL="0" indent="0">
                        <a:buNone/>
                      </a:pPr>
                      <a:r>
                        <a:rPr lang="en-US" sz="1300" dirty="0">
                          <a:solidFill>
                            <a:srgbClr val="36312D"/>
                          </a:solidFill>
                          <a:latin typeface="Arial" pitchFamily="34" charset="0"/>
                          <a:ea typeface="Arial" pitchFamily="34" charset="-122"/>
                          <a:cs typeface="Arial" pitchFamily="34" charset="-120"/>
                        </a:rPr>
                        <a:t>Frame stream + WebSocket live push</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300" b="1" dirty="0">
                          <a:solidFill>
                            <a:srgbClr val="36312D"/>
                          </a:solidFill>
                          <a:latin typeface="Arial" pitchFamily="34" charset="0"/>
                          <a:ea typeface="Arial" pitchFamily="34" charset="-122"/>
                          <a:cs typeface="Arial" pitchFamily="34" charset="-120"/>
                        </a:rPr>
                        <a:t>Availability information</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9F8F7"/>
                    </a:solidFill>
                  </a:tcPr>
                </a:tc>
                <a:tc>
                  <a:txBody>
                    <a:bodyPr/>
                    <a:lstStyle/>
                    <a:p>
                      <a:pPr marL="0" indent="0">
                        <a:buNone/>
                      </a:pPr>
                      <a:r>
                        <a:rPr lang="en-US" sz="1300" dirty="0">
                          <a:solidFill>
                            <a:srgbClr val="36312D"/>
                          </a:solidFill>
                          <a:latin typeface="Arial" pitchFamily="34" charset="0"/>
                          <a:ea typeface="Arial" pitchFamily="34" charset="-122"/>
                          <a:cs typeface="Arial" pitchFamily="34" charset="-120"/>
                        </a:rPr>
                        <a:t>Users see how many and which bays are free</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9F8F7"/>
                    </a:solidFill>
                  </a:tcPr>
                </a:tc>
                <a:tc>
                  <a:txBody>
                    <a:bodyPr/>
                    <a:lstStyle/>
                    <a:p>
                      <a:pPr marL="0" indent="0">
                        <a:buNone/>
                      </a:pPr>
                      <a:r>
                        <a:rPr lang="en-US" sz="1300" dirty="0">
                          <a:solidFill>
                            <a:srgbClr val="36312D"/>
                          </a:solidFill>
                          <a:latin typeface="Arial" pitchFamily="34" charset="0"/>
                          <a:ea typeface="Arial" pitchFamily="34" charset="-122"/>
                          <a:cs typeface="Arial" pitchFamily="34" charset="-120"/>
                        </a:rPr>
                        <a:t>Live dashboard with counts and map</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9F8F7"/>
                    </a:solidFill>
                  </a:tcPr>
                </a:tc>
                <a:extLst>
                  <a:ext uri="{0D108BD9-81ED-4DB2-BD59-A6C34878D82A}">
                    <a16:rowId xmlns:a16="http://schemas.microsoft.com/office/drawing/2014/main" val="10004"/>
                  </a:ext>
                </a:extLst>
              </a:tr>
              <a:tr h="566928">
                <a:tc>
                  <a:txBody>
                    <a:bodyPr/>
                    <a:lstStyle/>
                    <a:p>
                      <a:pPr marL="0" indent="0">
                        <a:buNone/>
                      </a:pPr>
                      <a:r>
                        <a:rPr lang="en-US" sz="1300" b="1" dirty="0">
                          <a:solidFill>
                            <a:srgbClr val="36312D"/>
                          </a:solidFill>
                          <a:latin typeface="Arial" pitchFamily="34" charset="0"/>
                          <a:ea typeface="Arial" pitchFamily="34" charset="-122"/>
                          <a:cs typeface="Arial" pitchFamily="34" charset="-120"/>
                        </a:rPr>
                        <a:t>Navigation</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FFFFF"/>
                    </a:solidFill>
                  </a:tcPr>
                </a:tc>
                <a:tc>
                  <a:txBody>
                    <a:bodyPr/>
                    <a:lstStyle/>
                    <a:p>
                      <a:pPr marL="0" indent="0">
                        <a:buNone/>
                      </a:pPr>
                      <a:r>
                        <a:rPr lang="en-US" sz="1300" dirty="0">
                          <a:solidFill>
                            <a:srgbClr val="36312D"/>
                          </a:solidFill>
                          <a:latin typeface="Arial" pitchFamily="34" charset="0"/>
                          <a:ea typeface="Arial" pitchFamily="34" charset="-122"/>
                          <a:cs typeface="Arial" pitchFamily="34" charset="-120"/>
                        </a:rPr>
                        <a:t>Guide the driver to a free bay</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FFFFF"/>
                    </a:solidFill>
                  </a:tcPr>
                </a:tc>
                <a:tc>
                  <a:txBody>
                    <a:bodyPr/>
                    <a:lstStyle/>
                    <a:p>
                      <a:pPr marL="0" indent="0">
                        <a:buNone/>
                      </a:pPr>
                      <a:r>
                        <a:rPr lang="en-US" sz="1300" dirty="0">
                          <a:solidFill>
                            <a:srgbClr val="36312D"/>
                          </a:solidFill>
                          <a:latin typeface="Arial" pitchFamily="34" charset="0"/>
                          <a:ea typeface="Arial" pitchFamily="34" charset="-122"/>
                          <a:cs typeface="Arial" pitchFamily="34" charset="-120"/>
                        </a:rPr>
                        <a:t>Slot recommendation + shortest path</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 name="Text 1"/>
          <p:cNvSpPr txBox="1"/>
          <p:nvPr/>
        </p:nvSpPr>
        <p:spPr>
          <a:xfrm>
            <a:off x="457200" y="4846320"/>
            <a:ext cx="5486400" cy="201168"/>
          </a:xfrm>
          <a:prstGeom prst="rect">
            <a:avLst/>
          </a:prstGeom>
          <a:noFill/>
          <a:ln/>
        </p:spPr>
        <p:txBody>
          <a:bodyPr wrap="square" lIns="0" tIns="0" rIns="0" bIns="0" rtlCol="0" anchor="t"/>
          <a:lstStyle/>
          <a:p>
            <a:r>
              <a:rPr lang="en-US" sz="1000" dirty="0" err="1">
                <a:solidFill>
                  <a:srgbClr val="79736E"/>
                </a:solidFill>
                <a:latin typeface="Arial" pitchFamily="34" charset="0"/>
                <a:ea typeface="Arial" pitchFamily="34" charset="-122"/>
                <a:cs typeface="Arial" pitchFamily="34" charset="-120"/>
              </a:rPr>
              <a:t>ParkSense</a:t>
            </a:r>
            <a:r>
              <a:rPr lang="en-US" sz="1000" dirty="0">
                <a:solidFill>
                  <a:srgbClr val="79736E"/>
                </a:solidFill>
                <a:latin typeface="Arial" pitchFamily="34" charset="0"/>
                <a:ea typeface="Arial" pitchFamily="34" charset="-122"/>
                <a:cs typeface="Arial" pitchFamily="34" charset="-120"/>
              </a:rPr>
              <a:t>   ·  Final Review</a:t>
            </a:r>
            <a:endParaRPr lang="en-US" sz="1000" dirty="0"/>
          </a:p>
        </p:txBody>
      </p:sp>
      <p:sp>
        <p:nvSpPr>
          <p:cNvPr id="5" name="Text 2"/>
          <p:cNvSpPr txBox="1"/>
          <p:nvPr/>
        </p:nvSpPr>
        <p:spPr>
          <a:xfrm>
            <a:off x="8229600" y="4846320"/>
            <a:ext cx="457200" cy="201168"/>
          </a:xfrm>
          <a:prstGeom prst="rect">
            <a:avLst/>
          </a:prstGeom>
          <a:noFill/>
          <a:ln/>
        </p:spPr>
        <p:txBody>
          <a:bodyPr wrap="square" lIns="0" tIns="0" rIns="0" bIns="0" rtlCol="0" anchor="t"/>
          <a:lstStyle/>
          <a:p>
            <a:pPr marL="0" indent="0" algn="r">
              <a:buNone/>
            </a:pPr>
            <a:r>
              <a:rPr lang="en-US" sz="1000" dirty="0">
                <a:solidFill>
                  <a:srgbClr val="79736E"/>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8F7"/>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ctr"/>
          <a:lstStyle/>
          <a:p>
            <a:pPr marL="0" indent="0">
              <a:buNone/>
            </a:pPr>
            <a:r>
              <a:rPr lang="en-US" sz="3400" b="1" dirty="0">
                <a:solidFill>
                  <a:srgbClr val="36312D"/>
                </a:solidFill>
                <a:latin typeface="Cambria" pitchFamily="34" charset="0"/>
                <a:ea typeface="Cambria" pitchFamily="34" charset="-122"/>
                <a:cs typeface="Cambria" pitchFamily="34" charset="-120"/>
              </a:rPr>
              <a:t>Why it matters</a:t>
            </a:r>
            <a:endParaRPr lang="en-US" sz="3400" dirty="0"/>
          </a:p>
        </p:txBody>
      </p:sp>
      <p:sp>
        <p:nvSpPr>
          <p:cNvPr id="3" name="Shape 1"/>
          <p:cNvSpPr/>
          <p:nvPr/>
        </p:nvSpPr>
        <p:spPr>
          <a:xfrm>
            <a:off x="457200" y="1280160"/>
            <a:ext cx="640080" cy="640080"/>
          </a:xfrm>
          <a:prstGeom prst="ellipse">
            <a:avLst/>
          </a:prstGeom>
          <a:solidFill>
            <a:srgbClr val="3A332E"/>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617220" y="1440180"/>
            <a:ext cx="320040" cy="320040"/>
          </a:xfrm>
          <a:prstGeom prst="rect">
            <a:avLst/>
          </a:prstGeom>
        </p:spPr>
      </p:pic>
      <p:sp>
        <p:nvSpPr>
          <p:cNvPr id="5" name="Text 2"/>
          <p:cNvSpPr txBox="1"/>
          <p:nvPr/>
        </p:nvSpPr>
        <p:spPr>
          <a:xfrm>
            <a:off x="1325880" y="1298448"/>
            <a:ext cx="3566160" cy="320040"/>
          </a:xfrm>
          <a:prstGeom prst="rect">
            <a:avLst/>
          </a:prstGeom>
          <a:noFill/>
          <a:ln/>
        </p:spPr>
        <p:txBody>
          <a:bodyPr wrap="square" lIns="0" tIns="0" rIns="0" bIns="0" rtlCol="0" anchor="t"/>
          <a:lstStyle/>
          <a:p>
            <a:pPr marL="0" indent="0">
              <a:buNone/>
            </a:pPr>
            <a:r>
              <a:rPr lang="en-US" sz="1800" b="1" dirty="0">
                <a:solidFill>
                  <a:srgbClr val="36312D"/>
                </a:solidFill>
                <a:latin typeface="Arial" pitchFamily="34" charset="0"/>
                <a:ea typeface="Arial" pitchFamily="34" charset="-122"/>
                <a:cs typeface="Arial" pitchFamily="34" charset="-120"/>
              </a:rPr>
              <a:t>Time lost searching</a:t>
            </a:r>
            <a:endParaRPr lang="en-US" sz="1800" dirty="0"/>
          </a:p>
        </p:txBody>
      </p:sp>
      <p:sp>
        <p:nvSpPr>
          <p:cNvPr id="6" name="Text 3"/>
          <p:cNvSpPr txBox="1"/>
          <p:nvPr/>
        </p:nvSpPr>
        <p:spPr>
          <a:xfrm>
            <a:off x="1325880" y="1645920"/>
            <a:ext cx="3566160" cy="548640"/>
          </a:xfrm>
          <a:prstGeom prst="rect">
            <a:avLst/>
          </a:prstGeom>
          <a:noFill/>
          <a:ln/>
        </p:spPr>
        <p:txBody>
          <a:bodyPr wrap="square" lIns="0" tIns="0" rIns="0" bIns="0" rtlCol="0" anchor="t"/>
          <a:lstStyle/>
          <a:p>
            <a:pPr marL="0" indent="0">
              <a:buNone/>
            </a:pPr>
            <a:r>
              <a:rPr lang="en-US" sz="1400" dirty="0">
                <a:solidFill>
                  <a:srgbClr val="79736E"/>
                </a:solidFill>
                <a:latin typeface="Arial" pitchFamily="34" charset="0"/>
                <a:ea typeface="Arial" pitchFamily="34" charset="-122"/>
                <a:cs typeface="Arial" pitchFamily="34" charset="-120"/>
              </a:rPr>
              <a:t>Drivers circle the lot hunting for a free bay.</a:t>
            </a:r>
            <a:endParaRPr lang="en-US" sz="1400" dirty="0"/>
          </a:p>
        </p:txBody>
      </p:sp>
      <p:sp>
        <p:nvSpPr>
          <p:cNvPr id="7" name="Shape 4"/>
          <p:cNvSpPr/>
          <p:nvPr/>
        </p:nvSpPr>
        <p:spPr>
          <a:xfrm>
            <a:off x="457200" y="2377440"/>
            <a:ext cx="640080" cy="640080"/>
          </a:xfrm>
          <a:prstGeom prst="ellipse">
            <a:avLst/>
          </a:prstGeom>
          <a:solidFill>
            <a:srgbClr val="3A332E"/>
          </a:solidFill>
          <a:ln/>
        </p:spPr>
        <p:txBody>
          <a:bodyPr/>
          <a:lstStyle/>
          <a:p>
            <a:endParaRPr lang="en-IN"/>
          </a:p>
        </p:txBody>
      </p:sp>
      <p:pic>
        <p:nvPicPr>
          <p:cNvPr id="8" name="Image 1" descr="preencoded.png"/>
          <p:cNvPicPr>
            <a:picLocks noChangeAspect="1"/>
          </p:cNvPicPr>
          <p:nvPr/>
        </p:nvPicPr>
        <p:blipFill>
          <a:blip r:embed="rId4"/>
          <a:stretch>
            <a:fillRect/>
          </a:stretch>
        </p:blipFill>
        <p:spPr>
          <a:xfrm>
            <a:off x="617220" y="2537460"/>
            <a:ext cx="320040" cy="320040"/>
          </a:xfrm>
          <a:prstGeom prst="rect">
            <a:avLst/>
          </a:prstGeom>
        </p:spPr>
      </p:pic>
      <p:sp>
        <p:nvSpPr>
          <p:cNvPr id="9" name="Text 5"/>
          <p:cNvSpPr txBox="1"/>
          <p:nvPr/>
        </p:nvSpPr>
        <p:spPr>
          <a:xfrm>
            <a:off x="1325880" y="2395728"/>
            <a:ext cx="3566160" cy="320040"/>
          </a:xfrm>
          <a:prstGeom prst="rect">
            <a:avLst/>
          </a:prstGeom>
          <a:noFill/>
          <a:ln/>
        </p:spPr>
        <p:txBody>
          <a:bodyPr wrap="square" lIns="0" tIns="0" rIns="0" bIns="0" rtlCol="0" anchor="t"/>
          <a:lstStyle/>
          <a:p>
            <a:pPr marL="0" indent="0">
              <a:buNone/>
            </a:pPr>
            <a:r>
              <a:rPr lang="en-US" sz="1800" b="1" dirty="0">
                <a:solidFill>
                  <a:srgbClr val="36312D"/>
                </a:solidFill>
                <a:latin typeface="Arial" pitchFamily="34" charset="0"/>
                <a:ea typeface="Arial" pitchFamily="34" charset="-122"/>
                <a:cs typeface="Arial" pitchFamily="34" charset="-120"/>
              </a:rPr>
              <a:t>Fuel, emissions and stress</a:t>
            </a:r>
            <a:endParaRPr lang="en-US" sz="1800" dirty="0"/>
          </a:p>
        </p:txBody>
      </p:sp>
      <p:sp>
        <p:nvSpPr>
          <p:cNvPr id="10" name="Text 6"/>
          <p:cNvSpPr txBox="1"/>
          <p:nvPr/>
        </p:nvSpPr>
        <p:spPr>
          <a:xfrm>
            <a:off x="1325880" y="2743200"/>
            <a:ext cx="3566160" cy="548640"/>
          </a:xfrm>
          <a:prstGeom prst="rect">
            <a:avLst/>
          </a:prstGeom>
          <a:noFill/>
          <a:ln/>
        </p:spPr>
        <p:txBody>
          <a:bodyPr wrap="square" lIns="0" tIns="0" rIns="0" bIns="0" rtlCol="0" anchor="t"/>
          <a:lstStyle/>
          <a:p>
            <a:pPr marL="0" indent="0">
              <a:buNone/>
            </a:pPr>
            <a:r>
              <a:rPr lang="en-US" sz="1400" dirty="0">
                <a:solidFill>
                  <a:srgbClr val="79736E"/>
                </a:solidFill>
                <a:latin typeface="Arial" pitchFamily="34" charset="0"/>
                <a:ea typeface="Arial" pitchFamily="34" charset="-122"/>
                <a:cs typeface="Arial" pitchFamily="34" charset="-120"/>
              </a:rPr>
              <a:t>Extra driving adds cost and frustration.</a:t>
            </a:r>
            <a:endParaRPr lang="en-US" sz="1400" dirty="0"/>
          </a:p>
        </p:txBody>
      </p:sp>
      <p:sp>
        <p:nvSpPr>
          <p:cNvPr id="11" name="Shape 7"/>
          <p:cNvSpPr/>
          <p:nvPr/>
        </p:nvSpPr>
        <p:spPr>
          <a:xfrm>
            <a:off x="457200" y="3474720"/>
            <a:ext cx="640080" cy="640080"/>
          </a:xfrm>
          <a:prstGeom prst="ellipse">
            <a:avLst/>
          </a:prstGeom>
          <a:solidFill>
            <a:srgbClr val="3A332E"/>
          </a:solidFill>
          <a:ln/>
        </p:spPr>
        <p:txBody>
          <a:bodyPr/>
          <a:lstStyle/>
          <a:p>
            <a:endParaRPr lang="en-IN"/>
          </a:p>
        </p:txBody>
      </p:sp>
      <p:pic>
        <p:nvPicPr>
          <p:cNvPr id="12" name="Image 2" descr="preencoded.png"/>
          <p:cNvPicPr>
            <a:picLocks noChangeAspect="1"/>
          </p:cNvPicPr>
          <p:nvPr/>
        </p:nvPicPr>
        <p:blipFill>
          <a:blip r:embed="rId5"/>
          <a:stretch>
            <a:fillRect/>
          </a:stretch>
        </p:blipFill>
        <p:spPr>
          <a:xfrm>
            <a:off x="617220" y="3634740"/>
            <a:ext cx="320040" cy="320040"/>
          </a:xfrm>
          <a:prstGeom prst="rect">
            <a:avLst/>
          </a:prstGeom>
        </p:spPr>
      </p:pic>
      <p:sp>
        <p:nvSpPr>
          <p:cNvPr id="13" name="Text 8"/>
          <p:cNvSpPr txBox="1"/>
          <p:nvPr/>
        </p:nvSpPr>
        <p:spPr>
          <a:xfrm>
            <a:off x="1325880" y="3493008"/>
            <a:ext cx="3566160" cy="320040"/>
          </a:xfrm>
          <a:prstGeom prst="rect">
            <a:avLst/>
          </a:prstGeom>
          <a:noFill/>
          <a:ln/>
        </p:spPr>
        <p:txBody>
          <a:bodyPr wrap="square" lIns="0" tIns="0" rIns="0" bIns="0" rtlCol="0" anchor="t"/>
          <a:lstStyle/>
          <a:p>
            <a:pPr marL="0" indent="0">
              <a:buNone/>
            </a:pPr>
            <a:r>
              <a:rPr lang="en-US" sz="1800" b="1" dirty="0">
                <a:solidFill>
                  <a:srgbClr val="36312D"/>
                </a:solidFill>
                <a:latin typeface="Arial" pitchFamily="34" charset="0"/>
                <a:ea typeface="Arial" pitchFamily="34" charset="-122"/>
                <a:cs typeface="Arial" pitchFamily="34" charset="-120"/>
              </a:rPr>
              <a:t>Queues at the gate</a:t>
            </a:r>
            <a:endParaRPr lang="en-US" sz="1800" dirty="0"/>
          </a:p>
        </p:txBody>
      </p:sp>
      <p:sp>
        <p:nvSpPr>
          <p:cNvPr id="14" name="Text 9"/>
          <p:cNvSpPr txBox="1"/>
          <p:nvPr/>
        </p:nvSpPr>
        <p:spPr>
          <a:xfrm>
            <a:off x="1325880" y="3840480"/>
            <a:ext cx="3566160" cy="548640"/>
          </a:xfrm>
          <a:prstGeom prst="rect">
            <a:avLst/>
          </a:prstGeom>
          <a:noFill/>
          <a:ln/>
        </p:spPr>
        <p:txBody>
          <a:bodyPr wrap="square" lIns="0" tIns="0" rIns="0" bIns="0" rtlCol="0" anchor="t"/>
          <a:lstStyle/>
          <a:p>
            <a:pPr marL="0" indent="0">
              <a:buNone/>
            </a:pPr>
            <a:r>
              <a:rPr lang="en-US" sz="1400" dirty="0">
                <a:solidFill>
                  <a:srgbClr val="79736E"/>
                </a:solidFill>
                <a:latin typeface="Arial" pitchFamily="34" charset="0"/>
                <a:ea typeface="Arial" pitchFamily="34" charset="-122"/>
                <a:cs typeface="Arial" pitchFamily="34" charset="-120"/>
              </a:rPr>
              <a:t>Blind entry creates jams inside and outside the lot.</a:t>
            </a:r>
            <a:endParaRPr lang="en-US" sz="1400" dirty="0"/>
          </a:p>
        </p:txBody>
      </p:sp>
      <p:sp>
        <p:nvSpPr>
          <p:cNvPr id="15" name="Shape 10"/>
          <p:cNvSpPr/>
          <p:nvPr/>
        </p:nvSpPr>
        <p:spPr>
          <a:xfrm>
            <a:off x="5212080" y="1188720"/>
            <a:ext cx="3474720" cy="3429000"/>
          </a:xfrm>
          <a:prstGeom prst="roundRect">
            <a:avLst>
              <a:gd name="adj" fmla="val 2133"/>
            </a:avLst>
          </a:prstGeom>
          <a:solidFill>
            <a:srgbClr val="26211E"/>
          </a:solidFill>
          <a:ln/>
        </p:spPr>
        <p:txBody>
          <a:bodyPr/>
          <a:lstStyle/>
          <a:p>
            <a:endParaRPr lang="en-IN"/>
          </a:p>
        </p:txBody>
      </p:sp>
      <p:sp>
        <p:nvSpPr>
          <p:cNvPr id="16" name="Text 11"/>
          <p:cNvSpPr txBox="1"/>
          <p:nvPr/>
        </p:nvSpPr>
        <p:spPr>
          <a:xfrm>
            <a:off x="5486400" y="1417320"/>
            <a:ext cx="3017520" cy="365760"/>
          </a:xfrm>
          <a:prstGeom prst="rect">
            <a:avLst/>
          </a:prstGeom>
          <a:noFill/>
          <a:ln/>
        </p:spPr>
        <p:txBody>
          <a:bodyPr wrap="square" lIns="0" tIns="0" rIns="0" bIns="0" rtlCol="0" anchor="t"/>
          <a:lstStyle/>
          <a:p>
            <a:pPr marL="0" indent="0">
              <a:buNone/>
            </a:pPr>
            <a:r>
              <a:rPr lang="en-US" sz="2000" b="1" dirty="0">
                <a:solidFill>
                  <a:srgbClr val="1FBF75"/>
                </a:solidFill>
                <a:latin typeface="Arial" pitchFamily="34" charset="0"/>
                <a:ea typeface="Arial" pitchFamily="34" charset="-122"/>
                <a:cs typeface="Arial" pitchFamily="34" charset="-120"/>
              </a:rPr>
              <a:t>Why camera-based?</a:t>
            </a:r>
            <a:endParaRPr lang="en-US" sz="2000" dirty="0"/>
          </a:p>
        </p:txBody>
      </p:sp>
      <p:sp>
        <p:nvSpPr>
          <p:cNvPr id="17" name="Text 12"/>
          <p:cNvSpPr txBox="1"/>
          <p:nvPr/>
        </p:nvSpPr>
        <p:spPr>
          <a:xfrm>
            <a:off x="5486400" y="1965960"/>
            <a:ext cx="3017520" cy="24688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FFFFFF"/>
                </a:solidFill>
                <a:latin typeface="Arial" pitchFamily="34" charset="0"/>
                <a:ea typeface="Arial" pitchFamily="34" charset="-122"/>
                <a:cs typeface="Arial" pitchFamily="34" charset="-120"/>
              </a:rPr>
              <a:t>One camera can watch many bays</a:t>
            </a:r>
            <a:endParaRPr lang="en-US" sz="1500" dirty="0"/>
          </a:p>
          <a:p>
            <a:pPr marL="342900" indent="-342900">
              <a:spcAft>
                <a:spcPts val="1000"/>
              </a:spcAft>
              <a:buSzPct val="100000"/>
              <a:buChar char="•"/>
            </a:pPr>
            <a:r>
              <a:rPr lang="en-US" sz="1500" dirty="0">
                <a:solidFill>
                  <a:srgbClr val="FFFFFF"/>
                </a:solidFill>
                <a:latin typeface="Arial" pitchFamily="34" charset="0"/>
                <a:ea typeface="Arial" pitchFamily="34" charset="-122"/>
                <a:cs typeface="Arial" pitchFamily="34" charset="-120"/>
              </a:rPr>
              <a:t>Reuses existing CCTV, no per-bay sensors</a:t>
            </a:r>
            <a:endParaRPr lang="en-US" sz="1500" dirty="0"/>
          </a:p>
          <a:p>
            <a:pPr marL="342900" indent="-342900">
              <a:spcAft>
                <a:spcPts val="1000"/>
              </a:spcAft>
              <a:buSzPct val="100000"/>
              <a:buChar char="•"/>
            </a:pPr>
            <a:r>
              <a:rPr lang="en-US" sz="1500" dirty="0">
                <a:solidFill>
                  <a:srgbClr val="FFFFFF"/>
                </a:solidFill>
                <a:latin typeface="Arial" pitchFamily="34" charset="0"/>
                <a:ea typeface="Arial" pitchFamily="34" charset="-122"/>
                <a:cs typeface="Arial" pitchFamily="34" charset="-120"/>
              </a:rPr>
              <a:t>Shows exactly which bay is free</a:t>
            </a:r>
            <a:endParaRPr lang="en-US" sz="1500" dirty="0"/>
          </a:p>
          <a:p>
            <a:pPr marL="342900" indent="-342900">
              <a:spcAft>
                <a:spcPts val="1000"/>
              </a:spcAft>
              <a:buSzPct val="100000"/>
              <a:buChar char="•"/>
            </a:pPr>
            <a:r>
              <a:rPr lang="en-US" sz="1500" dirty="0">
                <a:solidFill>
                  <a:srgbClr val="FFFFFF"/>
                </a:solidFill>
                <a:latin typeface="Arial" pitchFamily="34" charset="0"/>
                <a:ea typeface="Arial" pitchFamily="34" charset="-122"/>
                <a:cs typeface="Arial" pitchFamily="34" charset="-120"/>
              </a:rPr>
              <a:t>Same footage can add security and analytics</a:t>
            </a:r>
            <a:endParaRPr lang="en-US" sz="1500" dirty="0"/>
          </a:p>
        </p:txBody>
      </p:sp>
      <p:sp>
        <p:nvSpPr>
          <p:cNvPr id="18" name="Text 13"/>
          <p:cNvSpPr txBox="1"/>
          <p:nvPr/>
        </p:nvSpPr>
        <p:spPr>
          <a:xfrm>
            <a:off x="457200" y="4846320"/>
            <a:ext cx="5486400" cy="201168"/>
          </a:xfrm>
          <a:prstGeom prst="rect">
            <a:avLst/>
          </a:prstGeom>
          <a:noFill/>
          <a:ln/>
        </p:spPr>
        <p:txBody>
          <a:bodyPr wrap="square" lIns="0" tIns="0" rIns="0" bIns="0" rtlCol="0" anchor="t"/>
          <a:lstStyle/>
          <a:p>
            <a:r>
              <a:rPr lang="en-US" sz="1000" dirty="0" err="1">
                <a:solidFill>
                  <a:srgbClr val="79736E"/>
                </a:solidFill>
                <a:latin typeface="Arial" pitchFamily="34" charset="0"/>
                <a:ea typeface="Arial" pitchFamily="34" charset="-122"/>
                <a:cs typeface="Arial" pitchFamily="34" charset="-120"/>
              </a:rPr>
              <a:t>ParkSense</a:t>
            </a:r>
            <a:r>
              <a:rPr lang="en-US" sz="1000" dirty="0">
                <a:solidFill>
                  <a:srgbClr val="79736E"/>
                </a:solidFill>
                <a:latin typeface="Arial" pitchFamily="34" charset="0"/>
                <a:ea typeface="Arial" pitchFamily="34" charset="-122"/>
                <a:cs typeface="Arial" pitchFamily="34" charset="-120"/>
              </a:rPr>
              <a:t>   ·  Final Review</a:t>
            </a:r>
            <a:endParaRPr lang="en-US" sz="1000" dirty="0"/>
          </a:p>
        </p:txBody>
      </p:sp>
      <p:sp>
        <p:nvSpPr>
          <p:cNvPr id="19" name="Text 14"/>
          <p:cNvSpPr txBox="1"/>
          <p:nvPr/>
        </p:nvSpPr>
        <p:spPr>
          <a:xfrm>
            <a:off x="8229600" y="4846320"/>
            <a:ext cx="457200" cy="201168"/>
          </a:xfrm>
          <a:prstGeom prst="rect">
            <a:avLst/>
          </a:prstGeom>
          <a:noFill/>
          <a:ln/>
        </p:spPr>
        <p:txBody>
          <a:bodyPr wrap="square" lIns="0" tIns="0" rIns="0" bIns="0" rtlCol="0" anchor="t"/>
          <a:lstStyle/>
          <a:p>
            <a:pPr marL="0" indent="0" algn="r">
              <a:buNone/>
            </a:pPr>
            <a:r>
              <a:rPr lang="en-US" sz="1000" dirty="0">
                <a:solidFill>
                  <a:srgbClr val="79736E"/>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8F7"/>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ctr"/>
          <a:lstStyle/>
          <a:p>
            <a:pPr marL="0" indent="0">
              <a:buNone/>
            </a:pPr>
            <a:r>
              <a:rPr lang="en-US" sz="3400" b="1" dirty="0">
                <a:solidFill>
                  <a:srgbClr val="36312D"/>
                </a:solidFill>
                <a:latin typeface="Cambria" pitchFamily="34" charset="0"/>
                <a:ea typeface="Cambria" pitchFamily="34" charset="-122"/>
                <a:cs typeface="Cambria" pitchFamily="34" charset="-120"/>
              </a:rPr>
              <a:t>Proposed solution: ParkSense</a:t>
            </a:r>
            <a:endParaRPr lang="en-US" sz="3400" dirty="0"/>
          </a:p>
        </p:txBody>
      </p:sp>
      <p:sp>
        <p:nvSpPr>
          <p:cNvPr id="3" name="Shape 1"/>
          <p:cNvSpPr/>
          <p:nvPr/>
        </p:nvSpPr>
        <p:spPr>
          <a:xfrm>
            <a:off x="457200" y="1188720"/>
            <a:ext cx="2514600" cy="1600200"/>
          </a:xfrm>
          <a:prstGeom prst="roundRect">
            <a:avLst>
              <a:gd name="adj" fmla="val 4571"/>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4" name="Shape 2"/>
          <p:cNvSpPr/>
          <p:nvPr/>
        </p:nvSpPr>
        <p:spPr>
          <a:xfrm>
            <a:off x="640080" y="1371600"/>
            <a:ext cx="457200" cy="457200"/>
          </a:xfrm>
          <a:prstGeom prst="ellipse">
            <a:avLst/>
          </a:prstGeom>
          <a:solidFill>
            <a:srgbClr val="3A332E"/>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754380" y="1485900"/>
            <a:ext cx="228600" cy="228600"/>
          </a:xfrm>
          <a:prstGeom prst="rect">
            <a:avLst/>
          </a:prstGeom>
        </p:spPr>
      </p:pic>
      <p:sp>
        <p:nvSpPr>
          <p:cNvPr id="6" name="Text 3"/>
          <p:cNvSpPr txBox="1"/>
          <p:nvPr/>
        </p:nvSpPr>
        <p:spPr>
          <a:xfrm>
            <a:off x="640080" y="1938528"/>
            <a:ext cx="2194560" cy="274320"/>
          </a:xfrm>
          <a:prstGeom prst="rect">
            <a:avLst/>
          </a:prstGeom>
          <a:noFill/>
          <a:ln/>
        </p:spPr>
        <p:txBody>
          <a:bodyPr wrap="square" lIns="0" tIns="0" rIns="0" bIns="0" rtlCol="0" anchor="t"/>
          <a:lstStyle/>
          <a:p>
            <a:pPr marL="0" indent="0">
              <a:buNone/>
            </a:pPr>
            <a:r>
              <a:rPr lang="en-US" sz="1600" b="1" dirty="0">
                <a:solidFill>
                  <a:srgbClr val="36312D"/>
                </a:solidFill>
                <a:latin typeface="Arial" pitchFamily="34" charset="0"/>
                <a:ea typeface="Arial" pitchFamily="34" charset="-122"/>
                <a:cs typeface="Arial" pitchFamily="34" charset="-120"/>
              </a:rPr>
              <a:t>Live slot detection</a:t>
            </a:r>
            <a:endParaRPr lang="en-US" sz="1600" dirty="0"/>
          </a:p>
        </p:txBody>
      </p:sp>
      <p:sp>
        <p:nvSpPr>
          <p:cNvPr id="7" name="Text 4"/>
          <p:cNvSpPr txBox="1"/>
          <p:nvPr/>
        </p:nvSpPr>
        <p:spPr>
          <a:xfrm>
            <a:off x="640080" y="2231136"/>
            <a:ext cx="2194560" cy="502920"/>
          </a:xfrm>
          <a:prstGeom prst="rect">
            <a:avLst/>
          </a:prstGeom>
          <a:noFill/>
          <a:ln/>
        </p:spPr>
        <p:txBody>
          <a:bodyPr wrap="square" lIns="0" tIns="0" rIns="0" bIns="0" rtlCol="0" anchor="t"/>
          <a:lstStyle/>
          <a:p>
            <a:pPr marL="0" indent="0">
              <a:buNone/>
            </a:pPr>
            <a:r>
              <a:rPr lang="en-US" sz="1400" dirty="0">
                <a:solidFill>
                  <a:srgbClr val="79736E"/>
                </a:solidFill>
                <a:latin typeface="Arial" pitchFamily="34" charset="0"/>
                <a:ea typeface="Arial" pitchFamily="34" charset="-122"/>
                <a:cs typeface="Arial" pitchFamily="34" charset="-120"/>
              </a:rPr>
              <a:t>AI marks every bay free or occupied.</a:t>
            </a:r>
            <a:endParaRPr lang="en-US" sz="1400" dirty="0"/>
          </a:p>
        </p:txBody>
      </p:sp>
      <p:sp>
        <p:nvSpPr>
          <p:cNvPr id="8" name="Shape 5"/>
          <p:cNvSpPr/>
          <p:nvPr/>
        </p:nvSpPr>
        <p:spPr>
          <a:xfrm>
            <a:off x="3154680" y="1188720"/>
            <a:ext cx="2514600" cy="1600200"/>
          </a:xfrm>
          <a:prstGeom prst="roundRect">
            <a:avLst>
              <a:gd name="adj" fmla="val 4571"/>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9" name="Shape 6"/>
          <p:cNvSpPr/>
          <p:nvPr/>
        </p:nvSpPr>
        <p:spPr>
          <a:xfrm>
            <a:off x="3337560" y="1371600"/>
            <a:ext cx="457200" cy="457200"/>
          </a:xfrm>
          <a:prstGeom prst="ellipse">
            <a:avLst/>
          </a:prstGeom>
          <a:solidFill>
            <a:srgbClr val="3A332E"/>
          </a:solidFill>
          <a:ln/>
        </p:spPr>
        <p:txBody>
          <a:bodyPr/>
          <a:lstStyle/>
          <a:p>
            <a:endParaRPr lang="en-IN"/>
          </a:p>
        </p:txBody>
      </p:sp>
      <p:pic>
        <p:nvPicPr>
          <p:cNvPr id="10" name="Image 1" descr="preencoded.png"/>
          <p:cNvPicPr>
            <a:picLocks noChangeAspect="1"/>
          </p:cNvPicPr>
          <p:nvPr/>
        </p:nvPicPr>
        <p:blipFill>
          <a:blip r:embed="rId4"/>
          <a:stretch>
            <a:fillRect/>
          </a:stretch>
        </p:blipFill>
        <p:spPr>
          <a:xfrm>
            <a:off x="3451860" y="1485900"/>
            <a:ext cx="228600" cy="228600"/>
          </a:xfrm>
          <a:prstGeom prst="rect">
            <a:avLst/>
          </a:prstGeom>
        </p:spPr>
      </p:pic>
      <p:sp>
        <p:nvSpPr>
          <p:cNvPr id="11" name="Text 7"/>
          <p:cNvSpPr txBox="1"/>
          <p:nvPr/>
        </p:nvSpPr>
        <p:spPr>
          <a:xfrm>
            <a:off x="3337560" y="1938528"/>
            <a:ext cx="2194560" cy="274320"/>
          </a:xfrm>
          <a:prstGeom prst="rect">
            <a:avLst/>
          </a:prstGeom>
          <a:noFill/>
          <a:ln/>
        </p:spPr>
        <p:txBody>
          <a:bodyPr wrap="square" lIns="0" tIns="0" rIns="0" bIns="0" rtlCol="0" anchor="t"/>
          <a:lstStyle/>
          <a:p>
            <a:pPr marL="0" indent="0">
              <a:buNone/>
            </a:pPr>
            <a:r>
              <a:rPr lang="en-US" sz="1600" b="1" dirty="0">
                <a:solidFill>
                  <a:srgbClr val="36312D"/>
                </a:solidFill>
                <a:latin typeface="Arial" pitchFamily="34" charset="0"/>
                <a:ea typeface="Arial" pitchFamily="34" charset="-122"/>
                <a:cs typeface="Arial" pitchFamily="34" charset="-120"/>
              </a:rPr>
              <a:t>Real-time dashboard</a:t>
            </a:r>
            <a:endParaRPr lang="en-US" sz="1600" dirty="0"/>
          </a:p>
        </p:txBody>
      </p:sp>
      <p:sp>
        <p:nvSpPr>
          <p:cNvPr id="12" name="Text 8"/>
          <p:cNvSpPr txBox="1"/>
          <p:nvPr/>
        </p:nvSpPr>
        <p:spPr>
          <a:xfrm>
            <a:off x="3337560" y="2231136"/>
            <a:ext cx="2194560" cy="502920"/>
          </a:xfrm>
          <a:prstGeom prst="rect">
            <a:avLst/>
          </a:prstGeom>
          <a:noFill/>
          <a:ln/>
        </p:spPr>
        <p:txBody>
          <a:bodyPr wrap="square" lIns="0" tIns="0" rIns="0" bIns="0" rtlCol="0" anchor="t"/>
          <a:lstStyle/>
          <a:p>
            <a:pPr marL="0" indent="0">
              <a:buNone/>
            </a:pPr>
            <a:r>
              <a:rPr lang="en-US" sz="1400" dirty="0">
                <a:solidFill>
                  <a:srgbClr val="79736E"/>
                </a:solidFill>
                <a:latin typeface="Arial" pitchFamily="34" charset="0"/>
                <a:ea typeface="Arial" pitchFamily="34" charset="-122"/>
                <a:cs typeface="Arial" pitchFamily="34" charset="-120"/>
              </a:rPr>
              <a:t>Live counts and slot map on the web.</a:t>
            </a:r>
            <a:endParaRPr lang="en-US" sz="1400" dirty="0"/>
          </a:p>
        </p:txBody>
      </p:sp>
      <p:sp>
        <p:nvSpPr>
          <p:cNvPr id="13" name="Shape 9"/>
          <p:cNvSpPr/>
          <p:nvPr/>
        </p:nvSpPr>
        <p:spPr>
          <a:xfrm>
            <a:off x="457200" y="2971800"/>
            <a:ext cx="2514600" cy="1600200"/>
          </a:xfrm>
          <a:prstGeom prst="roundRect">
            <a:avLst>
              <a:gd name="adj" fmla="val 4571"/>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14" name="Shape 10"/>
          <p:cNvSpPr/>
          <p:nvPr/>
        </p:nvSpPr>
        <p:spPr>
          <a:xfrm>
            <a:off x="640080" y="3154680"/>
            <a:ext cx="457200" cy="457200"/>
          </a:xfrm>
          <a:prstGeom prst="ellipse">
            <a:avLst/>
          </a:prstGeom>
          <a:solidFill>
            <a:srgbClr val="3A332E"/>
          </a:solidFill>
          <a:ln/>
        </p:spPr>
        <p:txBody>
          <a:bodyPr/>
          <a:lstStyle/>
          <a:p>
            <a:endParaRPr lang="en-IN"/>
          </a:p>
        </p:txBody>
      </p:sp>
      <p:pic>
        <p:nvPicPr>
          <p:cNvPr id="15" name="Image 2" descr="preencoded.png"/>
          <p:cNvPicPr>
            <a:picLocks noChangeAspect="1"/>
          </p:cNvPicPr>
          <p:nvPr/>
        </p:nvPicPr>
        <p:blipFill>
          <a:blip r:embed="rId5"/>
          <a:stretch>
            <a:fillRect/>
          </a:stretch>
        </p:blipFill>
        <p:spPr>
          <a:xfrm>
            <a:off x="754380" y="3268980"/>
            <a:ext cx="228600" cy="228600"/>
          </a:xfrm>
          <a:prstGeom prst="rect">
            <a:avLst/>
          </a:prstGeom>
        </p:spPr>
      </p:pic>
      <p:sp>
        <p:nvSpPr>
          <p:cNvPr id="16" name="Text 11"/>
          <p:cNvSpPr txBox="1"/>
          <p:nvPr/>
        </p:nvSpPr>
        <p:spPr>
          <a:xfrm>
            <a:off x="640080" y="3721608"/>
            <a:ext cx="2194560" cy="274320"/>
          </a:xfrm>
          <a:prstGeom prst="rect">
            <a:avLst/>
          </a:prstGeom>
          <a:noFill/>
          <a:ln/>
        </p:spPr>
        <p:txBody>
          <a:bodyPr wrap="square" lIns="0" tIns="0" rIns="0" bIns="0" rtlCol="0" anchor="t"/>
          <a:lstStyle/>
          <a:p>
            <a:pPr marL="0" indent="0">
              <a:buNone/>
            </a:pPr>
            <a:r>
              <a:rPr lang="en-US" sz="1600" b="1" dirty="0">
                <a:solidFill>
                  <a:srgbClr val="36312D"/>
                </a:solidFill>
                <a:latin typeface="Arial" pitchFamily="34" charset="0"/>
                <a:ea typeface="Arial" pitchFamily="34" charset="-122"/>
                <a:cs typeface="Arial" pitchFamily="34" charset="-120"/>
              </a:rPr>
              <a:t>Slot recommendation</a:t>
            </a:r>
            <a:endParaRPr lang="en-US" sz="1600" dirty="0"/>
          </a:p>
        </p:txBody>
      </p:sp>
      <p:sp>
        <p:nvSpPr>
          <p:cNvPr id="17" name="Text 12"/>
          <p:cNvSpPr txBox="1"/>
          <p:nvPr/>
        </p:nvSpPr>
        <p:spPr>
          <a:xfrm>
            <a:off x="640080" y="4014216"/>
            <a:ext cx="2194560" cy="502920"/>
          </a:xfrm>
          <a:prstGeom prst="rect">
            <a:avLst/>
          </a:prstGeom>
          <a:noFill/>
          <a:ln/>
        </p:spPr>
        <p:txBody>
          <a:bodyPr wrap="square" lIns="0" tIns="0" rIns="0" bIns="0" rtlCol="0" anchor="t"/>
          <a:lstStyle/>
          <a:p>
            <a:pPr marL="0" indent="0">
              <a:buNone/>
            </a:pPr>
            <a:r>
              <a:rPr lang="en-US" sz="1400" dirty="0">
                <a:solidFill>
                  <a:srgbClr val="79736E"/>
                </a:solidFill>
                <a:latin typeface="Arial" pitchFamily="34" charset="0"/>
                <a:ea typeface="Arial" pitchFamily="34" charset="-122"/>
                <a:cs typeface="Arial" pitchFamily="34" charset="-120"/>
              </a:rPr>
              <a:t>Suggests the nearest free bay with a route.</a:t>
            </a:r>
            <a:endParaRPr lang="en-US" sz="1400" dirty="0"/>
          </a:p>
        </p:txBody>
      </p:sp>
      <p:sp>
        <p:nvSpPr>
          <p:cNvPr id="18" name="Shape 13"/>
          <p:cNvSpPr/>
          <p:nvPr/>
        </p:nvSpPr>
        <p:spPr>
          <a:xfrm>
            <a:off x="3154680" y="2971800"/>
            <a:ext cx="2514600" cy="1600200"/>
          </a:xfrm>
          <a:prstGeom prst="roundRect">
            <a:avLst>
              <a:gd name="adj" fmla="val 4571"/>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19" name="Shape 14"/>
          <p:cNvSpPr/>
          <p:nvPr/>
        </p:nvSpPr>
        <p:spPr>
          <a:xfrm>
            <a:off x="3337560" y="3154680"/>
            <a:ext cx="457200" cy="457200"/>
          </a:xfrm>
          <a:prstGeom prst="ellipse">
            <a:avLst/>
          </a:prstGeom>
          <a:solidFill>
            <a:srgbClr val="3A332E"/>
          </a:solidFill>
          <a:ln/>
        </p:spPr>
        <p:txBody>
          <a:bodyPr/>
          <a:lstStyle/>
          <a:p>
            <a:endParaRPr lang="en-IN"/>
          </a:p>
        </p:txBody>
      </p:sp>
      <p:pic>
        <p:nvPicPr>
          <p:cNvPr id="20" name="Image 3" descr="preencoded.png"/>
          <p:cNvPicPr>
            <a:picLocks noChangeAspect="1"/>
          </p:cNvPicPr>
          <p:nvPr/>
        </p:nvPicPr>
        <p:blipFill>
          <a:blip r:embed="rId6"/>
          <a:stretch>
            <a:fillRect/>
          </a:stretch>
        </p:blipFill>
        <p:spPr>
          <a:xfrm>
            <a:off x="3451860" y="3268980"/>
            <a:ext cx="228600" cy="228600"/>
          </a:xfrm>
          <a:prstGeom prst="rect">
            <a:avLst/>
          </a:prstGeom>
        </p:spPr>
      </p:pic>
      <p:sp>
        <p:nvSpPr>
          <p:cNvPr id="21" name="Text 15"/>
          <p:cNvSpPr txBox="1"/>
          <p:nvPr/>
        </p:nvSpPr>
        <p:spPr>
          <a:xfrm>
            <a:off x="3337560" y="3721608"/>
            <a:ext cx="2194560" cy="274320"/>
          </a:xfrm>
          <a:prstGeom prst="rect">
            <a:avLst/>
          </a:prstGeom>
          <a:noFill/>
          <a:ln/>
        </p:spPr>
        <p:txBody>
          <a:bodyPr wrap="square" lIns="0" tIns="0" rIns="0" bIns="0" rtlCol="0" anchor="t"/>
          <a:lstStyle/>
          <a:p>
            <a:pPr marL="0" indent="0">
              <a:buNone/>
            </a:pPr>
            <a:r>
              <a:rPr lang="en-US" sz="1600" b="1" dirty="0">
                <a:solidFill>
                  <a:srgbClr val="36312D"/>
                </a:solidFill>
                <a:latin typeface="Arial" pitchFamily="34" charset="0"/>
                <a:ea typeface="Arial" pitchFamily="34" charset="-122"/>
                <a:cs typeface="Arial" pitchFamily="34" charset="-120"/>
              </a:rPr>
              <a:t>Admin analytics</a:t>
            </a:r>
            <a:endParaRPr lang="en-US" sz="1600" dirty="0"/>
          </a:p>
        </p:txBody>
      </p:sp>
      <p:sp>
        <p:nvSpPr>
          <p:cNvPr id="22" name="Text 16"/>
          <p:cNvSpPr txBox="1"/>
          <p:nvPr/>
        </p:nvSpPr>
        <p:spPr>
          <a:xfrm>
            <a:off x="3337560" y="4014216"/>
            <a:ext cx="2194560" cy="502920"/>
          </a:xfrm>
          <a:prstGeom prst="rect">
            <a:avLst/>
          </a:prstGeom>
          <a:noFill/>
          <a:ln/>
        </p:spPr>
        <p:txBody>
          <a:bodyPr wrap="square" lIns="0" tIns="0" rIns="0" bIns="0" rtlCol="0" anchor="t"/>
          <a:lstStyle/>
          <a:p>
            <a:pPr marL="0" indent="0">
              <a:buNone/>
            </a:pPr>
            <a:r>
              <a:rPr lang="en-US" sz="1400" dirty="0">
                <a:solidFill>
                  <a:srgbClr val="79736E"/>
                </a:solidFill>
                <a:latin typeface="Arial" pitchFamily="34" charset="0"/>
                <a:ea typeface="Arial" pitchFamily="34" charset="-122"/>
                <a:cs typeface="Arial" pitchFamily="34" charset="-120"/>
              </a:rPr>
              <a:t>Occupancy history and peak hours.</a:t>
            </a:r>
            <a:endParaRPr lang="en-US" sz="1400" dirty="0"/>
          </a:p>
        </p:txBody>
      </p:sp>
      <p:sp>
        <p:nvSpPr>
          <p:cNvPr id="23" name="Shape 17"/>
          <p:cNvSpPr/>
          <p:nvPr/>
        </p:nvSpPr>
        <p:spPr>
          <a:xfrm>
            <a:off x="5943600" y="1188720"/>
            <a:ext cx="2743200" cy="3429000"/>
          </a:xfrm>
          <a:prstGeom prst="roundRect">
            <a:avLst>
              <a:gd name="adj" fmla="val 2667"/>
            </a:avLst>
          </a:prstGeom>
          <a:solidFill>
            <a:srgbClr val="26211E"/>
          </a:solidFill>
          <a:ln/>
        </p:spPr>
        <p:txBody>
          <a:bodyPr/>
          <a:lstStyle/>
          <a:p>
            <a:endParaRPr lang="en-IN"/>
          </a:p>
        </p:txBody>
      </p:sp>
      <p:sp>
        <p:nvSpPr>
          <p:cNvPr id="24" name="Text 18"/>
          <p:cNvSpPr txBox="1"/>
          <p:nvPr/>
        </p:nvSpPr>
        <p:spPr>
          <a:xfrm>
            <a:off x="6217920" y="1371600"/>
            <a:ext cx="2194560" cy="228600"/>
          </a:xfrm>
          <a:prstGeom prst="rect">
            <a:avLst/>
          </a:prstGeom>
          <a:noFill/>
          <a:ln/>
        </p:spPr>
        <p:txBody>
          <a:bodyPr wrap="square" lIns="0" tIns="0" rIns="0" bIns="0" rtlCol="0" anchor="t"/>
          <a:lstStyle/>
          <a:p>
            <a:pPr marL="0" indent="0">
              <a:buNone/>
            </a:pPr>
            <a:r>
              <a:rPr lang="en-US" sz="1200" b="1" kern="0" spc="200" dirty="0">
                <a:solidFill>
                  <a:srgbClr val="1FBF75"/>
                </a:solidFill>
                <a:latin typeface="Arial" pitchFamily="34" charset="0"/>
                <a:ea typeface="Arial" pitchFamily="34" charset="-122"/>
                <a:cs typeface="Arial" pitchFamily="34" charset="-120"/>
              </a:rPr>
              <a:t>DESIGN TARGETS</a:t>
            </a:r>
            <a:endParaRPr lang="en-US" sz="1200" dirty="0"/>
          </a:p>
        </p:txBody>
      </p:sp>
      <p:sp>
        <p:nvSpPr>
          <p:cNvPr id="25" name="Text 19"/>
          <p:cNvSpPr txBox="1"/>
          <p:nvPr/>
        </p:nvSpPr>
        <p:spPr>
          <a:xfrm>
            <a:off x="6217920" y="1737360"/>
            <a:ext cx="2194560" cy="54864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 95%</a:t>
            </a:r>
            <a:endParaRPr lang="en-US" sz="3800" dirty="0"/>
          </a:p>
        </p:txBody>
      </p:sp>
      <p:sp>
        <p:nvSpPr>
          <p:cNvPr id="26" name="Text 20"/>
          <p:cNvSpPr txBox="1"/>
          <p:nvPr/>
        </p:nvSpPr>
        <p:spPr>
          <a:xfrm>
            <a:off x="6217920" y="2286000"/>
            <a:ext cx="2194560" cy="274320"/>
          </a:xfrm>
          <a:prstGeom prst="rect">
            <a:avLst/>
          </a:prstGeom>
          <a:noFill/>
          <a:ln/>
        </p:spPr>
        <p:txBody>
          <a:bodyPr wrap="square" lIns="0" tIns="0" rIns="0" bIns="0" rtlCol="0" anchor="t"/>
          <a:lstStyle/>
          <a:p>
            <a:pPr marL="0" indent="0">
              <a:buNone/>
            </a:pPr>
            <a:r>
              <a:rPr lang="en-US" sz="1400" dirty="0">
                <a:solidFill>
                  <a:srgbClr val="E1DDD9"/>
                </a:solidFill>
                <a:latin typeface="Arial" pitchFamily="34" charset="0"/>
                <a:ea typeface="Arial" pitchFamily="34" charset="-122"/>
                <a:cs typeface="Arial" pitchFamily="34" charset="-120"/>
              </a:rPr>
              <a:t>slot-level accuracy</a:t>
            </a:r>
            <a:endParaRPr lang="en-US" sz="1400" dirty="0"/>
          </a:p>
        </p:txBody>
      </p:sp>
      <p:sp>
        <p:nvSpPr>
          <p:cNvPr id="27" name="Text 21"/>
          <p:cNvSpPr txBox="1"/>
          <p:nvPr/>
        </p:nvSpPr>
        <p:spPr>
          <a:xfrm>
            <a:off x="6217920" y="2651760"/>
            <a:ext cx="2194560" cy="54864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&lt; 2 s</a:t>
            </a:r>
            <a:endParaRPr lang="en-US" sz="3800" dirty="0"/>
          </a:p>
        </p:txBody>
      </p:sp>
      <p:sp>
        <p:nvSpPr>
          <p:cNvPr id="28" name="Text 22"/>
          <p:cNvSpPr txBox="1"/>
          <p:nvPr/>
        </p:nvSpPr>
        <p:spPr>
          <a:xfrm>
            <a:off x="6217920" y="3200400"/>
            <a:ext cx="2194560" cy="274320"/>
          </a:xfrm>
          <a:prstGeom prst="rect">
            <a:avLst/>
          </a:prstGeom>
          <a:noFill/>
          <a:ln/>
        </p:spPr>
        <p:txBody>
          <a:bodyPr wrap="square" lIns="0" tIns="0" rIns="0" bIns="0" rtlCol="0" anchor="t"/>
          <a:lstStyle/>
          <a:p>
            <a:pPr marL="0" indent="0">
              <a:buNone/>
            </a:pPr>
            <a:r>
              <a:rPr lang="en-US" sz="1400" dirty="0">
                <a:solidFill>
                  <a:srgbClr val="E1DDD9"/>
                </a:solidFill>
                <a:latin typeface="Arial" pitchFamily="34" charset="0"/>
                <a:ea typeface="Arial" pitchFamily="34" charset="-122"/>
                <a:cs typeface="Arial" pitchFamily="34" charset="-120"/>
              </a:rPr>
              <a:t>status update latency</a:t>
            </a:r>
            <a:endParaRPr lang="en-US" sz="1400" dirty="0"/>
          </a:p>
        </p:txBody>
      </p:sp>
      <p:sp>
        <p:nvSpPr>
          <p:cNvPr id="29" name="Text 23"/>
          <p:cNvSpPr txBox="1"/>
          <p:nvPr/>
        </p:nvSpPr>
        <p:spPr>
          <a:xfrm>
            <a:off x="6217920" y="3566160"/>
            <a:ext cx="2194560" cy="54864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0</a:t>
            </a:r>
            <a:endParaRPr lang="en-US" sz="3800" dirty="0"/>
          </a:p>
        </p:txBody>
      </p:sp>
      <p:sp>
        <p:nvSpPr>
          <p:cNvPr id="30" name="Text 24"/>
          <p:cNvSpPr txBox="1"/>
          <p:nvPr/>
        </p:nvSpPr>
        <p:spPr>
          <a:xfrm>
            <a:off x="6217920" y="4114800"/>
            <a:ext cx="2194560" cy="274320"/>
          </a:xfrm>
          <a:prstGeom prst="rect">
            <a:avLst/>
          </a:prstGeom>
          <a:noFill/>
          <a:ln/>
        </p:spPr>
        <p:txBody>
          <a:bodyPr wrap="square" lIns="0" tIns="0" rIns="0" bIns="0" rtlCol="0" anchor="t"/>
          <a:lstStyle/>
          <a:p>
            <a:pPr marL="0" indent="0">
              <a:buNone/>
            </a:pPr>
            <a:r>
              <a:rPr lang="en-US" sz="1400" dirty="0">
                <a:solidFill>
                  <a:srgbClr val="E1DDD9"/>
                </a:solidFill>
                <a:latin typeface="Arial" pitchFamily="34" charset="0"/>
                <a:ea typeface="Arial" pitchFamily="34" charset="-122"/>
                <a:cs typeface="Arial" pitchFamily="34" charset="-120"/>
              </a:rPr>
              <a:t>new per-bay sensors</a:t>
            </a:r>
            <a:endParaRPr lang="en-US" sz="1400" dirty="0"/>
          </a:p>
        </p:txBody>
      </p:sp>
      <p:sp>
        <p:nvSpPr>
          <p:cNvPr id="31" name="Text 25"/>
          <p:cNvSpPr txBox="1"/>
          <p:nvPr/>
        </p:nvSpPr>
        <p:spPr>
          <a:xfrm>
            <a:off x="457200" y="4846320"/>
            <a:ext cx="5486400" cy="201168"/>
          </a:xfrm>
          <a:prstGeom prst="rect">
            <a:avLst/>
          </a:prstGeom>
          <a:noFill/>
          <a:ln/>
        </p:spPr>
        <p:txBody>
          <a:bodyPr wrap="square" lIns="0" tIns="0" rIns="0" bIns="0" rtlCol="0" anchor="t"/>
          <a:lstStyle/>
          <a:p>
            <a:r>
              <a:rPr lang="en-US" sz="1000" dirty="0" err="1">
                <a:solidFill>
                  <a:srgbClr val="79736E"/>
                </a:solidFill>
                <a:latin typeface="Arial" pitchFamily="34" charset="0"/>
                <a:ea typeface="Arial" pitchFamily="34" charset="-122"/>
                <a:cs typeface="Arial" pitchFamily="34" charset="-120"/>
              </a:rPr>
              <a:t>ParkSense</a:t>
            </a:r>
            <a:r>
              <a:rPr lang="en-US" sz="1000" dirty="0">
                <a:solidFill>
                  <a:srgbClr val="79736E"/>
                </a:solidFill>
                <a:latin typeface="Arial" pitchFamily="34" charset="0"/>
                <a:ea typeface="Arial" pitchFamily="34" charset="-122"/>
                <a:cs typeface="Arial" pitchFamily="34" charset="-120"/>
              </a:rPr>
              <a:t>   ·  Final Review</a:t>
            </a:r>
            <a:endParaRPr lang="en-US" sz="1000" dirty="0"/>
          </a:p>
        </p:txBody>
      </p:sp>
      <p:sp>
        <p:nvSpPr>
          <p:cNvPr id="32" name="Text 26"/>
          <p:cNvSpPr txBox="1"/>
          <p:nvPr/>
        </p:nvSpPr>
        <p:spPr>
          <a:xfrm>
            <a:off x="8229600" y="4846320"/>
            <a:ext cx="457200" cy="201168"/>
          </a:xfrm>
          <a:prstGeom prst="rect">
            <a:avLst/>
          </a:prstGeom>
          <a:noFill/>
          <a:ln/>
        </p:spPr>
        <p:txBody>
          <a:bodyPr wrap="square" lIns="0" tIns="0" rIns="0" bIns="0" rtlCol="0" anchor="t"/>
          <a:lstStyle/>
          <a:p>
            <a:pPr marL="0" indent="0" algn="r">
              <a:buNone/>
            </a:pPr>
            <a:r>
              <a:rPr lang="en-US" sz="1000" dirty="0">
                <a:solidFill>
                  <a:srgbClr val="79736E"/>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8F7"/>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ctr"/>
          <a:lstStyle/>
          <a:p>
            <a:pPr marL="0" indent="0">
              <a:buNone/>
            </a:pPr>
            <a:r>
              <a:rPr lang="en-US" sz="3400" b="1" dirty="0">
                <a:solidFill>
                  <a:srgbClr val="36312D"/>
                </a:solidFill>
                <a:latin typeface="Cambria" pitchFamily="34" charset="0"/>
                <a:ea typeface="Cambria" pitchFamily="34" charset="-122"/>
                <a:cs typeface="Cambria" pitchFamily="34" charset="-120"/>
              </a:rPr>
              <a:t>System pipeline</a:t>
            </a:r>
            <a:endParaRPr lang="en-US" sz="3400" dirty="0"/>
          </a:p>
        </p:txBody>
      </p:sp>
      <p:sp>
        <p:nvSpPr>
          <p:cNvPr id="3" name="Shape 1"/>
          <p:cNvSpPr/>
          <p:nvPr/>
        </p:nvSpPr>
        <p:spPr>
          <a:xfrm>
            <a:off x="457200" y="1188720"/>
            <a:ext cx="1828800" cy="1463040"/>
          </a:xfrm>
          <a:prstGeom prst="roundRect">
            <a:avLst>
              <a:gd name="adj" fmla="val 5000"/>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4" name="Shape 2"/>
          <p:cNvSpPr/>
          <p:nvPr/>
        </p:nvSpPr>
        <p:spPr>
          <a:xfrm>
            <a:off x="594360" y="1316736"/>
            <a:ext cx="420624" cy="420624"/>
          </a:xfrm>
          <a:prstGeom prst="ellipse">
            <a:avLst/>
          </a:prstGeom>
          <a:solidFill>
            <a:srgbClr val="3A332E"/>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699516" y="1421892"/>
            <a:ext cx="210312" cy="210312"/>
          </a:xfrm>
          <a:prstGeom prst="rect">
            <a:avLst/>
          </a:prstGeom>
        </p:spPr>
      </p:pic>
      <p:sp>
        <p:nvSpPr>
          <p:cNvPr id="6" name="Text 3"/>
          <p:cNvSpPr txBox="1"/>
          <p:nvPr/>
        </p:nvSpPr>
        <p:spPr>
          <a:xfrm>
            <a:off x="1645920" y="1335024"/>
            <a:ext cx="502920" cy="274320"/>
          </a:xfrm>
          <a:prstGeom prst="rect">
            <a:avLst/>
          </a:prstGeom>
          <a:noFill/>
          <a:ln/>
        </p:spPr>
        <p:txBody>
          <a:bodyPr wrap="square" lIns="0" tIns="0" rIns="0" bIns="0" rtlCol="0" anchor="t"/>
          <a:lstStyle/>
          <a:p>
            <a:pPr marL="0" indent="0" algn="r">
              <a:buNone/>
            </a:pPr>
            <a:r>
              <a:rPr lang="en-US" sz="1140" b="1" dirty="0">
                <a:solidFill>
                  <a:srgbClr val="EAE7E4"/>
                </a:solidFill>
                <a:latin typeface="Arial" pitchFamily="34" charset="0"/>
                <a:ea typeface="Arial" pitchFamily="34" charset="-122"/>
                <a:cs typeface="Arial" pitchFamily="34" charset="-120"/>
              </a:rPr>
              <a:t>01</a:t>
            </a:r>
            <a:endParaRPr lang="en-US" sz="1300" dirty="0"/>
          </a:p>
        </p:txBody>
      </p:sp>
      <p:sp>
        <p:nvSpPr>
          <p:cNvPr id="7" name="Text 4"/>
          <p:cNvSpPr txBox="1"/>
          <p:nvPr/>
        </p:nvSpPr>
        <p:spPr>
          <a:xfrm>
            <a:off x="594360" y="1847088"/>
            <a:ext cx="1600200" cy="274320"/>
          </a:xfrm>
          <a:prstGeom prst="rect">
            <a:avLst/>
          </a:prstGeom>
          <a:noFill/>
          <a:ln/>
        </p:spPr>
        <p:txBody>
          <a:bodyPr wrap="square" lIns="0" tIns="0" rIns="0" bIns="0" rtlCol="0" anchor="t"/>
          <a:lstStyle/>
          <a:p>
            <a:pPr marL="0" indent="0">
              <a:buNone/>
            </a:pPr>
            <a:r>
              <a:rPr lang="en-US" sz="1230" b="1" dirty="0">
                <a:solidFill>
                  <a:srgbClr val="36312D"/>
                </a:solidFill>
                <a:latin typeface="Arial" pitchFamily="34" charset="0"/>
                <a:ea typeface="Arial" pitchFamily="34" charset="-122"/>
                <a:cs typeface="Arial" pitchFamily="34" charset="-120"/>
              </a:rPr>
              <a:t>Camera</a:t>
            </a:r>
            <a:endParaRPr lang="en-US" sz="1400" dirty="0"/>
          </a:p>
        </p:txBody>
      </p:sp>
      <p:sp>
        <p:nvSpPr>
          <p:cNvPr id="8" name="Text 5"/>
          <p:cNvSpPr txBox="1"/>
          <p:nvPr/>
        </p:nvSpPr>
        <p:spPr>
          <a:xfrm>
            <a:off x="594360" y="2148840"/>
            <a:ext cx="1600200" cy="457200"/>
          </a:xfrm>
          <a:prstGeom prst="rect">
            <a:avLst/>
          </a:prstGeom>
          <a:noFill/>
          <a:ln/>
        </p:spPr>
        <p:txBody>
          <a:bodyPr wrap="square" lIns="0" tIns="0" rIns="0" bIns="0" rtlCol="0" anchor="t"/>
          <a:lstStyle/>
          <a:p>
            <a:pPr marL="0" indent="0">
              <a:buNone/>
            </a:pPr>
            <a:r>
              <a:rPr lang="en-US" sz="1050" dirty="0">
                <a:solidFill>
                  <a:srgbClr val="79736E"/>
                </a:solidFill>
                <a:latin typeface="Arial" pitchFamily="34" charset="0"/>
                <a:ea typeface="Arial" pitchFamily="34" charset="-122"/>
                <a:cs typeface="Arial" pitchFamily="34" charset="-120"/>
              </a:rPr>
              <a:t>IP, CCTV or webcam</a:t>
            </a:r>
            <a:endParaRPr lang="en-US" sz="1200" dirty="0"/>
          </a:p>
        </p:txBody>
      </p:sp>
      <p:sp>
        <p:nvSpPr>
          <p:cNvPr id="9" name="Shape 6"/>
          <p:cNvSpPr/>
          <p:nvPr/>
        </p:nvSpPr>
        <p:spPr>
          <a:xfrm>
            <a:off x="2590800" y="1188720"/>
            <a:ext cx="1828800" cy="1463040"/>
          </a:xfrm>
          <a:prstGeom prst="roundRect">
            <a:avLst>
              <a:gd name="adj" fmla="val 5000"/>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10" name="Shape 7"/>
          <p:cNvSpPr/>
          <p:nvPr/>
        </p:nvSpPr>
        <p:spPr>
          <a:xfrm>
            <a:off x="2727960" y="1316736"/>
            <a:ext cx="420624" cy="420624"/>
          </a:xfrm>
          <a:prstGeom prst="ellipse">
            <a:avLst/>
          </a:prstGeom>
          <a:solidFill>
            <a:srgbClr val="3A332E"/>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2833116" y="1421892"/>
            <a:ext cx="210312" cy="210312"/>
          </a:xfrm>
          <a:prstGeom prst="rect">
            <a:avLst/>
          </a:prstGeom>
        </p:spPr>
      </p:pic>
      <p:sp>
        <p:nvSpPr>
          <p:cNvPr id="12" name="Text 8"/>
          <p:cNvSpPr txBox="1"/>
          <p:nvPr/>
        </p:nvSpPr>
        <p:spPr>
          <a:xfrm>
            <a:off x="3779520" y="1335024"/>
            <a:ext cx="502920" cy="274320"/>
          </a:xfrm>
          <a:prstGeom prst="rect">
            <a:avLst/>
          </a:prstGeom>
          <a:noFill/>
          <a:ln/>
        </p:spPr>
        <p:txBody>
          <a:bodyPr wrap="square" lIns="0" tIns="0" rIns="0" bIns="0" rtlCol="0" anchor="t"/>
          <a:lstStyle/>
          <a:p>
            <a:pPr marL="0" indent="0" algn="r">
              <a:buNone/>
            </a:pPr>
            <a:r>
              <a:rPr lang="en-US" sz="1140" b="1" dirty="0">
                <a:solidFill>
                  <a:srgbClr val="EAE7E4"/>
                </a:solidFill>
                <a:latin typeface="Arial" pitchFamily="34" charset="0"/>
                <a:ea typeface="Arial" pitchFamily="34" charset="-122"/>
                <a:cs typeface="Arial" pitchFamily="34" charset="-120"/>
              </a:rPr>
              <a:t>02</a:t>
            </a:r>
            <a:endParaRPr lang="en-US" sz="1300" dirty="0"/>
          </a:p>
        </p:txBody>
      </p:sp>
      <p:sp>
        <p:nvSpPr>
          <p:cNvPr id="13" name="Text 9"/>
          <p:cNvSpPr txBox="1"/>
          <p:nvPr/>
        </p:nvSpPr>
        <p:spPr>
          <a:xfrm>
            <a:off x="2727960" y="1847088"/>
            <a:ext cx="1600200" cy="274320"/>
          </a:xfrm>
          <a:prstGeom prst="rect">
            <a:avLst/>
          </a:prstGeom>
          <a:noFill/>
          <a:ln/>
        </p:spPr>
        <p:txBody>
          <a:bodyPr wrap="square" lIns="0" tIns="0" rIns="0" bIns="0" rtlCol="0" anchor="t"/>
          <a:lstStyle/>
          <a:p>
            <a:pPr marL="0" indent="0">
              <a:buNone/>
            </a:pPr>
            <a:r>
              <a:rPr lang="en-US" sz="1230" b="1" dirty="0">
                <a:solidFill>
                  <a:srgbClr val="36312D"/>
                </a:solidFill>
                <a:latin typeface="Arial" pitchFamily="34" charset="0"/>
                <a:ea typeface="Arial" pitchFamily="34" charset="-122"/>
                <a:cs typeface="Arial" pitchFamily="34" charset="-120"/>
              </a:rPr>
              <a:t>Video stream</a:t>
            </a:r>
            <a:endParaRPr lang="en-US" sz="1400" dirty="0"/>
          </a:p>
        </p:txBody>
      </p:sp>
      <p:sp>
        <p:nvSpPr>
          <p:cNvPr id="14" name="Text 10"/>
          <p:cNvSpPr txBox="1"/>
          <p:nvPr/>
        </p:nvSpPr>
        <p:spPr>
          <a:xfrm>
            <a:off x="2727960" y="2148840"/>
            <a:ext cx="1600200" cy="457200"/>
          </a:xfrm>
          <a:prstGeom prst="rect">
            <a:avLst/>
          </a:prstGeom>
          <a:noFill/>
          <a:ln/>
        </p:spPr>
        <p:txBody>
          <a:bodyPr wrap="square" lIns="0" tIns="0" rIns="0" bIns="0" rtlCol="0" anchor="t"/>
          <a:lstStyle/>
          <a:p>
            <a:pPr marL="0" indent="0">
              <a:buNone/>
            </a:pPr>
            <a:r>
              <a:rPr lang="en-US" sz="1050" dirty="0">
                <a:solidFill>
                  <a:srgbClr val="79736E"/>
                </a:solidFill>
                <a:latin typeface="Arial" pitchFamily="34" charset="0"/>
                <a:ea typeface="Arial" pitchFamily="34" charset="-122"/>
                <a:cs typeface="Arial" pitchFamily="34" charset="-120"/>
              </a:rPr>
              <a:t>RTSP or file, 2-5 frames/sec</a:t>
            </a:r>
            <a:endParaRPr lang="en-US" sz="1200" dirty="0"/>
          </a:p>
        </p:txBody>
      </p:sp>
      <p:sp>
        <p:nvSpPr>
          <p:cNvPr id="15" name="Shape 11"/>
          <p:cNvSpPr/>
          <p:nvPr/>
        </p:nvSpPr>
        <p:spPr>
          <a:xfrm>
            <a:off x="4724400" y="1188720"/>
            <a:ext cx="1828800" cy="1463040"/>
          </a:xfrm>
          <a:prstGeom prst="roundRect">
            <a:avLst>
              <a:gd name="adj" fmla="val 5000"/>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16" name="Shape 12"/>
          <p:cNvSpPr/>
          <p:nvPr/>
        </p:nvSpPr>
        <p:spPr>
          <a:xfrm>
            <a:off x="4861560" y="1316736"/>
            <a:ext cx="420624" cy="420624"/>
          </a:xfrm>
          <a:prstGeom prst="ellipse">
            <a:avLst/>
          </a:prstGeom>
          <a:solidFill>
            <a:srgbClr val="3A332E"/>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4966716" y="1421892"/>
            <a:ext cx="210312" cy="210312"/>
          </a:xfrm>
          <a:prstGeom prst="rect">
            <a:avLst/>
          </a:prstGeom>
        </p:spPr>
      </p:pic>
      <p:sp>
        <p:nvSpPr>
          <p:cNvPr id="18" name="Text 13"/>
          <p:cNvSpPr txBox="1"/>
          <p:nvPr/>
        </p:nvSpPr>
        <p:spPr>
          <a:xfrm>
            <a:off x="5913120" y="1335024"/>
            <a:ext cx="502920" cy="274320"/>
          </a:xfrm>
          <a:prstGeom prst="rect">
            <a:avLst/>
          </a:prstGeom>
          <a:noFill/>
          <a:ln/>
        </p:spPr>
        <p:txBody>
          <a:bodyPr wrap="square" lIns="0" tIns="0" rIns="0" bIns="0" rtlCol="0" anchor="t"/>
          <a:lstStyle/>
          <a:p>
            <a:pPr marL="0" indent="0" algn="r">
              <a:buNone/>
            </a:pPr>
            <a:r>
              <a:rPr lang="en-US" sz="1140" b="1" dirty="0">
                <a:solidFill>
                  <a:srgbClr val="EAE7E4"/>
                </a:solidFill>
                <a:latin typeface="Arial" pitchFamily="34" charset="0"/>
                <a:ea typeface="Arial" pitchFamily="34" charset="-122"/>
                <a:cs typeface="Arial" pitchFamily="34" charset="-120"/>
              </a:rPr>
              <a:t>03</a:t>
            </a:r>
            <a:endParaRPr lang="en-US" sz="1300" dirty="0"/>
          </a:p>
        </p:txBody>
      </p:sp>
      <p:sp>
        <p:nvSpPr>
          <p:cNvPr id="19" name="Text 14"/>
          <p:cNvSpPr txBox="1"/>
          <p:nvPr/>
        </p:nvSpPr>
        <p:spPr>
          <a:xfrm>
            <a:off x="4861560" y="1847088"/>
            <a:ext cx="1600200" cy="274320"/>
          </a:xfrm>
          <a:prstGeom prst="rect">
            <a:avLst/>
          </a:prstGeom>
          <a:noFill/>
          <a:ln/>
        </p:spPr>
        <p:txBody>
          <a:bodyPr wrap="square" lIns="0" tIns="0" rIns="0" bIns="0" rtlCol="0" anchor="t"/>
          <a:lstStyle/>
          <a:p>
            <a:pPr marL="0" indent="0">
              <a:buNone/>
            </a:pPr>
            <a:r>
              <a:rPr lang="en-US" sz="1230" b="1" dirty="0">
                <a:solidFill>
                  <a:srgbClr val="36312D"/>
                </a:solidFill>
                <a:latin typeface="Arial" pitchFamily="34" charset="0"/>
                <a:ea typeface="Arial" pitchFamily="34" charset="-122"/>
                <a:cs typeface="Arial" pitchFamily="34" charset="-120"/>
              </a:rPr>
              <a:t>Computer vision</a:t>
            </a:r>
            <a:endParaRPr lang="en-US" sz="1400" dirty="0"/>
          </a:p>
        </p:txBody>
      </p:sp>
      <p:sp>
        <p:nvSpPr>
          <p:cNvPr id="20" name="Text 15"/>
          <p:cNvSpPr txBox="1"/>
          <p:nvPr/>
        </p:nvSpPr>
        <p:spPr>
          <a:xfrm>
            <a:off x="4861560" y="2148840"/>
            <a:ext cx="1600200" cy="457200"/>
          </a:xfrm>
          <a:prstGeom prst="rect">
            <a:avLst/>
          </a:prstGeom>
          <a:noFill/>
          <a:ln/>
        </p:spPr>
        <p:txBody>
          <a:bodyPr wrap="square" lIns="0" tIns="0" rIns="0" bIns="0" rtlCol="0" anchor="t"/>
          <a:lstStyle/>
          <a:p>
            <a:pPr marL="0" indent="0">
              <a:buNone/>
            </a:pPr>
            <a:r>
              <a:rPr lang="en-US" sz="1050" dirty="0">
                <a:solidFill>
                  <a:srgbClr val="79736E"/>
                </a:solidFill>
                <a:latin typeface="Arial" pitchFamily="34" charset="0"/>
                <a:ea typeface="Arial" pitchFamily="34" charset="-122"/>
                <a:cs typeface="Arial" pitchFamily="34" charset="-120"/>
              </a:rPr>
              <a:t>YOLO + OpenCV find vehicles</a:t>
            </a:r>
            <a:endParaRPr lang="en-US" sz="1200" dirty="0"/>
          </a:p>
        </p:txBody>
      </p:sp>
      <p:sp>
        <p:nvSpPr>
          <p:cNvPr id="21" name="Shape 16"/>
          <p:cNvSpPr/>
          <p:nvPr/>
        </p:nvSpPr>
        <p:spPr>
          <a:xfrm>
            <a:off x="6858000" y="1188720"/>
            <a:ext cx="1828800" cy="1463040"/>
          </a:xfrm>
          <a:prstGeom prst="roundRect">
            <a:avLst>
              <a:gd name="adj" fmla="val 5000"/>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22" name="Shape 17"/>
          <p:cNvSpPr/>
          <p:nvPr/>
        </p:nvSpPr>
        <p:spPr>
          <a:xfrm>
            <a:off x="6995160" y="1316736"/>
            <a:ext cx="420624" cy="420624"/>
          </a:xfrm>
          <a:prstGeom prst="ellipse">
            <a:avLst/>
          </a:prstGeom>
          <a:solidFill>
            <a:srgbClr val="3A332E"/>
          </a:solidFill>
          <a:ln/>
        </p:spPr>
        <p:txBody>
          <a:bodyPr/>
          <a:lstStyle/>
          <a:p>
            <a:endParaRPr lang="en-IN"/>
          </a:p>
        </p:txBody>
      </p:sp>
      <p:pic>
        <p:nvPicPr>
          <p:cNvPr id="23" name="Image 3" descr="preencoded.png"/>
          <p:cNvPicPr>
            <a:picLocks noChangeAspect="1"/>
          </p:cNvPicPr>
          <p:nvPr/>
        </p:nvPicPr>
        <p:blipFill>
          <a:blip r:embed="rId6"/>
          <a:stretch>
            <a:fillRect/>
          </a:stretch>
        </p:blipFill>
        <p:spPr>
          <a:xfrm>
            <a:off x="7100316" y="1421892"/>
            <a:ext cx="210312" cy="210312"/>
          </a:xfrm>
          <a:prstGeom prst="rect">
            <a:avLst/>
          </a:prstGeom>
        </p:spPr>
      </p:pic>
      <p:sp>
        <p:nvSpPr>
          <p:cNvPr id="24" name="Text 18"/>
          <p:cNvSpPr txBox="1"/>
          <p:nvPr/>
        </p:nvSpPr>
        <p:spPr>
          <a:xfrm>
            <a:off x="8046720" y="1335024"/>
            <a:ext cx="502920" cy="274320"/>
          </a:xfrm>
          <a:prstGeom prst="rect">
            <a:avLst/>
          </a:prstGeom>
          <a:noFill/>
          <a:ln/>
        </p:spPr>
        <p:txBody>
          <a:bodyPr wrap="square" lIns="0" tIns="0" rIns="0" bIns="0" rtlCol="0" anchor="t"/>
          <a:lstStyle/>
          <a:p>
            <a:pPr marL="0" indent="0" algn="r">
              <a:buNone/>
            </a:pPr>
            <a:r>
              <a:rPr lang="en-US" sz="1140" b="1" dirty="0">
                <a:solidFill>
                  <a:srgbClr val="EAE7E4"/>
                </a:solidFill>
                <a:latin typeface="Arial" pitchFamily="34" charset="0"/>
                <a:ea typeface="Arial" pitchFamily="34" charset="-122"/>
                <a:cs typeface="Arial" pitchFamily="34" charset="-120"/>
              </a:rPr>
              <a:t>04</a:t>
            </a:r>
            <a:endParaRPr lang="en-US" sz="1300" dirty="0"/>
          </a:p>
        </p:txBody>
      </p:sp>
      <p:sp>
        <p:nvSpPr>
          <p:cNvPr id="25" name="Text 19"/>
          <p:cNvSpPr txBox="1"/>
          <p:nvPr/>
        </p:nvSpPr>
        <p:spPr>
          <a:xfrm>
            <a:off x="6995160" y="1847088"/>
            <a:ext cx="1600200" cy="274320"/>
          </a:xfrm>
          <a:prstGeom prst="rect">
            <a:avLst/>
          </a:prstGeom>
          <a:noFill/>
          <a:ln/>
        </p:spPr>
        <p:txBody>
          <a:bodyPr wrap="square" lIns="0" tIns="0" rIns="0" bIns="0" rtlCol="0" anchor="t"/>
          <a:lstStyle/>
          <a:p>
            <a:pPr marL="0" indent="0">
              <a:buNone/>
            </a:pPr>
            <a:r>
              <a:rPr lang="en-US" sz="1230" b="1" dirty="0">
                <a:solidFill>
                  <a:srgbClr val="36312D"/>
                </a:solidFill>
                <a:latin typeface="Arial" pitchFamily="34" charset="0"/>
                <a:ea typeface="Arial" pitchFamily="34" charset="-122"/>
                <a:cs typeface="Arial" pitchFamily="34" charset="-120"/>
              </a:rPr>
              <a:t>Slot identification</a:t>
            </a:r>
            <a:endParaRPr lang="en-US" sz="1400" dirty="0"/>
          </a:p>
        </p:txBody>
      </p:sp>
      <p:sp>
        <p:nvSpPr>
          <p:cNvPr id="26" name="Text 20"/>
          <p:cNvSpPr txBox="1"/>
          <p:nvPr/>
        </p:nvSpPr>
        <p:spPr>
          <a:xfrm>
            <a:off x="6995160" y="2148840"/>
            <a:ext cx="1600200" cy="457200"/>
          </a:xfrm>
          <a:prstGeom prst="rect">
            <a:avLst/>
          </a:prstGeom>
          <a:noFill/>
          <a:ln/>
        </p:spPr>
        <p:txBody>
          <a:bodyPr wrap="square" lIns="0" tIns="0" rIns="0" bIns="0" rtlCol="0" anchor="t"/>
          <a:lstStyle/>
          <a:p>
            <a:pPr marL="0" indent="0">
              <a:buNone/>
            </a:pPr>
            <a:r>
              <a:rPr lang="en-US" sz="1050" dirty="0">
                <a:solidFill>
                  <a:srgbClr val="79736E"/>
                </a:solidFill>
                <a:latin typeface="Arial" pitchFamily="34" charset="0"/>
                <a:ea typeface="Arial" pitchFamily="34" charset="-122"/>
                <a:cs typeface="Arial" pitchFamily="34" charset="-120"/>
              </a:rPr>
              <a:t>Polygon marked on each bay</a:t>
            </a:r>
            <a:endParaRPr lang="en-US" sz="1200" dirty="0"/>
          </a:p>
        </p:txBody>
      </p:sp>
      <p:sp>
        <p:nvSpPr>
          <p:cNvPr id="27" name="Shape 21"/>
          <p:cNvSpPr/>
          <p:nvPr/>
        </p:nvSpPr>
        <p:spPr>
          <a:xfrm>
            <a:off x="6858000" y="2971800"/>
            <a:ext cx="1828800" cy="1463040"/>
          </a:xfrm>
          <a:prstGeom prst="roundRect">
            <a:avLst>
              <a:gd name="adj" fmla="val 5000"/>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28" name="Shape 22"/>
          <p:cNvSpPr/>
          <p:nvPr/>
        </p:nvSpPr>
        <p:spPr>
          <a:xfrm>
            <a:off x="6995160" y="3099816"/>
            <a:ext cx="420624" cy="420624"/>
          </a:xfrm>
          <a:prstGeom prst="ellipse">
            <a:avLst/>
          </a:prstGeom>
          <a:solidFill>
            <a:srgbClr val="3A332E"/>
          </a:solidFill>
          <a:ln/>
        </p:spPr>
        <p:txBody>
          <a:bodyPr/>
          <a:lstStyle/>
          <a:p>
            <a:endParaRPr lang="en-IN"/>
          </a:p>
        </p:txBody>
      </p:sp>
      <p:sp>
        <p:nvSpPr>
          <p:cNvPr id="29" name="Shape 23"/>
          <p:cNvSpPr/>
          <p:nvPr/>
        </p:nvSpPr>
        <p:spPr>
          <a:xfrm>
            <a:off x="7077456" y="3218688"/>
            <a:ext cx="118872" cy="118872"/>
          </a:xfrm>
          <a:prstGeom prst="ellipse">
            <a:avLst/>
          </a:prstGeom>
          <a:solidFill>
            <a:srgbClr val="E5484D"/>
          </a:solidFill>
          <a:ln/>
        </p:spPr>
        <p:txBody>
          <a:bodyPr/>
          <a:lstStyle/>
          <a:p>
            <a:endParaRPr lang="en-IN"/>
          </a:p>
        </p:txBody>
      </p:sp>
      <p:sp>
        <p:nvSpPr>
          <p:cNvPr id="30" name="Shape 24"/>
          <p:cNvSpPr/>
          <p:nvPr/>
        </p:nvSpPr>
        <p:spPr>
          <a:xfrm>
            <a:off x="7214616" y="3282696"/>
            <a:ext cx="118872" cy="118872"/>
          </a:xfrm>
          <a:prstGeom prst="ellipse">
            <a:avLst/>
          </a:prstGeom>
          <a:solidFill>
            <a:srgbClr val="1FBF75"/>
          </a:solidFill>
          <a:ln/>
        </p:spPr>
        <p:txBody>
          <a:bodyPr/>
          <a:lstStyle/>
          <a:p>
            <a:endParaRPr lang="en-IN"/>
          </a:p>
        </p:txBody>
      </p:sp>
      <p:sp>
        <p:nvSpPr>
          <p:cNvPr id="31" name="Text 25"/>
          <p:cNvSpPr txBox="1"/>
          <p:nvPr/>
        </p:nvSpPr>
        <p:spPr>
          <a:xfrm>
            <a:off x="8046720" y="3118104"/>
            <a:ext cx="502920" cy="274320"/>
          </a:xfrm>
          <a:prstGeom prst="rect">
            <a:avLst/>
          </a:prstGeom>
          <a:noFill/>
          <a:ln/>
        </p:spPr>
        <p:txBody>
          <a:bodyPr wrap="square" lIns="0" tIns="0" rIns="0" bIns="0" rtlCol="0" anchor="t"/>
          <a:lstStyle/>
          <a:p>
            <a:pPr marL="0" indent="0" algn="r">
              <a:buNone/>
            </a:pPr>
            <a:r>
              <a:rPr lang="en-US" sz="1140" b="1" dirty="0">
                <a:solidFill>
                  <a:srgbClr val="EAE7E4"/>
                </a:solidFill>
                <a:latin typeface="Arial" pitchFamily="34" charset="0"/>
                <a:ea typeface="Arial" pitchFamily="34" charset="-122"/>
                <a:cs typeface="Arial" pitchFamily="34" charset="-120"/>
              </a:rPr>
              <a:t>05</a:t>
            </a:r>
            <a:endParaRPr lang="en-US" sz="1300" dirty="0"/>
          </a:p>
        </p:txBody>
      </p:sp>
      <p:sp>
        <p:nvSpPr>
          <p:cNvPr id="32" name="Text 26"/>
          <p:cNvSpPr txBox="1"/>
          <p:nvPr/>
        </p:nvSpPr>
        <p:spPr>
          <a:xfrm>
            <a:off x="6995160" y="3630168"/>
            <a:ext cx="1600200" cy="274320"/>
          </a:xfrm>
          <a:prstGeom prst="rect">
            <a:avLst/>
          </a:prstGeom>
          <a:noFill/>
          <a:ln/>
        </p:spPr>
        <p:txBody>
          <a:bodyPr wrap="square" lIns="0" tIns="0" rIns="0" bIns="0" rtlCol="0" anchor="t"/>
          <a:lstStyle/>
          <a:p>
            <a:pPr marL="0" indent="0">
              <a:buNone/>
            </a:pPr>
            <a:r>
              <a:rPr lang="en-US" sz="1230" b="1" dirty="0">
                <a:solidFill>
                  <a:srgbClr val="36312D"/>
                </a:solidFill>
                <a:latin typeface="Arial" pitchFamily="34" charset="0"/>
                <a:ea typeface="Arial" pitchFamily="34" charset="-122"/>
                <a:cs typeface="Arial" pitchFamily="34" charset="-120"/>
              </a:rPr>
              <a:t>Occupancy detection</a:t>
            </a:r>
            <a:endParaRPr lang="en-US" sz="1400" dirty="0"/>
          </a:p>
        </p:txBody>
      </p:sp>
      <p:sp>
        <p:nvSpPr>
          <p:cNvPr id="33" name="Text 27"/>
          <p:cNvSpPr txBox="1"/>
          <p:nvPr/>
        </p:nvSpPr>
        <p:spPr>
          <a:xfrm>
            <a:off x="6995160" y="3931920"/>
            <a:ext cx="1600200" cy="457200"/>
          </a:xfrm>
          <a:prstGeom prst="rect">
            <a:avLst/>
          </a:prstGeom>
          <a:noFill/>
          <a:ln/>
        </p:spPr>
        <p:txBody>
          <a:bodyPr wrap="square" lIns="0" tIns="0" rIns="0" bIns="0" rtlCol="0" anchor="t"/>
          <a:lstStyle/>
          <a:p>
            <a:pPr marL="0" indent="0">
              <a:buNone/>
            </a:pPr>
            <a:r>
              <a:rPr lang="en-US" sz="1050" dirty="0">
                <a:solidFill>
                  <a:srgbClr val="79736E"/>
                </a:solidFill>
                <a:latin typeface="Arial" pitchFamily="34" charset="0"/>
                <a:ea typeface="Arial" pitchFamily="34" charset="-122"/>
                <a:cs typeface="Arial" pitchFamily="34" charset="-120"/>
              </a:rPr>
              <a:t>Overlap check: red or green</a:t>
            </a:r>
            <a:endParaRPr lang="en-US" sz="1200" dirty="0"/>
          </a:p>
        </p:txBody>
      </p:sp>
      <p:sp>
        <p:nvSpPr>
          <p:cNvPr id="34" name="Shape 28"/>
          <p:cNvSpPr/>
          <p:nvPr/>
        </p:nvSpPr>
        <p:spPr>
          <a:xfrm>
            <a:off x="4724400" y="2971800"/>
            <a:ext cx="1828800" cy="1463040"/>
          </a:xfrm>
          <a:prstGeom prst="roundRect">
            <a:avLst>
              <a:gd name="adj" fmla="val 5000"/>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35" name="Shape 29"/>
          <p:cNvSpPr/>
          <p:nvPr/>
        </p:nvSpPr>
        <p:spPr>
          <a:xfrm>
            <a:off x="4861560" y="3099816"/>
            <a:ext cx="420624" cy="420624"/>
          </a:xfrm>
          <a:prstGeom prst="ellipse">
            <a:avLst/>
          </a:prstGeom>
          <a:solidFill>
            <a:srgbClr val="3A332E"/>
          </a:solidFill>
          <a:ln/>
        </p:spPr>
        <p:txBody>
          <a:bodyPr/>
          <a:lstStyle/>
          <a:p>
            <a:endParaRPr lang="en-IN"/>
          </a:p>
        </p:txBody>
      </p:sp>
      <p:pic>
        <p:nvPicPr>
          <p:cNvPr id="36" name="Image 4" descr="preencoded.png"/>
          <p:cNvPicPr>
            <a:picLocks noChangeAspect="1"/>
          </p:cNvPicPr>
          <p:nvPr/>
        </p:nvPicPr>
        <p:blipFill>
          <a:blip r:embed="rId7"/>
          <a:stretch>
            <a:fillRect/>
          </a:stretch>
        </p:blipFill>
        <p:spPr>
          <a:xfrm>
            <a:off x="4966716" y="3204972"/>
            <a:ext cx="210312" cy="210312"/>
          </a:xfrm>
          <a:prstGeom prst="rect">
            <a:avLst/>
          </a:prstGeom>
        </p:spPr>
      </p:pic>
      <p:sp>
        <p:nvSpPr>
          <p:cNvPr id="37" name="Text 30"/>
          <p:cNvSpPr txBox="1"/>
          <p:nvPr/>
        </p:nvSpPr>
        <p:spPr>
          <a:xfrm>
            <a:off x="5913120" y="3118104"/>
            <a:ext cx="502920" cy="274320"/>
          </a:xfrm>
          <a:prstGeom prst="rect">
            <a:avLst/>
          </a:prstGeom>
          <a:noFill/>
          <a:ln/>
        </p:spPr>
        <p:txBody>
          <a:bodyPr wrap="square" lIns="0" tIns="0" rIns="0" bIns="0" rtlCol="0" anchor="t"/>
          <a:lstStyle/>
          <a:p>
            <a:pPr marL="0" indent="0" algn="r">
              <a:buNone/>
            </a:pPr>
            <a:r>
              <a:rPr lang="en-US" sz="1140" b="1" dirty="0">
                <a:solidFill>
                  <a:srgbClr val="EAE7E4"/>
                </a:solidFill>
                <a:latin typeface="Arial" pitchFamily="34" charset="0"/>
                <a:ea typeface="Arial" pitchFamily="34" charset="-122"/>
                <a:cs typeface="Arial" pitchFamily="34" charset="-120"/>
              </a:rPr>
              <a:t>06</a:t>
            </a:r>
            <a:endParaRPr lang="en-US" sz="1300" dirty="0"/>
          </a:p>
        </p:txBody>
      </p:sp>
      <p:sp>
        <p:nvSpPr>
          <p:cNvPr id="38" name="Text 31"/>
          <p:cNvSpPr txBox="1"/>
          <p:nvPr/>
        </p:nvSpPr>
        <p:spPr>
          <a:xfrm>
            <a:off x="4861560" y="3630168"/>
            <a:ext cx="1600200" cy="274320"/>
          </a:xfrm>
          <a:prstGeom prst="rect">
            <a:avLst/>
          </a:prstGeom>
          <a:noFill/>
          <a:ln/>
        </p:spPr>
        <p:txBody>
          <a:bodyPr wrap="square" lIns="0" tIns="0" rIns="0" bIns="0" rtlCol="0" anchor="t"/>
          <a:lstStyle/>
          <a:p>
            <a:pPr marL="0" indent="0">
              <a:buNone/>
            </a:pPr>
            <a:r>
              <a:rPr lang="en-US" sz="1230" b="1" dirty="0">
                <a:solidFill>
                  <a:srgbClr val="36312D"/>
                </a:solidFill>
                <a:latin typeface="Arial" pitchFamily="34" charset="0"/>
                <a:ea typeface="Arial" pitchFamily="34" charset="-122"/>
                <a:cs typeface="Arial" pitchFamily="34" charset="-120"/>
              </a:rPr>
              <a:t>Availability count</a:t>
            </a:r>
            <a:endParaRPr lang="en-US" sz="1400" dirty="0"/>
          </a:p>
        </p:txBody>
      </p:sp>
      <p:sp>
        <p:nvSpPr>
          <p:cNvPr id="39" name="Text 32"/>
          <p:cNvSpPr txBox="1"/>
          <p:nvPr/>
        </p:nvSpPr>
        <p:spPr>
          <a:xfrm>
            <a:off x="4861560" y="3931920"/>
            <a:ext cx="1600200" cy="457200"/>
          </a:xfrm>
          <a:prstGeom prst="rect">
            <a:avLst/>
          </a:prstGeom>
          <a:noFill/>
          <a:ln/>
        </p:spPr>
        <p:txBody>
          <a:bodyPr wrap="square" lIns="0" tIns="0" rIns="0" bIns="0" rtlCol="0" anchor="t"/>
          <a:lstStyle/>
          <a:p>
            <a:pPr marL="0" indent="0">
              <a:buNone/>
            </a:pPr>
            <a:r>
              <a:rPr lang="en-US" sz="1050" dirty="0">
                <a:solidFill>
                  <a:srgbClr val="79736E"/>
                </a:solidFill>
                <a:latin typeface="Arial" pitchFamily="34" charset="0"/>
                <a:ea typeface="Arial" pitchFamily="34" charset="-122"/>
                <a:cs typeface="Arial" pitchFamily="34" charset="-120"/>
              </a:rPr>
              <a:t>Free / total per lot</a:t>
            </a:r>
            <a:endParaRPr lang="en-US" sz="1200" dirty="0"/>
          </a:p>
        </p:txBody>
      </p:sp>
      <p:sp>
        <p:nvSpPr>
          <p:cNvPr id="40" name="Shape 33"/>
          <p:cNvSpPr/>
          <p:nvPr/>
        </p:nvSpPr>
        <p:spPr>
          <a:xfrm>
            <a:off x="2590800" y="2971800"/>
            <a:ext cx="1828800" cy="1463040"/>
          </a:xfrm>
          <a:prstGeom prst="roundRect">
            <a:avLst>
              <a:gd name="adj" fmla="val 5000"/>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41" name="Shape 34"/>
          <p:cNvSpPr/>
          <p:nvPr/>
        </p:nvSpPr>
        <p:spPr>
          <a:xfrm>
            <a:off x="2727960" y="3099816"/>
            <a:ext cx="420624" cy="420624"/>
          </a:xfrm>
          <a:prstGeom prst="ellipse">
            <a:avLst/>
          </a:prstGeom>
          <a:solidFill>
            <a:srgbClr val="3A332E"/>
          </a:solidFill>
          <a:ln/>
        </p:spPr>
        <p:txBody>
          <a:bodyPr/>
          <a:lstStyle/>
          <a:p>
            <a:endParaRPr lang="en-IN"/>
          </a:p>
        </p:txBody>
      </p:sp>
      <p:pic>
        <p:nvPicPr>
          <p:cNvPr id="42" name="Image 5" descr="preencoded.png"/>
          <p:cNvPicPr>
            <a:picLocks noChangeAspect="1"/>
          </p:cNvPicPr>
          <p:nvPr/>
        </p:nvPicPr>
        <p:blipFill>
          <a:blip r:embed="rId8"/>
          <a:stretch>
            <a:fillRect/>
          </a:stretch>
        </p:blipFill>
        <p:spPr>
          <a:xfrm>
            <a:off x="2833116" y="3204972"/>
            <a:ext cx="210312" cy="210312"/>
          </a:xfrm>
          <a:prstGeom prst="rect">
            <a:avLst/>
          </a:prstGeom>
        </p:spPr>
      </p:pic>
      <p:sp>
        <p:nvSpPr>
          <p:cNvPr id="43" name="Text 35"/>
          <p:cNvSpPr txBox="1"/>
          <p:nvPr/>
        </p:nvSpPr>
        <p:spPr>
          <a:xfrm>
            <a:off x="3779520" y="3118104"/>
            <a:ext cx="502920" cy="274320"/>
          </a:xfrm>
          <a:prstGeom prst="rect">
            <a:avLst/>
          </a:prstGeom>
          <a:noFill/>
          <a:ln/>
        </p:spPr>
        <p:txBody>
          <a:bodyPr wrap="square" lIns="0" tIns="0" rIns="0" bIns="0" rtlCol="0" anchor="t"/>
          <a:lstStyle/>
          <a:p>
            <a:pPr marL="0" indent="0" algn="r">
              <a:buNone/>
            </a:pPr>
            <a:r>
              <a:rPr lang="en-US" sz="1140" b="1" dirty="0">
                <a:solidFill>
                  <a:srgbClr val="EAE7E4"/>
                </a:solidFill>
                <a:latin typeface="Arial" pitchFamily="34" charset="0"/>
                <a:ea typeface="Arial" pitchFamily="34" charset="-122"/>
                <a:cs typeface="Arial" pitchFamily="34" charset="-120"/>
              </a:rPr>
              <a:t>07</a:t>
            </a:r>
            <a:endParaRPr lang="en-US" sz="1300" dirty="0"/>
          </a:p>
        </p:txBody>
      </p:sp>
      <p:sp>
        <p:nvSpPr>
          <p:cNvPr id="44" name="Text 36"/>
          <p:cNvSpPr txBox="1"/>
          <p:nvPr/>
        </p:nvSpPr>
        <p:spPr>
          <a:xfrm>
            <a:off x="2727960" y="3630168"/>
            <a:ext cx="1600200" cy="274320"/>
          </a:xfrm>
          <a:prstGeom prst="rect">
            <a:avLst/>
          </a:prstGeom>
          <a:noFill/>
          <a:ln/>
        </p:spPr>
        <p:txBody>
          <a:bodyPr wrap="square" lIns="0" tIns="0" rIns="0" bIns="0" rtlCol="0" anchor="t"/>
          <a:lstStyle/>
          <a:p>
            <a:pPr marL="0" indent="0">
              <a:buNone/>
            </a:pPr>
            <a:r>
              <a:rPr lang="en-US" sz="1230" b="1" dirty="0">
                <a:solidFill>
                  <a:srgbClr val="36312D"/>
                </a:solidFill>
                <a:latin typeface="Arial" pitchFamily="34" charset="0"/>
                <a:ea typeface="Arial" pitchFamily="34" charset="-122"/>
                <a:cs typeface="Arial" pitchFamily="34" charset="-120"/>
              </a:rPr>
              <a:t>Web dashboard</a:t>
            </a:r>
            <a:endParaRPr lang="en-US" sz="1400" dirty="0"/>
          </a:p>
        </p:txBody>
      </p:sp>
      <p:sp>
        <p:nvSpPr>
          <p:cNvPr id="45" name="Text 37"/>
          <p:cNvSpPr txBox="1"/>
          <p:nvPr/>
        </p:nvSpPr>
        <p:spPr>
          <a:xfrm>
            <a:off x="2727960" y="3931920"/>
            <a:ext cx="1600200" cy="457200"/>
          </a:xfrm>
          <a:prstGeom prst="rect">
            <a:avLst/>
          </a:prstGeom>
          <a:noFill/>
          <a:ln/>
        </p:spPr>
        <p:txBody>
          <a:bodyPr wrap="square" lIns="0" tIns="0" rIns="0" bIns="0" rtlCol="0" anchor="t"/>
          <a:lstStyle/>
          <a:p>
            <a:pPr marL="0" indent="0">
              <a:buNone/>
            </a:pPr>
            <a:r>
              <a:rPr lang="en-US" sz="1050" dirty="0">
                <a:solidFill>
                  <a:srgbClr val="79736E"/>
                </a:solidFill>
                <a:latin typeface="Arial" pitchFamily="34" charset="0"/>
                <a:ea typeface="Arial" pitchFamily="34" charset="-122"/>
                <a:cs typeface="Arial" pitchFamily="34" charset="-120"/>
              </a:rPr>
              <a:t>Live map, counts, status</a:t>
            </a:r>
            <a:endParaRPr lang="en-US" sz="1200" dirty="0"/>
          </a:p>
        </p:txBody>
      </p:sp>
      <p:sp>
        <p:nvSpPr>
          <p:cNvPr id="46" name="Shape 38"/>
          <p:cNvSpPr/>
          <p:nvPr/>
        </p:nvSpPr>
        <p:spPr>
          <a:xfrm>
            <a:off x="457200" y="2971800"/>
            <a:ext cx="1828800" cy="1463040"/>
          </a:xfrm>
          <a:prstGeom prst="roundRect">
            <a:avLst>
              <a:gd name="adj" fmla="val 5000"/>
            </a:avLst>
          </a:prstGeom>
          <a:solidFill>
            <a:srgbClr val="26211E"/>
          </a:solidFill>
          <a:ln/>
        </p:spPr>
        <p:txBody>
          <a:bodyPr/>
          <a:lstStyle/>
          <a:p>
            <a:endParaRPr lang="en-IN"/>
          </a:p>
        </p:txBody>
      </p:sp>
      <p:sp>
        <p:nvSpPr>
          <p:cNvPr id="47" name="Shape 39"/>
          <p:cNvSpPr/>
          <p:nvPr/>
        </p:nvSpPr>
        <p:spPr>
          <a:xfrm>
            <a:off x="594360" y="3099816"/>
            <a:ext cx="420624" cy="420624"/>
          </a:xfrm>
          <a:prstGeom prst="ellipse">
            <a:avLst/>
          </a:prstGeom>
          <a:solidFill>
            <a:srgbClr val="1FBF75"/>
          </a:solidFill>
          <a:ln/>
        </p:spPr>
        <p:txBody>
          <a:bodyPr/>
          <a:lstStyle/>
          <a:p>
            <a:endParaRPr lang="en-IN"/>
          </a:p>
        </p:txBody>
      </p:sp>
      <p:pic>
        <p:nvPicPr>
          <p:cNvPr id="48" name="Image 6" descr="preencoded.png"/>
          <p:cNvPicPr>
            <a:picLocks noChangeAspect="1"/>
          </p:cNvPicPr>
          <p:nvPr/>
        </p:nvPicPr>
        <p:blipFill>
          <a:blip r:embed="rId9"/>
          <a:stretch>
            <a:fillRect/>
          </a:stretch>
        </p:blipFill>
        <p:spPr>
          <a:xfrm>
            <a:off x="699516" y="3204972"/>
            <a:ext cx="210312" cy="210312"/>
          </a:xfrm>
          <a:prstGeom prst="rect">
            <a:avLst/>
          </a:prstGeom>
        </p:spPr>
      </p:pic>
      <p:sp>
        <p:nvSpPr>
          <p:cNvPr id="49" name="Text 40"/>
          <p:cNvSpPr txBox="1"/>
          <p:nvPr/>
        </p:nvSpPr>
        <p:spPr>
          <a:xfrm>
            <a:off x="1645920" y="3118104"/>
            <a:ext cx="502920" cy="274320"/>
          </a:xfrm>
          <a:prstGeom prst="rect">
            <a:avLst/>
          </a:prstGeom>
          <a:noFill/>
          <a:ln/>
        </p:spPr>
        <p:txBody>
          <a:bodyPr wrap="square" lIns="0" tIns="0" rIns="0" bIns="0" rtlCol="0" anchor="t"/>
          <a:lstStyle/>
          <a:p>
            <a:pPr marL="0" indent="0" algn="r">
              <a:buNone/>
            </a:pPr>
            <a:r>
              <a:rPr lang="en-US" sz="1140" b="1" dirty="0">
                <a:solidFill>
                  <a:srgbClr val="B8B1AB"/>
                </a:solidFill>
                <a:latin typeface="Arial" pitchFamily="34" charset="0"/>
                <a:ea typeface="Arial" pitchFamily="34" charset="-122"/>
                <a:cs typeface="Arial" pitchFamily="34" charset="-120"/>
              </a:rPr>
              <a:t>08</a:t>
            </a:r>
            <a:endParaRPr lang="en-US" sz="1300" dirty="0"/>
          </a:p>
        </p:txBody>
      </p:sp>
      <p:sp>
        <p:nvSpPr>
          <p:cNvPr id="50" name="Text 41"/>
          <p:cNvSpPr txBox="1"/>
          <p:nvPr/>
        </p:nvSpPr>
        <p:spPr>
          <a:xfrm>
            <a:off x="594360" y="3630168"/>
            <a:ext cx="1600200" cy="274320"/>
          </a:xfrm>
          <a:prstGeom prst="rect">
            <a:avLst/>
          </a:prstGeom>
          <a:noFill/>
          <a:ln/>
        </p:spPr>
        <p:txBody>
          <a:bodyPr wrap="square" lIns="0" tIns="0" rIns="0" bIns="0" rtlCol="0" anchor="t"/>
          <a:lstStyle/>
          <a:p>
            <a:pPr marL="0" indent="0">
              <a:buNone/>
            </a:pPr>
            <a:r>
              <a:rPr lang="en-US" sz="1000" b="1" dirty="0">
                <a:solidFill>
                  <a:srgbClr val="FFFFFF"/>
                </a:solidFill>
                <a:latin typeface="Arial" pitchFamily="34" charset="0"/>
                <a:ea typeface="Arial" pitchFamily="34" charset="-122"/>
                <a:cs typeface="Arial" pitchFamily="34" charset="-120"/>
              </a:rPr>
              <a:t>Slot recommendation</a:t>
            </a:r>
            <a:endParaRPr lang="en-US" sz="1400" dirty="0"/>
          </a:p>
        </p:txBody>
      </p:sp>
      <p:sp>
        <p:nvSpPr>
          <p:cNvPr id="51" name="Text 42"/>
          <p:cNvSpPr txBox="1"/>
          <p:nvPr/>
        </p:nvSpPr>
        <p:spPr>
          <a:xfrm>
            <a:off x="594360" y="3931920"/>
            <a:ext cx="1600200" cy="457200"/>
          </a:xfrm>
          <a:prstGeom prst="rect">
            <a:avLst/>
          </a:prstGeom>
          <a:noFill/>
          <a:ln/>
        </p:spPr>
        <p:txBody>
          <a:bodyPr wrap="square" lIns="0" tIns="0" rIns="0" bIns="0" rtlCol="0" anchor="t"/>
          <a:lstStyle/>
          <a:p>
            <a:pPr marL="0" indent="0">
              <a:buNone/>
            </a:pPr>
            <a:r>
              <a:rPr lang="en-US" sz="1050" dirty="0">
                <a:solidFill>
                  <a:srgbClr val="E1DDD9"/>
                </a:solidFill>
                <a:latin typeface="Arial" pitchFamily="34" charset="0"/>
                <a:ea typeface="Arial" pitchFamily="34" charset="-122"/>
                <a:cs typeface="Arial" pitchFamily="34" charset="-120"/>
              </a:rPr>
              <a:t>Nearest free bay + route</a:t>
            </a:r>
            <a:endParaRPr lang="en-US" sz="1200" dirty="0"/>
          </a:p>
        </p:txBody>
      </p:sp>
      <p:sp>
        <p:nvSpPr>
          <p:cNvPr id="52" name="Shape 43"/>
          <p:cNvSpPr/>
          <p:nvPr/>
        </p:nvSpPr>
        <p:spPr>
          <a:xfrm>
            <a:off x="2322576" y="1810512"/>
            <a:ext cx="228600" cy="219456"/>
          </a:xfrm>
          <a:prstGeom prst="rightArrow">
            <a:avLst/>
          </a:prstGeom>
          <a:solidFill>
            <a:srgbClr val="F5A524"/>
          </a:solidFill>
          <a:ln/>
        </p:spPr>
        <p:txBody>
          <a:bodyPr/>
          <a:lstStyle/>
          <a:p>
            <a:endParaRPr lang="en-IN"/>
          </a:p>
        </p:txBody>
      </p:sp>
      <p:sp>
        <p:nvSpPr>
          <p:cNvPr id="53" name="Shape 44"/>
          <p:cNvSpPr/>
          <p:nvPr/>
        </p:nvSpPr>
        <p:spPr>
          <a:xfrm>
            <a:off x="2322576" y="3593592"/>
            <a:ext cx="228600" cy="219456"/>
          </a:xfrm>
          <a:prstGeom prst="leftArrow">
            <a:avLst/>
          </a:prstGeom>
          <a:solidFill>
            <a:srgbClr val="F5A524"/>
          </a:solidFill>
          <a:ln/>
        </p:spPr>
        <p:txBody>
          <a:bodyPr/>
          <a:lstStyle/>
          <a:p>
            <a:endParaRPr lang="en-IN"/>
          </a:p>
        </p:txBody>
      </p:sp>
      <p:sp>
        <p:nvSpPr>
          <p:cNvPr id="54" name="Shape 45"/>
          <p:cNvSpPr/>
          <p:nvPr/>
        </p:nvSpPr>
        <p:spPr>
          <a:xfrm>
            <a:off x="4456176" y="1810512"/>
            <a:ext cx="228600" cy="219456"/>
          </a:xfrm>
          <a:prstGeom prst="rightArrow">
            <a:avLst/>
          </a:prstGeom>
          <a:solidFill>
            <a:srgbClr val="F5A524"/>
          </a:solidFill>
          <a:ln/>
        </p:spPr>
        <p:txBody>
          <a:bodyPr/>
          <a:lstStyle/>
          <a:p>
            <a:endParaRPr lang="en-IN"/>
          </a:p>
        </p:txBody>
      </p:sp>
      <p:sp>
        <p:nvSpPr>
          <p:cNvPr id="55" name="Shape 46"/>
          <p:cNvSpPr/>
          <p:nvPr/>
        </p:nvSpPr>
        <p:spPr>
          <a:xfrm>
            <a:off x="4456176" y="3593592"/>
            <a:ext cx="228600" cy="219456"/>
          </a:xfrm>
          <a:prstGeom prst="leftArrow">
            <a:avLst/>
          </a:prstGeom>
          <a:solidFill>
            <a:srgbClr val="F5A524"/>
          </a:solidFill>
          <a:ln/>
        </p:spPr>
        <p:txBody>
          <a:bodyPr/>
          <a:lstStyle/>
          <a:p>
            <a:endParaRPr lang="en-IN"/>
          </a:p>
        </p:txBody>
      </p:sp>
      <p:sp>
        <p:nvSpPr>
          <p:cNvPr id="56" name="Shape 47"/>
          <p:cNvSpPr/>
          <p:nvPr/>
        </p:nvSpPr>
        <p:spPr>
          <a:xfrm>
            <a:off x="6589776" y="1810512"/>
            <a:ext cx="228600" cy="219456"/>
          </a:xfrm>
          <a:prstGeom prst="rightArrow">
            <a:avLst/>
          </a:prstGeom>
          <a:solidFill>
            <a:srgbClr val="F5A524"/>
          </a:solidFill>
          <a:ln/>
        </p:spPr>
        <p:txBody>
          <a:bodyPr/>
          <a:lstStyle/>
          <a:p>
            <a:endParaRPr lang="en-IN"/>
          </a:p>
        </p:txBody>
      </p:sp>
      <p:sp>
        <p:nvSpPr>
          <p:cNvPr id="57" name="Shape 48"/>
          <p:cNvSpPr/>
          <p:nvPr/>
        </p:nvSpPr>
        <p:spPr>
          <a:xfrm>
            <a:off x="6589776" y="3593592"/>
            <a:ext cx="228600" cy="219456"/>
          </a:xfrm>
          <a:prstGeom prst="leftArrow">
            <a:avLst/>
          </a:prstGeom>
          <a:solidFill>
            <a:srgbClr val="F5A524"/>
          </a:solidFill>
          <a:ln/>
        </p:spPr>
        <p:txBody>
          <a:bodyPr/>
          <a:lstStyle/>
          <a:p>
            <a:endParaRPr lang="en-IN"/>
          </a:p>
        </p:txBody>
      </p:sp>
      <p:sp>
        <p:nvSpPr>
          <p:cNvPr id="58" name="Shape 49"/>
          <p:cNvSpPr/>
          <p:nvPr/>
        </p:nvSpPr>
        <p:spPr>
          <a:xfrm>
            <a:off x="7653528" y="2697480"/>
            <a:ext cx="237744" cy="228600"/>
          </a:xfrm>
          <a:prstGeom prst="downArrow">
            <a:avLst/>
          </a:prstGeom>
          <a:solidFill>
            <a:srgbClr val="F5A524"/>
          </a:solidFill>
          <a:ln/>
        </p:spPr>
        <p:txBody>
          <a:bodyPr/>
          <a:lstStyle/>
          <a:p>
            <a:endParaRPr lang="en-IN"/>
          </a:p>
        </p:txBody>
      </p:sp>
      <p:sp>
        <p:nvSpPr>
          <p:cNvPr id="59" name="Text 50"/>
          <p:cNvSpPr txBox="1"/>
          <p:nvPr/>
        </p:nvSpPr>
        <p:spPr>
          <a:xfrm>
            <a:off x="457200" y="4846320"/>
            <a:ext cx="5486400" cy="201168"/>
          </a:xfrm>
          <a:prstGeom prst="rect">
            <a:avLst/>
          </a:prstGeom>
          <a:noFill/>
          <a:ln/>
        </p:spPr>
        <p:txBody>
          <a:bodyPr wrap="square" lIns="0" tIns="0" rIns="0" bIns="0" rtlCol="0" anchor="t"/>
          <a:lstStyle/>
          <a:p>
            <a:r>
              <a:rPr lang="en-US" sz="1000" dirty="0" err="1">
                <a:solidFill>
                  <a:srgbClr val="79736E"/>
                </a:solidFill>
                <a:latin typeface="Arial" pitchFamily="34" charset="0"/>
                <a:ea typeface="Arial" pitchFamily="34" charset="-122"/>
                <a:cs typeface="Arial" pitchFamily="34" charset="-120"/>
              </a:rPr>
              <a:t>ParkSense</a:t>
            </a:r>
            <a:r>
              <a:rPr lang="en-US" sz="1000" dirty="0">
                <a:solidFill>
                  <a:srgbClr val="79736E"/>
                </a:solidFill>
                <a:latin typeface="Arial" pitchFamily="34" charset="0"/>
                <a:ea typeface="Arial" pitchFamily="34" charset="-122"/>
                <a:cs typeface="Arial" pitchFamily="34" charset="-120"/>
              </a:rPr>
              <a:t>   ·  Final Review</a:t>
            </a:r>
            <a:endParaRPr lang="en-US" sz="1000" dirty="0"/>
          </a:p>
        </p:txBody>
      </p:sp>
      <p:sp>
        <p:nvSpPr>
          <p:cNvPr id="60" name="Text 51"/>
          <p:cNvSpPr txBox="1"/>
          <p:nvPr/>
        </p:nvSpPr>
        <p:spPr>
          <a:xfrm>
            <a:off x="8229600" y="4846320"/>
            <a:ext cx="457200" cy="201168"/>
          </a:xfrm>
          <a:prstGeom prst="rect">
            <a:avLst/>
          </a:prstGeom>
          <a:noFill/>
          <a:ln/>
        </p:spPr>
        <p:txBody>
          <a:bodyPr wrap="square" lIns="0" tIns="0" rIns="0" bIns="0" rtlCol="0" anchor="t"/>
          <a:lstStyle/>
          <a:p>
            <a:pPr marL="0" indent="0" algn="r">
              <a:buNone/>
            </a:pPr>
            <a:r>
              <a:rPr lang="en-US" sz="1000" dirty="0">
                <a:solidFill>
                  <a:srgbClr val="79736E"/>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02823"/>
        </a:solidFill>
        <a:effectLst/>
      </p:bgPr>
    </p:bg>
    <p:spTree>
      <p:nvGrpSpPr>
        <p:cNvPr id="1" name=""/>
        <p:cNvGrpSpPr/>
        <p:nvPr/>
      </p:nvGrpSpPr>
      <p:grpSpPr>
        <a:xfrm>
          <a:off x="0" y="0"/>
          <a:ext cx="0" cy="0"/>
          <a:chOff x="0" y="0"/>
          <a:chExt cx="0" cy="0"/>
        </a:xfrm>
      </p:grpSpPr>
      <p:sp>
        <p:nvSpPr>
          <p:cNvPr id="2" name="Text 0"/>
          <p:cNvSpPr txBox="1"/>
          <p:nvPr/>
        </p:nvSpPr>
        <p:spPr>
          <a:xfrm>
            <a:off x="8229600" y="4846320"/>
            <a:ext cx="457200" cy="201168"/>
          </a:xfrm>
          <a:prstGeom prst="rect">
            <a:avLst/>
          </a:prstGeom>
          <a:noFill/>
          <a:ln/>
        </p:spPr>
        <p:txBody>
          <a:bodyPr wrap="square" lIns="0" tIns="0" rIns="0" bIns="0" rtlCol="0" anchor="t"/>
          <a:lstStyle/>
          <a:p>
            <a:pPr marL="0" indent="0" algn="r">
              <a:buNone/>
            </a:pPr>
            <a:r>
              <a:rPr lang="en-US" sz="880" dirty="0">
                <a:solidFill>
                  <a:srgbClr val="E0D8D2"/>
                </a:solidFill>
                <a:latin typeface="Arial" pitchFamily="34" charset="0"/>
                <a:ea typeface="Arial" pitchFamily="34" charset="-122"/>
                <a:cs typeface="Arial" pitchFamily="34" charset="-120"/>
              </a:rPr>
              <a:t>7</a:t>
            </a:r>
            <a:endParaRPr lang="en-US" sz="1000" dirty="0"/>
          </a:p>
        </p:txBody>
      </p:sp>
      <p:sp>
        <p:nvSpPr>
          <p:cNvPr id="3" name="Text 1"/>
          <p:cNvSpPr txBox="1"/>
          <p:nvPr/>
        </p:nvSpPr>
        <p:spPr>
          <a:xfrm>
            <a:off x="457200" y="219456"/>
            <a:ext cx="8229600" cy="329184"/>
          </a:xfrm>
          <a:prstGeom prst="rect">
            <a:avLst/>
          </a:prstGeom>
          <a:noFill/>
          <a:ln/>
        </p:spPr>
        <p:txBody>
          <a:bodyPr wrap="square" lIns="0" tIns="0" rIns="0" bIns="0" rtlCol="0" anchor="ctr"/>
          <a:lstStyle/>
          <a:p>
            <a:pPr marL="0" indent="0">
              <a:buNone/>
            </a:pPr>
            <a:r>
              <a:rPr lang="en-US" sz="1670" b="1" dirty="0">
                <a:solidFill>
                  <a:srgbClr val="FFFFFF"/>
                </a:solidFill>
                <a:latin typeface="Arial" pitchFamily="34" charset="0"/>
                <a:ea typeface="Arial" pitchFamily="34" charset="-122"/>
                <a:cs typeface="Arial" pitchFamily="34" charset="-120"/>
              </a:rPr>
              <a:t>VISION-BASED SMART PARKING &amp; SAFETY DETECTION SYSTEM</a:t>
            </a:r>
            <a:endParaRPr lang="en-US" sz="1900" dirty="0"/>
          </a:p>
        </p:txBody>
      </p:sp>
      <p:sp>
        <p:nvSpPr>
          <p:cNvPr id="4" name="Text 2"/>
          <p:cNvSpPr txBox="1"/>
          <p:nvPr/>
        </p:nvSpPr>
        <p:spPr>
          <a:xfrm>
            <a:off x="457200" y="566928"/>
            <a:ext cx="6035040" cy="237744"/>
          </a:xfrm>
          <a:prstGeom prst="rect">
            <a:avLst/>
          </a:prstGeom>
          <a:noFill/>
          <a:ln/>
        </p:spPr>
        <p:txBody>
          <a:bodyPr wrap="square" lIns="0" tIns="0" rIns="0" bIns="0" rtlCol="0" anchor="ctr"/>
          <a:lstStyle/>
          <a:p>
            <a:pPr marL="0" indent="0">
              <a:buNone/>
            </a:pPr>
            <a:r>
              <a:rPr lang="en-US" sz="1050" dirty="0">
                <a:solidFill>
                  <a:srgbClr val="F86425"/>
                </a:solidFill>
                <a:latin typeface="Arial" pitchFamily="34" charset="0"/>
                <a:ea typeface="Arial" pitchFamily="34" charset="-122"/>
                <a:cs typeface="Arial" pitchFamily="34" charset="-120"/>
              </a:rPr>
              <a:t>Real-Time AI-Powered Parking Monitoring, Violation Detection &amp; Navigation</a:t>
            </a:r>
            <a:endParaRPr lang="en-US" sz="1200" dirty="0"/>
          </a:p>
        </p:txBody>
      </p:sp>
      <p:sp>
        <p:nvSpPr>
          <p:cNvPr id="5" name="Text 3"/>
          <p:cNvSpPr txBox="1"/>
          <p:nvPr/>
        </p:nvSpPr>
        <p:spPr>
          <a:xfrm>
            <a:off x="6492240" y="566928"/>
            <a:ext cx="2194560" cy="237744"/>
          </a:xfrm>
          <a:prstGeom prst="rect">
            <a:avLst/>
          </a:prstGeom>
          <a:noFill/>
          <a:ln/>
        </p:spPr>
        <p:txBody>
          <a:bodyPr wrap="square" lIns="0" tIns="0" rIns="0" bIns="0" rtlCol="0" anchor="ctr"/>
          <a:lstStyle/>
          <a:p>
            <a:pPr marL="0" indent="0" algn="r">
              <a:buNone/>
            </a:pPr>
            <a:r>
              <a:rPr lang="en-US" sz="880" kern="0" spc="200" dirty="0">
                <a:solidFill>
                  <a:srgbClr val="E0D8D2"/>
                </a:solidFill>
                <a:latin typeface="Arial" pitchFamily="34" charset="0"/>
                <a:ea typeface="Arial" pitchFamily="34" charset="-122"/>
                <a:cs typeface="Arial" pitchFamily="34" charset="-120"/>
              </a:rPr>
              <a:t>PRISMTECH HACKATHON</a:t>
            </a:r>
            <a:endParaRPr lang="en-US" sz="1000" dirty="0"/>
          </a:p>
        </p:txBody>
      </p:sp>
      <p:sp>
        <p:nvSpPr>
          <p:cNvPr id="6" name="Shape 4"/>
          <p:cNvSpPr/>
          <p:nvPr/>
        </p:nvSpPr>
        <p:spPr>
          <a:xfrm>
            <a:off x="457200" y="960120"/>
            <a:ext cx="1463040" cy="3200400"/>
          </a:xfrm>
          <a:prstGeom prst="roundRect">
            <a:avLst>
              <a:gd name="adj" fmla="val 6250"/>
            </a:avLst>
          </a:prstGeom>
          <a:solidFill>
            <a:srgbClr val="FFFFFF"/>
          </a:solidFill>
          <a:ln/>
          <a:effectLst>
            <a:outerShdw blurRad="127000" dist="38100" dir="5400000" algn="bl" rotWithShape="0">
              <a:srgbClr val="000000">
                <a:alpha val="35000"/>
              </a:srgbClr>
            </a:outerShdw>
          </a:effectLst>
        </p:spPr>
        <p:txBody>
          <a:bodyPr/>
          <a:lstStyle/>
          <a:p>
            <a:endParaRPr lang="en-IN"/>
          </a:p>
        </p:txBody>
      </p:sp>
      <p:sp>
        <p:nvSpPr>
          <p:cNvPr id="7" name="Shape 5"/>
          <p:cNvSpPr/>
          <p:nvPr/>
        </p:nvSpPr>
        <p:spPr>
          <a:xfrm>
            <a:off x="576072" y="1088136"/>
            <a:ext cx="420624" cy="420624"/>
          </a:xfrm>
          <a:prstGeom prst="ellipse">
            <a:avLst/>
          </a:prstGeom>
          <a:solidFill>
            <a:srgbClr val="4F433A"/>
          </a:solidFill>
          <a:ln/>
        </p:spPr>
        <p:txBody>
          <a:bodyPr/>
          <a:lstStyle/>
          <a:p>
            <a:endParaRPr lang="en-IN"/>
          </a:p>
        </p:txBody>
      </p:sp>
      <p:pic>
        <p:nvPicPr>
          <p:cNvPr id="8" name="Image 0" descr="preencoded.png"/>
          <p:cNvPicPr>
            <a:picLocks noChangeAspect="1"/>
          </p:cNvPicPr>
          <p:nvPr/>
        </p:nvPicPr>
        <p:blipFill>
          <a:blip r:embed="rId3"/>
          <a:stretch>
            <a:fillRect/>
          </a:stretch>
        </p:blipFill>
        <p:spPr>
          <a:xfrm>
            <a:off x="681228" y="1193292"/>
            <a:ext cx="210312" cy="210312"/>
          </a:xfrm>
          <a:prstGeom prst="rect">
            <a:avLst/>
          </a:prstGeom>
        </p:spPr>
      </p:pic>
      <p:sp>
        <p:nvSpPr>
          <p:cNvPr id="9" name="Text 6"/>
          <p:cNvSpPr txBox="1"/>
          <p:nvPr/>
        </p:nvSpPr>
        <p:spPr>
          <a:xfrm>
            <a:off x="1371600" y="1088136"/>
            <a:ext cx="429768" cy="365760"/>
          </a:xfrm>
          <a:prstGeom prst="rect">
            <a:avLst/>
          </a:prstGeom>
          <a:noFill/>
          <a:ln/>
        </p:spPr>
        <p:txBody>
          <a:bodyPr wrap="square" lIns="0" tIns="0" rIns="0" bIns="0" rtlCol="0" anchor="ctr"/>
          <a:lstStyle/>
          <a:p>
            <a:pPr marL="0" indent="0" algn="r">
              <a:buNone/>
            </a:pPr>
            <a:r>
              <a:rPr lang="en-US" sz="2200" b="1" dirty="0">
                <a:solidFill>
                  <a:srgbClr val="F0EBE7"/>
                </a:solidFill>
                <a:latin typeface="Cambria" pitchFamily="34" charset="0"/>
                <a:ea typeface="Cambria" pitchFamily="34" charset="-122"/>
                <a:cs typeface="Cambria" pitchFamily="34" charset="-120"/>
              </a:rPr>
              <a:t>01</a:t>
            </a:r>
            <a:endParaRPr lang="en-US" sz="2200" dirty="0"/>
          </a:p>
        </p:txBody>
      </p:sp>
      <p:sp>
        <p:nvSpPr>
          <p:cNvPr id="10" name="Text 7"/>
          <p:cNvSpPr txBox="1"/>
          <p:nvPr/>
        </p:nvSpPr>
        <p:spPr>
          <a:xfrm>
            <a:off x="576072" y="1618488"/>
            <a:ext cx="1261872" cy="475488"/>
          </a:xfrm>
          <a:prstGeom prst="rect">
            <a:avLst/>
          </a:prstGeom>
          <a:noFill/>
          <a:ln/>
        </p:spPr>
        <p:txBody>
          <a:bodyPr wrap="square" lIns="0" tIns="0" rIns="0" bIns="0" rtlCol="0" anchor="t"/>
          <a:lstStyle/>
          <a:p>
            <a:pPr marL="0" indent="0">
              <a:buNone/>
            </a:pPr>
            <a:r>
              <a:rPr lang="en-US" sz="920" b="1" dirty="0">
                <a:solidFill>
                  <a:srgbClr val="3D342D"/>
                </a:solidFill>
                <a:latin typeface="Arial" pitchFamily="34" charset="0"/>
                <a:ea typeface="Arial" pitchFamily="34" charset="-122"/>
                <a:cs typeface="Arial" pitchFamily="34" charset="-120"/>
              </a:rPr>
              <a:t>CAMERA / INPUT LAYER</a:t>
            </a:r>
            <a:endParaRPr lang="en-US" sz="1050" dirty="0"/>
          </a:p>
        </p:txBody>
      </p:sp>
      <p:sp>
        <p:nvSpPr>
          <p:cNvPr id="11" name="Shape 8"/>
          <p:cNvSpPr/>
          <p:nvPr/>
        </p:nvSpPr>
        <p:spPr>
          <a:xfrm>
            <a:off x="2148840" y="960120"/>
            <a:ext cx="1463040" cy="3200400"/>
          </a:xfrm>
          <a:prstGeom prst="roundRect">
            <a:avLst>
              <a:gd name="adj" fmla="val 6250"/>
            </a:avLst>
          </a:prstGeom>
          <a:solidFill>
            <a:srgbClr val="FFFFFF"/>
          </a:solidFill>
          <a:ln/>
          <a:effectLst>
            <a:outerShdw blurRad="127000" dist="38100" dir="5400000" algn="bl" rotWithShape="0">
              <a:srgbClr val="000000">
                <a:alpha val="35000"/>
              </a:srgbClr>
            </a:outerShdw>
          </a:effectLst>
        </p:spPr>
        <p:txBody>
          <a:bodyPr/>
          <a:lstStyle/>
          <a:p>
            <a:endParaRPr lang="en-IN"/>
          </a:p>
        </p:txBody>
      </p:sp>
      <p:sp>
        <p:nvSpPr>
          <p:cNvPr id="12" name="Shape 9"/>
          <p:cNvSpPr/>
          <p:nvPr/>
        </p:nvSpPr>
        <p:spPr>
          <a:xfrm>
            <a:off x="2267712" y="1088136"/>
            <a:ext cx="420624" cy="420624"/>
          </a:xfrm>
          <a:prstGeom prst="ellipse">
            <a:avLst/>
          </a:prstGeom>
          <a:solidFill>
            <a:srgbClr val="4F433A"/>
          </a:solidFill>
          <a:ln/>
        </p:spPr>
        <p:txBody>
          <a:bodyPr/>
          <a:lstStyle/>
          <a:p>
            <a:endParaRPr lang="en-IN"/>
          </a:p>
        </p:txBody>
      </p:sp>
      <p:pic>
        <p:nvPicPr>
          <p:cNvPr id="13" name="Image 1" descr="preencoded.png"/>
          <p:cNvPicPr>
            <a:picLocks noChangeAspect="1"/>
          </p:cNvPicPr>
          <p:nvPr/>
        </p:nvPicPr>
        <p:blipFill>
          <a:blip r:embed="rId4"/>
          <a:stretch>
            <a:fillRect/>
          </a:stretch>
        </p:blipFill>
        <p:spPr>
          <a:xfrm>
            <a:off x="2372868" y="1193292"/>
            <a:ext cx="210312" cy="210312"/>
          </a:xfrm>
          <a:prstGeom prst="rect">
            <a:avLst/>
          </a:prstGeom>
        </p:spPr>
      </p:pic>
      <p:sp>
        <p:nvSpPr>
          <p:cNvPr id="14" name="Text 10"/>
          <p:cNvSpPr txBox="1"/>
          <p:nvPr/>
        </p:nvSpPr>
        <p:spPr>
          <a:xfrm>
            <a:off x="3063240" y="1088136"/>
            <a:ext cx="429768" cy="365760"/>
          </a:xfrm>
          <a:prstGeom prst="rect">
            <a:avLst/>
          </a:prstGeom>
          <a:noFill/>
          <a:ln/>
        </p:spPr>
        <p:txBody>
          <a:bodyPr wrap="square" lIns="0" tIns="0" rIns="0" bIns="0" rtlCol="0" anchor="ctr"/>
          <a:lstStyle/>
          <a:p>
            <a:pPr marL="0" indent="0" algn="r">
              <a:buNone/>
            </a:pPr>
            <a:r>
              <a:rPr lang="en-US" sz="2200" b="1" dirty="0">
                <a:solidFill>
                  <a:srgbClr val="F0EBE7"/>
                </a:solidFill>
                <a:latin typeface="Cambria" pitchFamily="34" charset="0"/>
                <a:ea typeface="Cambria" pitchFamily="34" charset="-122"/>
                <a:cs typeface="Cambria" pitchFamily="34" charset="-120"/>
              </a:rPr>
              <a:t>02</a:t>
            </a:r>
            <a:endParaRPr lang="en-US" sz="2200" dirty="0"/>
          </a:p>
        </p:txBody>
      </p:sp>
      <p:sp>
        <p:nvSpPr>
          <p:cNvPr id="15" name="Text 11"/>
          <p:cNvSpPr txBox="1"/>
          <p:nvPr/>
        </p:nvSpPr>
        <p:spPr>
          <a:xfrm>
            <a:off x="2267712" y="1618488"/>
            <a:ext cx="1261872" cy="475488"/>
          </a:xfrm>
          <a:prstGeom prst="rect">
            <a:avLst/>
          </a:prstGeom>
          <a:noFill/>
          <a:ln/>
        </p:spPr>
        <p:txBody>
          <a:bodyPr wrap="square" lIns="0" tIns="0" rIns="0" bIns="0" rtlCol="0" anchor="t"/>
          <a:lstStyle/>
          <a:p>
            <a:pPr marL="0" indent="0">
              <a:buNone/>
            </a:pPr>
            <a:r>
              <a:rPr lang="en-US" sz="920" b="1" dirty="0">
                <a:solidFill>
                  <a:srgbClr val="3D342D"/>
                </a:solidFill>
                <a:latin typeface="Arial" pitchFamily="34" charset="0"/>
                <a:ea typeface="Arial" pitchFamily="34" charset="-122"/>
                <a:cs typeface="Arial" pitchFamily="34" charset="-120"/>
              </a:rPr>
              <a:t>AI COMPUTER VISION LAYER</a:t>
            </a:r>
            <a:endParaRPr lang="en-US" sz="1050" dirty="0"/>
          </a:p>
        </p:txBody>
      </p:sp>
      <p:sp>
        <p:nvSpPr>
          <p:cNvPr id="16" name="Shape 12"/>
          <p:cNvSpPr/>
          <p:nvPr/>
        </p:nvSpPr>
        <p:spPr>
          <a:xfrm>
            <a:off x="3840480" y="960120"/>
            <a:ext cx="1463040" cy="3200400"/>
          </a:xfrm>
          <a:prstGeom prst="roundRect">
            <a:avLst>
              <a:gd name="adj" fmla="val 6250"/>
            </a:avLst>
          </a:prstGeom>
          <a:solidFill>
            <a:srgbClr val="FFFFFF"/>
          </a:solidFill>
          <a:ln/>
          <a:effectLst>
            <a:outerShdw blurRad="127000" dist="38100" dir="5400000" algn="bl" rotWithShape="0">
              <a:srgbClr val="000000">
                <a:alpha val="35000"/>
              </a:srgbClr>
            </a:outerShdw>
          </a:effectLst>
        </p:spPr>
        <p:txBody>
          <a:bodyPr/>
          <a:lstStyle/>
          <a:p>
            <a:endParaRPr lang="en-IN"/>
          </a:p>
        </p:txBody>
      </p:sp>
      <p:sp>
        <p:nvSpPr>
          <p:cNvPr id="17" name="Shape 13"/>
          <p:cNvSpPr/>
          <p:nvPr/>
        </p:nvSpPr>
        <p:spPr>
          <a:xfrm>
            <a:off x="3959352" y="1088136"/>
            <a:ext cx="420624" cy="420624"/>
          </a:xfrm>
          <a:prstGeom prst="ellipse">
            <a:avLst/>
          </a:prstGeom>
          <a:solidFill>
            <a:srgbClr val="4F433A"/>
          </a:solidFill>
          <a:ln/>
        </p:spPr>
        <p:txBody>
          <a:bodyPr/>
          <a:lstStyle/>
          <a:p>
            <a:endParaRPr lang="en-IN"/>
          </a:p>
        </p:txBody>
      </p:sp>
      <p:pic>
        <p:nvPicPr>
          <p:cNvPr id="18" name="Image 2" descr="preencoded.png"/>
          <p:cNvPicPr>
            <a:picLocks noChangeAspect="1"/>
          </p:cNvPicPr>
          <p:nvPr/>
        </p:nvPicPr>
        <p:blipFill>
          <a:blip r:embed="rId5"/>
          <a:stretch>
            <a:fillRect/>
          </a:stretch>
        </p:blipFill>
        <p:spPr>
          <a:xfrm>
            <a:off x="4064508" y="1193292"/>
            <a:ext cx="210312" cy="210312"/>
          </a:xfrm>
          <a:prstGeom prst="rect">
            <a:avLst/>
          </a:prstGeom>
        </p:spPr>
      </p:pic>
      <p:sp>
        <p:nvSpPr>
          <p:cNvPr id="19" name="Text 14"/>
          <p:cNvSpPr txBox="1"/>
          <p:nvPr/>
        </p:nvSpPr>
        <p:spPr>
          <a:xfrm>
            <a:off x="4754880" y="1088136"/>
            <a:ext cx="429768" cy="365760"/>
          </a:xfrm>
          <a:prstGeom prst="rect">
            <a:avLst/>
          </a:prstGeom>
          <a:noFill/>
          <a:ln/>
        </p:spPr>
        <p:txBody>
          <a:bodyPr wrap="square" lIns="0" tIns="0" rIns="0" bIns="0" rtlCol="0" anchor="ctr"/>
          <a:lstStyle/>
          <a:p>
            <a:pPr marL="0" indent="0" algn="r">
              <a:buNone/>
            </a:pPr>
            <a:r>
              <a:rPr lang="en-US" sz="2200" b="1" dirty="0">
                <a:solidFill>
                  <a:srgbClr val="F0EBE7"/>
                </a:solidFill>
                <a:latin typeface="Cambria" pitchFamily="34" charset="0"/>
                <a:ea typeface="Cambria" pitchFamily="34" charset="-122"/>
                <a:cs typeface="Cambria" pitchFamily="34" charset="-120"/>
              </a:rPr>
              <a:t>03</a:t>
            </a:r>
            <a:endParaRPr lang="en-US" sz="2200" dirty="0"/>
          </a:p>
        </p:txBody>
      </p:sp>
      <p:sp>
        <p:nvSpPr>
          <p:cNvPr id="20" name="Text 15"/>
          <p:cNvSpPr txBox="1"/>
          <p:nvPr/>
        </p:nvSpPr>
        <p:spPr>
          <a:xfrm>
            <a:off x="3959352" y="1618488"/>
            <a:ext cx="1261872" cy="475488"/>
          </a:xfrm>
          <a:prstGeom prst="rect">
            <a:avLst/>
          </a:prstGeom>
          <a:noFill/>
          <a:ln/>
        </p:spPr>
        <p:txBody>
          <a:bodyPr wrap="square" lIns="0" tIns="0" rIns="0" bIns="0" rtlCol="0" anchor="t"/>
          <a:lstStyle/>
          <a:p>
            <a:pPr marL="0" indent="0">
              <a:buNone/>
            </a:pPr>
            <a:r>
              <a:rPr lang="en-US" sz="920" b="1" dirty="0">
                <a:solidFill>
                  <a:srgbClr val="3D342D"/>
                </a:solidFill>
                <a:latin typeface="Arial" pitchFamily="34" charset="0"/>
                <a:ea typeface="Arial" pitchFamily="34" charset="-122"/>
                <a:cs typeface="Arial" pitchFamily="34" charset="-120"/>
              </a:rPr>
              <a:t>BACKEND / REAL-TIME PROCESSING</a:t>
            </a:r>
            <a:endParaRPr lang="en-US" sz="1050" dirty="0"/>
          </a:p>
        </p:txBody>
      </p:sp>
      <p:sp>
        <p:nvSpPr>
          <p:cNvPr id="21" name="Shape 16"/>
          <p:cNvSpPr/>
          <p:nvPr/>
        </p:nvSpPr>
        <p:spPr>
          <a:xfrm>
            <a:off x="5532120" y="960120"/>
            <a:ext cx="1463040" cy="3200400"/>
          </a:xfrm>
          <a:prstGeom prst="roundRect">
            <a:avLst>
              <a:gd name="adj" fmla="val 6250"/>
            </a:avLst>
          </a:prstGeom>
          <a:solidFill>
            <a:srgbClr val="FFFFFF"/>
          </a:solidFill>
          <a:ln/>
          <a:effectLst>
            <a:outerShdw blurRad="127000" dist="38100" dir="5400000" algn="bl" rotWithShape="0">
              <a:srgbClr val="000000">
                <a:alpha val="35000"/>
              </a:srgbClr>
            </a:outerShdw>
          </a:effectLst>
        </p:spPr>
        <p:txBody>
          <a:bodyPr/>
          <a:lstStyle/>
          <a:p>
            <a:endParaRPr lang="en-IN"/>
          </a:p>
        </p:txBody>
      </p:sp>
      <p:sp>
        <p:nvSpPr>
          <p:cNvPr id="22" name="Shape 17"/>
          <p:cNvSpPr/>
          <p:nvPr/>
        </p:nvSpPr>
        <p:spPr>
          <a:xfrm>
            <a:off x="5650992" y="1088136"/>
            <a:ext cx="420624" cy="420624"/>
          </a:xfrm>
          <a:prstGeom prst="ellipse">
            <a:avLst/>
          </a:prstGeom>
          <a:solidFill>
            <a:srgbClr val="4F433A"/>
          </a:solidFill>
          <a:ln/>
        </p:spPr>
        <p:txBody>
          <a:bodyPr/>
          <a:lstStyle/>
          <a:p>
            <a:endParaRPr lang="en-IN"/>
          </a:p>
        </p:txBody>
      </p:sp>
      <p:pic>
        <p:nvPicPr>
          <p:cNvPr id="23" name="Image 3" descr="preencoded.png"/>
          <p:cNvPicPr>
            <a:picLocks noChangeAspect="1"/>
          </p:cNvPicPr>
          <p:nvPr/>
        </p:nvPicPr>
        <p:blipFill>
          <a:blip r:embed="rId6"/>
          <a:stretch>
            <a:fillRect/>
          </a:stretch>
        </p:blipFill>
        <p:spPr>
          <a:xfrm>
            <a:off x="5756148" y="1193292"/>
            <a:ext cx="210312" cy="210312"/>
          </a:xfrm>
          <a:prstGeom prst="rect">
            <a:avLst/>
          </a:prstGeom>
        </p:spPr>
      </p:pic>
      <p:sp>
        <p:nvSpPr>
          <p:cNvPr id="24" name="Text 18"/>
          <p:cNvSpPr txBox="1"/>
          <p:nvPr/>
        </p:nvSpPr>
        <p:spPr>
          <a:xfrm>
            <a:off x="6446520" y="1088136"/>
            <a:ext cx="429768" cy="365760"/>
          </a:xfrm>
          <a:prstGeom prst="rect">
            <a:avLst/>
          </a:prstGeom>
          <a:noFill/>
          <a:ln/>
        </p:spPr>
        <p:txBody>
          <a:bodyPr wrap="square" lIns="0" tIns="0" rIns="0" bIns="0" rtlCol="0" anchor="ctr"/>
          <a:lstStyle/>
          <a:p>
            <a:pPr marL="0" indent="0" algn="r">
              <a:buNone/>
            </a:pPr>
            <a:r>
              <a:rPr lang="en-US" sz="2200" b="1" dirty="0">
                <a:solidFill>
                  <a:srgbClr val="F0EBE7"/>
                </a:solidFill>
                <a:latin typeface="Cambria" pitchFamily="34" charset="0"/>
                <a:ea typeface="Cambria" pitchFamily="34" charset="-122"/>
                <a:cs typeface="Cambria" pitchFamily="34" charset="-120"/>
              </a:rPr>
              <a:t>04</a:t>
            </a:r>
            <a:endParaRPr lang="en-US" sz="2200" dirty="0"/>
          </a:p>
        </p:txBody>
      </p:sp>
      <p:sp>
        <p:nvSpPr>
          <p:cNvPr id="25" name="Text 19"/>
          <p:cNvSpPr txBox="1"/>
          <p:nvPr/>
        </p:nvSpPr>
        <p:spPr>
          <a:xfrm>
            <a:off x="5650992" y="1618488"/>
            <a:ext cx="1261872" cy="475488"/>
          </a:xfrm>
          <a:prstGeom prst="rect">
            <a:avLst/>
          </a:prstGeom>
          <a:noFill/>
          <a:ln/>
        </p:spPr>
        <p:txBody>
          <a:bodyPr wrap="square" lIns="0" tIns="0" rIns="0" bIns="0" rtlCol="0" anchor="t"/>
          <a:lstStyle/>
          <a:p>
            <a:pPr marL="0" indent="0">
              <a:buNone/>
            </a:pPr>
            <a:r>
              <a:rPr lang="en-US" sz="920" b="1" dirty="0">
                <a:solidFill>
                  <a:srgbClr val="3D342D"/>
                </a:solidFill>
                <a:latin typeface="Arial" pitchFamily="34" charset="0"/>
                <a:ea typeface="Arial" pitchFamily="34" charset="-122"/>
                <a:cs typeface="Arial" pitchFamily="34" charset="-120"/>
              </a:rPr>
              <a:t>USER DASHBOARD</a:t>
            </a:r>
            <a:endParaRPr lang="en-US" sz="1050" dirty="0"/>
          </a:p>
        </p:txBody>
      </p:sp>
      <p:sp>
        <p:nvSpPr>
          <p:cNvPr id="26" name="Shape 20"/>
          <p:cNvSpPr/>
          <p:nvPr/>
        </p:nvSpPr>
        <p:spPr>
          <a:xfrm>
            <a:off x="7223760" y="960120"/>
            <a:ext cx="1463040" cy="3200400"/>
          </a:xfrm>
          <a:prstGeom prst="roundRect">
            <a:avLst>
              <a:gd name="adj" fmla="val 6250"/>
            </a:avLst>
          </a:prstGeom>
          <a:solidFill>
            <a:srgbClr val="FFFFFF"/>
          </a:solidFill>
          <a:ln/>
          <a:effectLst>
            <a:outerShdw blurRad="127000" dist="38100" dir="5400000" algn="bl" rotWithShape="0">
              <a:srgbClr val="000000">
                <a:alpha val="35000"/>
              </a:srgbClr>
            </a:outerShdw>
          </a:effectLst>
        </p:spPr>
        <p:txBody>
          <a:bodyPr/>
          <a:lstStyle/>
          <a:p>
            <a:endParaRPr lang="en-IN"/>
          </a:p>
        </p:txBody>
      </p:sp>
      <p:sp>
        <p:nvSpPr>
          <p:cNvPr id="27" name="Shape 21"/>
          <p:cNvSpPr/>
          <p:nvPr/>
        </p:nvSpPr>
        <p:spPr>
          <a:xfrm>
            <a:off x="7342632" y="1088136"/>
            <a:ext cx="420624" cy="420624"/>
          </a:xfrm>
          <a:prstGeom prst="ellipse">
            <a:avLst/>
          </a:prstGeom>
          <a:solidFill>
            <a:srgbClr val="4F433A"/>
          </a:solidFill>
          <a:ln/>
        </p:spPr>
        <p:txBody>
          <a:bodyPr/>
          <a:lstStyle/>
          <a:p>
            <a:endParaRPr lang="en-IN"/>
          </a:p>
        </p:txBody>
      </p:sp>
      <p:pic>
        <p:nvPicPr>
          <p:cNvPr id="28" name="Image 4" descr="preencoded.png"/>
          <p:cNvPicPr>
            <a:picLocks noChangeAspect="1"/>
          </p:cNvPicPr>
          <p:nvPr/>
        </p:nvPicPr>
        <p:blipFill>
          <a:blip r:embed="rId7"/>
          <a:stretch>
            <a:fillRect/>
          </a:stretch>
        </p:blipFill>
        <p:spPr>
          <a:xfrm>
            <a:off x="7447788" y="1193292"/>
            <a:ext cx="210312" cy="210312"/>
          </a:xfrm>
          <a:prstGeom prst="rect">
            <a:avLst/>
          </a:prstGeom>
        </p:spPr>
      </p:pic>
      <p:sp>
        <p:nvSpPr>
          <p:cNvPr id="29" name="Text 22"/>
          <p:cNvSpPr txBox="1"/>
          <p:nvPr/>
        </p:nvSpPr>
        <p:spPr>
          <a:xfrm>
            <a:off x="8138160" y="1088136"/>
            <a:ext cx="429768" cy="365760"/>
          </a:xfrm>
          <a:prstGeom prst="rect">
            <a:avLst/>
          </a:prstGeom>
          <a:noFill/>
          <a:ln/>
        </p:spPr>
        <p:txBody>
          <a:bodyPr wrap="square" lIns="0" tIns="0" rIns="0" bIns="0" rtlCol="0" anchor="ctr"/>
          <a:lstStyle/>
          <a:p>
            <a:pPr marL="0" indent="0" algn="r">
              <a:buNone/>
            </a:pPr>
            <a:r>
              <a:rPr lang="en-US" sz="2200" b="1" dirty="0">
                <a:solidFill>
                  <a:srgbClr val="F0EBE7"/>
                </a:solidFill>
                <a:latin typeface="Cambria" pitchFamily="34" charset="0"/>
                <a:ea typeface="Cambria" pitchFamily="34" charset="-122"/>
                <a:cs typeface="Cambria" pitchFamily="34" charset="-120"/>
              </a:rPr>
              <a:t>05</a:t>
            </a:r>
            <a:endParaRPr lang="en-US" sz="2200" dirty="0"/>
          </a:p>
        </p:txBody>
      </p:sp>
      <p:sp>
        <p:nvSpPr>
          <p:cNvPr id="30" name="Text 23"/>
          <p:cNvSpPr txBox="1"/>
          <p:nvPr/>
        </p:nvSpPr>
        <p:spPr>
          <a:xfrm>
            <a:off x="7342632" y="1618488"/>
            <a:ext cx="1261872" cy="475488"/>
          </a:xfrm>
          <a:prstGeom prst="rect">
            <a:avLst/>
          </a:prstGeom>
          <a:noFill/>
          <a:ln/>
        </p:spPr>
        <p:txBody>
          <a:bodyPr wrap="square" lIns="0" tIns="0" rIns="0" bIns="0" rtlCol="0" anchor="t"/>
          <a:lstStyle/>
          <a:p>
            <a:pPr marL="0" indent="0">
              <a:buNone/>
            </a:pPr>
            <a:r>
              <a:rPr lang="en-US" sz="920" b="1" dirty="0">
                <a:solidFill>
                  <a:srgbClr val="3D342D"/>
                </a:solidFill>
                <a:latin typeface="Arial" pitchFamily="34" charset="0"/>
                <a:ea typeface="Arial" pitchFamily="34" charset="-122"/>
                <a:cs typeface="Arial" pitchFamily="34" charset="-120"/>
              </a:rPr>
              <a:t>SMART OUTPUT / ACTION</a:t>
            </a:r>
            <a:endParaRPr lang="en-US" sz="1050" dirty="0"/>
          </a:p>
        </p:txBody>
      </p:sp>
      <p:sp>
        <p:nvSpPr>
          <p:cNvPr id="31" name="Shape 24"/>
          <p:cNvSpPr/>
          <p:nvPr/>
        </p:nvSpPr>
        <p:spPr>
          <a:xfrm>
            <a:off x="1892808" y="1197864"/>
            <a:ext cx="283464" cy="274320"/>
          </a:xfrm>
          <a:prstGeom prst="rightArrow">
            <a:avLst/>
          </a:prstGeom>
          <a:solidFill>
            <a:srgbClr val="F86425"/>
          </a:solidFill>
          <a:ln/>
        </p:spPr>
        <p:txBody>
          <a:bodyPr/>
          <a:lstStyle/>
          <a:p>
            <a:endParaRPr lang="en-IN"/>
          </a:p>
        </p:txBody>
      </p:sp>
      <p:sp>
        <p:nvSpPr>
          <p:cNvPr id="32" name="Shape 25"/>
          <p:cNvSpPr/>
          <p:nvPr/>
        </p:nvSpPr>
        <p:spPr>
          <a:xfrm>
            <a:off x="3584448" y="1197864"/>
            <a:ext cx="283464" cy="274320"/>
          </a:xfrm>
          <a:prstGeom prst="rightArrow">
            <a:avLst/>
          </a:prstGeom>
          <a:solidFill>
            <a:srgbClr val="F86425"/>
          </a:solidFill>
          <a:ln/>
        </p:spPr>
        <p:txBody>
          <a:bodyPr/>
          <a:lstStyle/>
          <a:p>
            <a:endParaRPr lang="en-IN"/>
          </a:p>
        </p:txBody>
      </p:sp>
      <p:sp>
        <p:nvSpPr>
          <p:cNvPr id="33" name="Shape 26"/>
          <p:cNvSpPr/>
          <p:nvPr/>
        </p:nvSpPr>
        <p:spPr>
          <a:xfrm>
            <a:off x="5276088" y="1197864"/>
            <a:ext cx="283464" cy="274320"/>
          </a:xfrm>
          <a:prstGeom prst="rightArrow">
            <a:avLst/>
          </a:prstGeom>
          <a:solidFill>
            <a:srgbClr val="F86425"/>
          </a:solidFill>
          <a:ln/>
        </p:spPr>
        <p:txBody>
          <a:bodyPr/>
          <a:lstStyle/>
          <a:p>
            <a:endParaRPr lang="en-IN"/>
          </a:p>
        </p:txBody>
      </p:sp>
      <p:sp>
        <p:nvSpPr>
          <p:cNvPr id="34" name="Shape 27"/>
          <p:cNvSpPr/>
          <p:nvPr/>
        </p:nvSpPr>
        <p:spPr>
          <a:xfrm>
            <a:off x="6967728" y="1197864"/>
            <a:ext cx="283464" cy="274320"/>
          </a:xfrm>
          <a:prstGeom prst="rightArrow">
            <a:avLst/>
          </a:prstGeom>
          <a:solidFill>
            <a:srgbClr val="F86425"/>
          </a:solidFill>
          <a:ln/>
        </p:spPr>
        <p:txBody>
          <a:bodyPr/>
          <a:lstStyle/>
          <a:p>
            <a:endParaRPr lang="en-IN"/>
          </a:p>
        </p:txBody>
      </p:sp>
      <p:sp>
        <p:nvSpPr>
          <p:cNvPr id="35" name="Shape 28"/>
          <p:cNvSpPr/>
          <p:nvPr/>
        </p:nvSpPr>
        <p:spPr>
          <a:xfrm>
            <a:off x="576072" y="2199132"/>
            <a:ext cx="73152" cy="73152"/>
          </a:xfrm>
          <a:prstGeom prst="ellipse">
            <a:avLst/>
          </a:prstGeom>
          <a:solidFill>
            <a:srgbClr val="F86425"/>
          </a:solidFill>
          <a:ln/>
        </p:spPr>
        <p:txBody>
          <a:bodyPr/>
          <a:lstStyle/>
          <a:p>
            <a:endParaRPr lang="en-IN"/>
          </a:p>
        </p:txBody>
      </p:sp>
      <p:sp>
        <p:nvSpPr>
          <p:cNvPr id="36" name="Text 29"/>
          <p:cNvSpPr txBox="1"/>
          <p:nvPr/>
        </p:nvSpPr>
        <p:spPr>
          <a:xfrm>
            <a:off x="722376" y="2148840"/>
            <a:ext cx="1133856" cy="466344"/>
          </a:xfrm>
          <a:prstGeom prst="rect">
            <a:avLst/>
          </a:prstGeom>
          <a:noFill/>
          <a:ln/>
        </p:spPr>
        <p:txBody>
          <a:bodyPr wrap="square" lIns="0" tIns="0" rIns="0" bIns="0" rtlCol="0" anchor="t"/>
          <a:lstStyle/>
          <a:p>
            <a:pPr marL="0" indent="0">
              <a:buNone/>
            </a:pPr>
            <a:r>
              <a:rPr lang="en-US" sz="920" dirty="0">
                <a:solidFill>
                  <a:srgbClr val="3D342D"/>
                </a:solidFill>
                <a:latin typeface="Arial" pitchFamily="34" charset="0"/>
                <a:ea typeface="Arial" pitchFamily="34" charset="-122"/>
                <a:cs typeface="Arial" pitchFamily="34" charset="-120"/>
              </a:rPr>
              <a:t>CCTV / camera captures the parking area</a:t>
            </a:r>
            <a:endParaRPr lang="en-US" sz="1050" dirty="0"/>
          </a:p>
        </p:txBody>
      </p:sp>
      <p:sp>
        <p:nvSpPr>
          <p:cNvPr id="37" name="Shape 30"/>
          <p:cNvSpPr/>
          <p:nvPr/>
        </p:nvSpPr>
        <p:spPr>
          <a:xfrm>
            <a:off x="576072" y="2734056"/>
            <a:ext cx="73152" cy="73152"/>
          </a:xfrm>
          <a:prstGeom prst="ellipse">
            <a:avLst/>
          </a:prstGeom>
          <a:solidFill>
            <a:srgbClr val="F86425"/>
          </a:solidFill>
          <a:ln/>
        </p:spPr>
        <p:txBody>
          <a:bodyPr/>
          <a:lstStyle/>
          <a:p>
            <a:endParaRPr lang="en-IN"/>
          </a:p>
        </p:txBody>
      </p:sp>
      <p:sp>
        <p:nvSpPr>
          <p:cNvPr id="38" name="Text 31"/>
          <p:cNvSpPr txBox="1"/>
          <p:nvPr/>
        </p:nvSpPr>
        <p:spPr>
          <a:xfrm>
            <a:off x="722376" y="2683764"/>
            <a:ext cx="1133856" cy="466344"/>
          </a:xfrm>
          <a:prstGeom prst="rect">
            <a:avLst/>
          </a:prstGeom>
          <a:noFill/>
          <a:ln/>
        </p:spPr>
        <p:txBody>
          <a:bodyPr wrap="square" lIns="0" tIns="0" rIns="0" bIns="0" rtlCol="0" anchor="t"/>
          <a:lstStyle/>
          <a:p>
            <a:pPr marL="0" indent="0">
              <a:buNone/>
            </a:pPr>
            <a:r>
              <a:rPr lang="en-US" sz="920" dirty="0">
                <a:solidFill>
                  <a:srgbClr val="3D342D"/>
                </a:solidFill>
                <a:latin typeface="Arial" pitchFamily="34" charset="0"/>
                <a:ea typeface="Arial" pitchFamily="34" charset="-122"/>
                <a:cs typeface="Arial" pitchFamily="34" charset="-120"/>
              </a:rPr>
              <a:t>Sees vehicles, slots &amp; emergency lanes</a:t>
            </a:r>
            <a:endParaRPr lang="en-US" sz="1050" dirty="0"/>
          </a:p>
        </p:txBody>
      </p:sp>
      <p:sp>
        <p:nvSpPr>
          <p:cNvPr id="39" name="Shape 32"/>
          <p:cNvSpPr/>
          <p:nvPr/>
        </p:nvSpPr>
        <p:spPr>
          <a:xfrm>
            <a:off x="576072" y="3172968"/>
            <a:ext cx="1225296" cy="621792"/>
          </a:xfrm>
          <a:prstGeom prst="roundRect">
            <a:avLst>
              <a:gd name="adj" fmla="val 8824"/>
            </a:avLst>
          </a:prstGeom>
          <a:solidFill>
            <a:srgbClr val="302823"/>
          </a:solidFill>
          <a:ln/>
        </p:spPr>
        <p:txBody>
          <a:bodyPr/>
          <a:lstStyle/>
          <a:p>
            <a:endParaRPr lang="en-IN"/>
          </a:p>
        </p:txBody>
      </p:sp>
      <p:sp>
        <p:nvSpPr>
          <p:cNvPr id="40" name="Shape 33"/>
          <p:cNvSpPr/>
          <p:nvPr/>
        </p:nvSpPr>
        <p:spPr>
          <a:xfrm>
            <a:off x="640080" y="3355848"/>
            <a:ext cx="237744" cy="384048"/>
          </a:xfrm>
          <a:prstGeom prst="roundRect">
            <a:avLst>
              <a:gd name="adj" fmla="val 11538"/>
            </a:avLst>
          </a:prstGeom>
          <a:solidFill>
            <a:srgbClr val="E5484D">
              <a:alpha val="25000"/>
            </a:srgbClr>
          </a:solidFill>
          <a:ln w="15875">
            <a:solidFill>
              <a:srgbClr val="E5484D"/>
            </a:solidFill>
            <a:prstDash val="solid"/>
          </a:ln>
        </p:spPr>
        <p:txBody>
          <a:bodyPr/>
          <a:lstStyle/>
          <a:p>
            <a:endParaRPr lang="en-IN"/>
          </a:p>
        </p:txBody>
      </p:sp>
      <p:sp>
        <p:nvSpPr>
          <p:cNvPr id="41" name="Shape 34"/>
          <p:cNvSpPr/>
          <p:nvPr/>
        </p:nvSpPr>
        <p:spPr>
          <a:xfrm>
            <a:off x="932688" y="3355848"/>
            <a:ext cx="237744" cy="384048"/>
          </a:xfrm>
          <a:prstGeom prst="roundRect">
            <a:avLst>
              <a:gd name="adj" fmla="val 11538"/>
            </a:avLst>
          </a:prstGeom>
          <a:solidFill>
            <a:srgbClr val="1FBF75">
              <a:alpha val="25000"/>
            </a:srgbClr>
          </a:solidFill>
          <a:ln w="15875">
            <a:solidFill>
              <a:srgbClr val="1FBF75"/>
            </a:solidFill>
            <a:prstDash val="solid"/>
          </a:ln>
        </p:spPr>
        <p:txBody>
          <a:bodyPr/>
          <a:lstStyle/>
          <a:p>
            <a:endParaRPr lang="en-IN"/>
          </a:p>
        </p:txBody>
      </p:sp>
      <p:sp>
        <p:nvSpPr>
          <p:cNvPr id="42" name="Shape 35"/>
          <p:cNvSpPr/>
          <p:nvPr/>
        </p:nvSpPr>
        <p:spPr>
          <a:xfrm>
            <a:off x="1225296" y="3355848"/>
            <a:ext cx="237744" cy="384048"/>
          </a:xfrm>
          <a:prstGeom prst="roundRect">
            <a:avLst>
              <a:gd name="adj" fmla="val 11538"/>
            </a:avLst>
          </a:prstGeom>
          <a:solidFill>
            <a:srgbClr val="E5484D">
              <a:alpha val="25000"/>
            </a:srgbClr>
          </a:solidFill>
          <a:ln w="15875">
            <a:solidFill>
              <a:srgbClr val="E5484D"/>
            </a:solidFill>
            <a:prstDash val="solid"/>
          </a:ln>
        </p:spPr>
        <p:txBody>
          <a:bodyPr/>
          <a:lstStyle/>
          <a:p>
            <a:endParaRPr lang="en-IN"/>
          </a:p>
        </p:txBody>
      </p:sp>
      <p:sp>
        <p:nvSpPr>
          <p:cNvPr id="43" name="Shape 36"/>
          <p:cNvSpPr/>
          <p:nvPr/>
        </p:nvSpPr>
        <p:spPr>
          <a:xfrm>
            <a:off x="1517904" y="3355848"/>
            <a:ext cx="237744" cy="384048"/>
          </a:xfrm>
          <a:prstGeom prst="roundRect">
            <a:avLst>
              <a:gd name="adj" fmla="val 11538"/>
            </a:avLst>
          </a:prstGeom>
          <a:solidFill>
            <a:srgbClr val="E5484D">
              <a:alpha val="25000"/>
            </a:srgbClr>
          </a:solidFill>
          <a:ln w="15875">
            <a:solidFill>
              <a:srgbClr val="E5484D"/>
            </a:solidFill>
            <a:prstDash val="solid"/>
          </a:ln>
        </p:spPr>
        <p:txBody>
          <a:bodyPr/>
          <a:lstStyle/>
          <a:p>
            <a:endParaRPr lang="en-IN"/>
          </a:p>
        </p:txBody>
      </p:sp>
      <p:sp>
        <p:nvSpPr>
          <p:cNvPr id="44" name="Shape 37"/>
          <p:cNvSpPr/>
          <p:nvPr/>
        </p:nvSpPr>
        <p:spPr>
          <a:xfrm>
            <a:off x="640080" y="3236976"/>
            <a:ext cx="64008" cy="64008"/>
          </a:xfrm>
          <a:prstGeom prst="ellipse">
            <a:avLst/>
          </a:prstGeom>
          <a:solidFill>
            <a:srgbClr val="E5484D"/>
          </a:solidFill>
          <a:ln/>
        </p:spPr>
        <p:txBody>
          <a:bodyPr/>
          <a:lstStyle/>
          <a:p>
            <a:endParaRPr lang="en-IN"/>
          </a:p>
        </p:txBody>
      </p:sp>
      <p:sp>
        <p:nvSpPr>
          <p:cNvPr id="45" name="Text 38"/>
          <p:cNvSpPr txBox="1"/>
          <p:nvPr/>
        </p:nvSpPr>
        <p:spPr>
          <a:xfrm>
            <a:off x="731520" y="3200400"/>
            <a:ext cx="457200" cy="137160"/>
          </a:xfrm>
          <a:prstGeom prst="rect">
            <a:avLst/>
          </a:prstGeom>
          <a:noFill/>
          <a:ln/>
        </p:spPr>
        <p:txBody>
          <a:bodyPr wrap="square" lIns="0" tIns="0" rIns="0" bIns="0" rtlCol="0" anchor="ctr"/>
          <a:lstStyle/>
          <a:p>
            <a:pPr marL="0" indent="0">
              <a:buNone/>
            </a:pPr>
            <a:r>
              <a:rPr lang="en-US" sz="700" b="1" dirty="0">
                <a:solidFill>
                  <a:srgbClr val="FFFFFF"/>
                </a:solidFill>
                <a:latin typeface="Arial" pitchFamily="34" charset="0"/>
                <a:ea typeface="Arial" pitchFamily="34" charset="-122"/>
                <a:cs typeface="Arial" pitchFamily="34" charset="-120"/>
              </a:rPr>
              <a:t>REC</a:t>
            </a:r>
            <a:endParaRPr lang="en-US" sz="800" dirty="0"/>
          </a:p>
        </p:txBody>
      </p:sp>
      <p:sp>
        <p:nvSpPr>
          <p:cNvPr id="46" name="Text 39"/>
          <p:cNvSpPr txBox="1"/>
          <p:nvPr/>
        </p:nvSpPr>
        <p:spPr>
          <a:xfrm>
            <a:off x="576072" y="3849624"/>
            <a:ext cx="1225296" cy="201168"/>
          </a:xfrm>
          <a:prstGeom prst="rect">
            <a:avLst/>
          </a:prstGeom>
          <a:noFill/>
          <a:ln/>
        </p:spPr>
        <p:txBody>
          <a:bodyPr wrap="square" lIns="0" tIns="0" rIns="0" bIns="0" rtlCol="0" anchor="ctr"/>
          <a:lstStyle/>
          <a:p>
            <a:pPr marL="0" indent="0">
              <a:buNone/>
            </a:pPr>
            <a:r>
              <a:rPr lang="en-US" sz="880" b="1" kern="0" spc="100" dirty="0">
                <a:solidFill>
                  <a:srgbClr val="E5484D"/>
                </a:solidFill>
                <a:latin typeface="Arial" pitchFamily="34" charset="0"/>
                <a:ea typeface="Arial" pitchFamily="34" charset="-122"/>
                <a:cs typeface="Arial" pitchFamily="34" charset="-120"/>
              </a:rPr>
              <a:t>LIVE FEED</a:t>
            </a:r>
            <a:endParaRPr lang="en-US" sz="1000" dirty="0"/>
          </a:p>
        </p:txBody>
      </p:sp>
      <p:sp>
        <p:nvSpPr>
          <p:cNvPr id="47" name="Shape 40"/>
          <p:cNvSpPr/>
          <p:nvPr/>
        </p:nvSpPr>
        <p:spPr>
          <a:xfrm>
            <a:off x="2267712" y="2199132"/>
            <a:ext cx="73152" cy="73152"/>
          </a:xfrm>
          <a:prstGeom prst="ellipse">
            <a:avLst/>
          </a:prstGeom>
          <a:solidFill>
            <a:srgbClr val="F86425"/>
          </a:solidFill>
          <a:ln/>
        </p:spPr>
        <p:txBody>
          <a:bodyPr/>
          <a:lstStyle/>
          <a:p>
            <a:endParaRPr lang="en-IN"/>
          </a:p>
        </p:txBody>
      </p:sp>
      <p:sp>
        <p:nvSpPr>
          <p:cNvPr id="48" name="Text 41"/>
          <p:cNvSpPr txBox="1"/>
          <p:nvPr/>
        </p:nvSpPr>
        <p:spPr>
          <a:xfrm>
            <a:off x="2414016" y="2148840"/>
            <a:ext cx="1133856" cy="155448"/>
          </a:xfrm>
          <a:prstGeom prst="rect">
            <a:avLst/>
          </a:prstGeom>
          <a:noFill/>
          <a:ln/>
        </p:spPr>
        <p:txBody>
          <a:bodyPr wrap="square" lIns="0" tIns="0" rIns="0" bIns="0" rtlCol="0" anchor="t"/>
          <a:lstStyle/>
          <a:p>
            <a:pPr marL="0" indent="0">
              <a:buNone/>
            </a:pPr>
            <a:r>
              <a:rPr lang="en-US" sz="920" dirty="0">
                <a:solidFill>
                  <a:srgbClr val="3D342D"/>
                </a:solidFill>
                <a:latin typeface="Arial" pitchFamily="34" charset="0"/>
                <a:ea typeface="Arial" pitchFamily="34" charset="-122"/>
                <a:cs typeface="Arial" pitchFamily="34" charset="-120"/>
              </a:rPr>
              <a:t>Detect parking slots</a:t>
            </a:r>
            <a:endParaRPr lang="en-US" sz="1050" dirty="0"/>
          </a:p>
        </p:txBody>
      </p:sp>
      <p:sp>
        <p:nvSpPr>
          <p:cNvPr id="49" name="Shape 42"/>
          <p:cNvSpPr/>
          <p:nvPr/>
        </p:nvSpPr>
        <p:spPr>
          <a:xfrm>
            <a:off x="2267712" y="2423160"/>
            <a:ext cx="73152" cy="73152"/>
          </a:xfrm>
          <a:prstGeom prst="ellipse">
            <a:avLst/>
          </a:prstGeom>
          <a:solidFill>
            <a:srgbClr val="F86425"/>
          </a:solidFill>
          <a:ln/>
        </p:spPr>
        <p:txBody>
          <a:bodyPr/>
          <a:lstStyle/>
          <a:p>
            <a:endParaRPr lang="en-IN"/>
          </a:p>
        </p:txBody>
      </p:sp>
      <p:sp>
        <p:nvSpPr>
          <p:cNvPr id="50" name="Text 43"/>
          <p:cNvSpPr txBox="1"/>
          <p:nvPr/>
        </p:nvSpPr>
        <p:spPr>
          <a:xfrm>
            <a:off x="2414016" y="2372868"/>
            <a:ext cx="1133856" cy="155448"/>
          </a:xfrm>
          <a:prstGeom prst="rect">
            <a:avLst/>
          </a:prstGeom>
          <a:noFill/>
          <a:ln/>
        </p:spPr>
        <p:txBody>
          <a:bodyPr wrap="square" lIns="0" tIns="0" rIns="0" bIns="0" rtlCol="0" anchor="t"/>
          <a:lstStyle/>
          <a:p>
            <a:pPr marL="0" indent="0">
              <a:buNone/>
            </a:pPr>
            <a:r>
              <a:rPr lang="en-US" sz="920" dirty="0">
                <a:solidFill>
                  <a:srgbClr val="3D342D"/>
                </a:solidFill>
                <a:latin typeface="Arial" pitchFamily="34" charset="0"/>
                <a:ea typeface="Arial" pitchFamily="34" charset="-122"/>
                <a:cs typeface="Arial" pitchFamily="34" charset="-120"/>
              </a:rPr>
              <a:t>Classify each slot</a:t>
            </a:r>
            <a:endParaRPr lang="en-US" sz="1050" dirty="0"/>
          </a:p>
        </p:txBody>
      </p:sp>
      <p:sp>
        <p:nvSpPr>
          <p:cNvPr id="51" name="Text 44"/>
          <p:cNvSpPr txBox="1"/>
          <p:nvPr/>
        </p:nvSpPr>
        <p:spPr>
          <a:xfrm>
            <a:off x="2414016" y="2578608"/>
            <a:ext cx="457200" cy="219456"/>
          </a:xfrm>
          <a:prstGeom prst="roundRect">
            <a:avLst>
              <a:gd name="adj" fmla="val 50000"/>
            </a:avLst>
          </a:prstGeom>
          <a:solidFill>
            <a:srgbClr val="1FBF75"/>
          </a:solidFill>
          <a:ln/>
        </p:spPr>
        <p:txBody>
          <a:bodyPr wrap="square" lIns="0" tIns="0" rIns="0" bIns="0" rtlCol="0" anchor="ctr"/>
          <a:lstStyle/>
          <a:p>
            <a:pPr marL="0" indent="0" algn="ctr">
              <a:buNone/>
            </a:pPr>
            <a:r>
              <a:rPr lang="en-US" sz="790" b="1" dirty="0">
                <a:solidFill>
                  <a:srgbClr val="FFFFFF"/>
                </a:solidFill>
                <a:latin typeface="Arial" pitchFamily="34" charset="0"/>
                <a:ea typeface="Arial" pitchFamily="34" charset="-122"/>
                <a:cs typeface="Arial" pitchFamily="34" charset="-120"/>
              </a:rPr>
              <a:t>FREE</a:t>
            </a:r>
            <a:endParaRPr lang="en-US" sz="900" dirty="0"/>
          </a:p>
        </p:txBody>
      </p:sp>
      <p:sp>
        <p:nvSpPr>
          <p:cNvPr id="52" name="Text 45"/>
          <p:cNvSpPr txBox="1"/>
          <p:nvPr/>
        </p:nvSpPr>
        <p:spPr>
          <a:xfrm>
            <a:off x="2926080" y="2578608"/>
            <a:ext cx="621792" cy="219456"/>
          </a:xfrm>
          <a:prstGeom prst="roundRect">
            <a:avLst>
              <a:gd name="adj" fmla="val 50000"/>
            </a:avLst>
          </a:prstGeom>
          <a:solidFill>
            <a:srgbClr val="E5484D"/>
          </a:solidFill>
          <a:ln/>
        </p:spPr>
        <p:txBody>
          <a:bodyPr wrap="square" lIns="0" tIns="0" rIns="0" bIns="0" rtlCol="0" anchor="ctr"/>
          <a:lstStyle/>
          <a:p>
            <a:pPr marL="0" indent="0" algn="ctr">
              <a:buNone/>
            </a:pPr>
            <a:r>
              <a:rPr lang="en-US" sz="790" b="1" dirty="0">
                <a:solidFill>
                  <a:srgbClr val="FFFFFF"/>
                </a:solidFill>
                <a:latin typeface="Arial" pitchFamily="34" charset="0"/>
                <a:ea typeface="Arial" pitchFamily="34" charset="-122"/>
                <a:cs typeface="Arial" pitchFamily="34" charset="-120"/>
              </a:rPr>
              <a:t>OCCUPIED</a:t>
            </a:r>
            <a:endParaRPr lang="en-US" sz="900" dirty="0"/>
          </a:p>
        </p:txBody>
      </p:sp>
      <p:sp>
        <p:nvSpPr>
          <p:cNvPr id="53" name="Shape 46"/>
          <p:cNvSpPr/>
          <p:nvPr/>
        </p:nvSpPr>
        <p:spPr>
          <a:xfrm>
            <a:off x="2267712" y="2958084"/>
            <a:ext cx="73152" cy="73152"/>
          </a:xfrm>
          <a:prstGeom prst="ellipse">
            <a:avLst/>
          </a:prstGeom>
          <a:solidFill>
            <a:srgbClr val="F5A524"/>
          </a:solidFill>
          <a:ln/>
        </p:spPr>
        <p:txBody>
          <a:bodyPr/>
          <a:lstStyle/>
          <a:p>
            <a:endParaRPr lang="en-IN"/>
          </a:p>
        </p:txBody>
      </p:sp>
      <p:sp>
        <p:nvSpPr>
          <p:cNvPr id="54" name="Text 47"/>
          <p:cNvSpPr txBox="1"/>
          <p:nvPr/>
        </p:nvSpPr>
        <p:spPr>
          <a:xfrm>
            <a:off x="2414016" y="2907792"/>
            <a:ext cx="1133856" cy="310896"/>
          </a:xfrm>
          <a:prstGeom prst="rect">
            <a:avLst/>
          </a:prstGeom>
          <a:noFill/>
          <a:ln/>
        </p:spPr>
        <p:txBody>
          <a:bodyPr wrap="square" lIns="0" tIns="0" rIns="0" bIns="0" rtlCol="0" anchor="t"/>
          <a:lstStyle/>
          <a:p>
            <a:pPr marL="0" indent="0">
              <a:buNone/>
            </a:pPr>
            <a:r>
              <a:rPr lang="en-US" sz="920" dirty="0">
                <a:solidFill>
                  <a:srgbClr val="3D342D"/>
                </a:solidFill>
                <a:latin typeface="Arial" pitchFamily="34" charset="0"/>
                <a:ea typeface="Arial" pitchFamily="34" charset="-122"/>
                <a:cs typeface="Arial" pitchFamily="34" charset="-120"/>
              </a:rPr>
              <a:t>Wrong-parking detection</a:t>
            </a:r>
            <a:endParaRPr lang="en-US" sz="1050" dirty="0"/>
          </a:p>
        </p:txBody>
      </p:sp>
      <p:sp>
        <p:nvSpPr>
          <p:cNvPr id="55" name="Shape 48"/>
          <p:cNvSpPr/>
          <p:nvPr/>
        </p:nvSpPr>
        <p:spPr>
          <a:xfrm>
            <a:off x="2267712" y="3337560"/>
            <a:ext cx="73152" cy="73152"/>
          </a:xfrm>
          <a:prstGeom prst="ellipse">
            <a:avLst/>
          </a:prstGeom>
          <a:solidFill>
            <a:srgbClr val="E5484D"/>
          </a:solidFill>
          <a:ln/>
        </p:spPr>
        <p:txBody>
          <a:bodyPr/>
          <a:lstStyle/>
          <a:p>
            <a:endParaRPr lang="en-IN"/>
          </a:p>
        </p:txBody>
      </p:sp>
      <p:sp>
        <p:nvSpPr>
          <p:cNvPr id="56" name="Text 49"/>
          <p:cNvSpPr txBox="1"/>
          <p:nvPr/>
        </p:nvSpPr>
        <p:spPr>
          <a:xfrm>
            <a:off x="2414016" y="3287268"/>
            <a:ext cx="1133856" cy="310896"/>
          </a:xfrm>
          <a:prstGeom prst="rect">
            <a:avLst/>
          </a:prstGeom>
          <a:noFill/>
          <a:ln/>
        </p:spPr>
        <p:txBody>
          <a:bodyPr wrap="square" lIns="0" tIns="0" rIns="0" bIns="0" rtlCol="0" anchor="t"/>
          <a:lstStyle/>
          <a:p>
            <a:pPr marL="0" indent="0">
              <a:buNone/>
            </a:pPr>
            <a:r>
              <a:rPr lang="en-US" sz="920" dirty="0">
                <a:solidFill>
                  <a:srgbClr val="3D342D"/>
                </a:solidFill>
                <a:latin typeface="Arial" pitchFamily="34" charset="0"/>
                <a:ea typeface="Arial" pitchFamily="34" charset="-122"/>
                <a:cs typeface="Arial" pitchFamily="34" charset="-120"/>
              </a:rPr>
              <a:t>Emergency-lane blocking</a:t>
            </a:r>
            <a:endParaRPr lang="en-US" sz="1050" dirty="0"/>
          </a:p>
        </p:txBody>
      </p:sp>
      <p:sp>
        <p:nvSpPr>
          <p:cNvPr id="57" name="Shape 50"/>
          <p:cNvSpPr/>
          <p:nvPr/>
        </p:nvSpPr>
        <p:spPr>
          <a:xfrm>
            <a:off x="2267712" y="3717036"/>
            <a:ext cx="73152" cy="73152"/>
          </a:xfrm>
          <a:prstGeom prst="ellipse">
            <a:avLst/>
          </a:prstGeom>
          <a:solidFill>
            <a:srgbClr val="F86425"/>
          </a:solidFill>
          <a:ln/>
        </p:spPr>
        <p:txBody>
          <a:bodyPr/>
          <a:lstStyle/>
          <a:p>
            <a:endParaRPr lang="en-IN"/>
          </a:p>
        </p:txBody>
      </p:sp>
      <p:sp>
        <p:nvSpPr>
          <p:cNvPr id="58" name="Text 51"/>
          <p:cNvSpPr txBox="1"/>
          <p:nvPr/>
        </p:nvSpPr>
        <p:spPr>
          <a:xfrm>
            <a:off x="2414016" y="3666744"/>
            <a:ext cx="1133856" cy="155448"/>
          </a:xfrm>
          <a:prstGeom prst="rect">
            <a:avLst/>
          </a:prstGeom>
          <a:noFill/>
          <a:ln/>
        </p:spPr>
        <p:txBody>
          <a:bodyPr wrap="square" lIns="0" tIns="0" rIns="0" bIns="0" rtlCol="0" anchor="t"/>
          <a:lstStyle/>
          <a:p>
            <a:pPr marL="0" indent="0">
              <a:buNone/>
            </a:pPr>
            <a:r>
              <a:rPr lang="en-US" sz="920" dirty="0">
                <a:solidFill>
                  <a:srgbClr val="3D342D"/>
                </a:solidFill>
                <a:latin typeface="Arial" pitchFamily="34" charset="0"/>
                <a:ea typeface="Arial" pitchFamily="34" charset="-122"/>
                <a:cs typeface="Arial" pitchFamily="34" charset="-120"/>
              </a:rPr>
              <a:t>YOLO + OpenCV</a:t>
            </a:r>
            <a:endParaRPr lang="en-US" sz="1050" dirty="0"/>
          </a:p>
        </p:txBody>
      </p:sp>
      <p:sp>
        <p:nvSpPr>
          <p:cNvPr id="59" name="Shape 52"/>
          <p:cNvSpPr/>
          <p:nvPr/>
        </p:nvSpPr>
        <p:spPr>
          <a:xfrm>
            <a:off x="3959352" y="2199132"/>
            <a:ext cx="73152" cy="73152"/>
          </a:xfrm>
          <a:prstGeom prst="ellipse">
            <a:avLst/>
          </a:prstGeom>
          <a:solidFill>
            <a:srgbClr val="F86425"/>
          </a:solidFill>
          <a:ln/>
        </p:spPr>
        <p:txBody>
          <a:bodyPr/>
          <a:lstStyle/>
          <a:p>
            <a:endParaRPr lang="en-IN"/>
          </a:p>
        </p:txBody>
      </p:sp>
      <p:sp>
        <p:nvSpPr>
          <p:cNvPr id="60" name="Text 53"/>
          <p:cNvSpPr txBox="1"/>
          <p:nvPr/>
        </p:nvSpPr>
        <p:spPr>
          <a:xfrm>
            <a:off x="4105656" y="2148840"/>
            <a:ext cx="1133856" cy="310896"/>
          </a:xfrm>
          <a:prstGeom prst="rect">
            <a:avLst/>
          </a:prstGeom>
          <a:noFill/>
          <a:ln/>
        </p:spPr>
        <p:txBody>
          <a:bodyPr wrap="square" lIns="0" tIns="0" rIns="0" bIns="0" rtlCol="0" anchor="t"/>
          <a:lstStyle/>
          <a:p>
            <a:pPr marL="0" indent="0">
              <a:buNone/>
            </a:pPr>
            <a:r>
              <a:rPr lang="en-US" sz="920" dirty="0">
                <a:solidFill>
                  <a:srgbClr val="3D342D"/>
                </a:solidFill>
                <a:latin typeface="Arial" pitchFamily="34" charset="0"/>
                <a:ea typeface="Arial" pitchFamily="34" charset="-122"/>
                <a:cs typeface="Arial" pitchFamily="34" charset="-120"/>
              </a:rPr>
              <a:t>Receive AI detections</a:t>
            </a:r>
            <a:endParaRPr lang="en-US" sz="1050" dirty="0"/>
          </a:p>
        </p:txBody>
      </p:sp>
      <p:sp>
        <p:nvSpPr>
          <p:cNvPr id="61" name="Shape 54"/>
          <p:cNvSpPr/>
          <p:nvPr/>
        </p:nvSpPr>
        <p:spPr>
          <a:xfrm>
            <a:off x="3959352" y="2578608"/>
            <a:ext cx="73152" cy="73152"/>
          </a:xfrm>
          <a:prstGeom prst="ellipse">
            <a:avLst/>
          </a:prstGeom>
          <a:solidFill>
            <a:srgbClr val="1FBF75"/>
          </a:solidFill>
          <a:ln/>
        </p:spPr>
        <p:txBody>
          <a:bodyPr/>
          <a:lstStyle/>
          <a:p>
            <a:endParaRPr lang="en-IN"/>
          </a:p>
        </p:txBody>
      </p:sp>
      <p:sp>
        <p:nvSpPr>
          <p:cNvPr id="62" name="Text 55"/>
          <p:cNvSpPr txBox="1"/>
          <p:nvPr/>
        </p:nvSpPr>
        <p:spPr>
          <a:xfrm>
            <a:off x="4105656" y="2528316"/>
            <a:ext cx="1133856" cy="310896"/>
          </a:xfrm>
          <a:prstGeom prst="rect">
            <a:avLst/>
          </a:prstGeom>
          <a:noFill/>
          <a:ln/>
        </p:spPr>
        <p:txBody>
          <a:bodyPr wrap="square" lIns="0" tIns="0" rIns="0" bIns="0" rtlCol="0" anchor="t"/>
          <a:lstStyle/>
          <a:p>
            <a:pPr marL="0" indent="0">
              <a:buNone/>
            </a:pPr>
            <a:r>
              <a:rPr lang="en-US" sz="920" dirty="0">
                <a:solidFill>
                  <a:srgbClr val="3D342D"/>
                </a:solidFill>
                <a:latin typeface="Arial" pitchFamily="34" charset="0"/>
                <a:ea typeface="Arial" pitchFamily="34" charset="-122"/>
                <a:cs typeface="Arial" pitchFamily="34" charset="-120"/>
              </a:rPr>
              <a:t>Update status in real time</a:t>
            </a:r>
            <a:endParaRPr lang="en-US" sz="1050" dirty="0"/>
          </a:p>
        </p:txBody>
      </p:sp>
      <p:sp>
        <p:nvSpPr>
          <p:cNvPr id="63" name="Shape 56"/>
          <p:cNvSpPr/>
          <p:nvPr/>
        </p:nvSpPr>
        <p:spPr>
          <a:xfrm>
            <a:off x="3959352" y="2958084"/>
            <a:ext cx="73152" cy="73152"/>
          </a:xfrm>
          <a:prstGeom prst="ellipse">
            <a:avLst/>
          </a:prstGeom>
          <a:solidFill>
            <a:srgbClr val="F86425"/>
          </a:solidFill>
          <a:ln/>
        </p:spPr>
        <p:txBody>
          <a:bodyPr/>
          <a:lstStyle/>
          <a:p>
            <a:endParaRPr lang="en-IN"/>
          </a:p>
        </p:txBody>
      </p:sp>
      <p:sp>
        <p:nvSpPr>
          <p:cNvPr id="64" name="Text 57"/>
          <p:cNvSpPr txBox="1"/>
          <p:nvPr/>
        </p:nvSpPr>
        <p:spPr>
          <a:xfrm>
            <a:off x="4105656" y="2907792"/>
            <a:ext cx="1133856" cy="310896"/>
          </a:xfrm>
          <a:prstGeom prst="rect">
            <a:avLst/>
          </a:prstGeom>
          <a:noFill/>
          <a:ln/>
        </p:spPr>
        <p:txBody>
          <a:bodyPr wrap="square" lIns="0" tIns="0" rIns="0" bIns="0" rtlCol="0" anchor="t"/>
          <a:lstStyle/>
          <a:p>
            <a:pPr marL="0" indent="0">
              <a:buNone/>
            </a:pPr>
            <a:r>
              <a:rPr lang="en-US" sz="920" dirty="0">
                <a:solidFill>
                  <a:srgbClr val="3D342D"/>
                </a:solidFill>
                <a:latin typeface="Arial" pitchFamily="34" charset="0"/>
                <a:ea typeface="Arial" pitchFamily="34" charset="-122"/>
                <a:cs typeface="Arial" pitchFamily="34" charset="-120"/>
              </a:rPr>
              <a:t>Store slot status &amp; vehicle events</a:t>
            </a:r>
            <a:endParaRPr lang="en-US" sz="1050" dirty="0"/>
          </a:p>
        </p:txBody>
      </p:sp>
      <p:sp>
        <p:nvSpPr>
          <p:cNvPr id="65" name="Shape 58"/>
          <p:cNvSpPr/>
          <p:nvPr/>
        </p:nvSpPr>
        <p:spPr>
          <a:xfrm>
            <a:off x="3959352" y="3337560"/>
            <a:ext cx="73152" cy="73152"/>
          </a:xfrm>
          <a:prstGeom prst="ellipse">
            <a:avLst/>
          </a:prstGeom>
          <a:solidFill>
            <a:srgbClr val="E5484D"/>
          </a:solidFill>
          <a:ln/>
        </p:spPr>
        <p:txBody>
          <a:bodyPr/>
          <a:lstStyle/>
          <a:p>
            <a:endParaRPr lang="en-IN"/>
          </a:p>
        </p:txBody>
      </p:sp>
      <p:sp>
        <p:nvSpPr>
          <p:cNvPr id="66" name="Text 59"/>
          <p:cNvSpPr txBox="1"/>
          <p:nvPr/>
        </p:nvSpPr>
        <p:spPr>
          <a:xfrm>
            <a:off x="4105656" y="3287268"/>
            <a:ext cx="1133856" cy="310896"/>
          </a:xfrm>
          <a:prstGeom prst="rect">
            <a:avLst/>
          </a:prstGeom>
          <a:noFill/>
          <a:ln/>
        </p:spPr>
        <p:txBody>
          <a:bodyPr wrap="square" lIns="0" tIns="0" rIns="0" bIns="0" rtlCol="0" anchor="t"/>
          <a:lstStyle/>
          <a:p>
            <a:pPr marL="0" indent="0">
              <a:buNone/>
            </a:pPr>
            <a:r>
              <a:rPr lang="en-US" sz="920" dirty="0">
                <a:solidFill>
                  <a:srgbClr val="3D342D"/>
                </a:solidFill>
                <a:latin typeface="Arial" pitchFamily="34" charset="0"/>
                <a:ea typeface="Arial" pitchFamily="34" charset="-122"/>
                <a:cs typeface="Arial" pitchFamily="34" charset="-120"/>
              </a:rPr>
              <a:t>Trigger violation alerts</a:t>
            </a:r>
            <a:endParaRPr lang="en-US" sz="1050" dirty="0"/>
          </a:p>
        </p:txBody>
      </p:sp>
      <p:sp>
        <p:nvSpPr>
          <p:cNvPr id="67" name="Text 60"/>
          <p:cNvSpPr txBox="1"/>
          <p:nvPr/>
        </p:nvSpPr>
        <p:spPr>
          <a:xfrm>
            <a:off x="3959352" y="3794760"/>
            <a:ext cx="1225296" cy="237744"/>
          </a:xfrm>
          <a:prstGeom prst="roundRect">
            <a:avLst>
              <a:gd name="adj" fmla="val 50000"/>
            </a:avLst>
          </a:prstGeom>
          <a:solidFill>
            <a:srgbClr val="FBF8F5"/>
          </a:solidFill>
          <a:ln/>
        </p:spPr>
        <p:txBody>
          <a:bodyPr wrap="square" lIns="0" tIns="0" rIns="0" bIns="0" rtlCol="0" anchor="ctr"/>
          <a:lstStyle/>
          <a:p>
            <a:pPr marL="0" indent="0" algn="ctr">
              <a:buNone/>
            </a:pPr>
            <a:r>
              <a:rPr lang="en-US" sz="790" b="1" dirty="0">
                <a:solidFill>
                  <a:srgbClr val="3D342D"/>
                </a:solidFill>
                <a:latin typeface="Arial" pitchFamily="34" charset="0"/>
                <a:ea typeface="Arial" pitchFamily="34" charset="-122"/>
                <a:cs typeface="Arial" pitchFamily="34" charset="-120"/>
              </a:rPr>
              <a:t>API  ·  DB  ·  WebSocket</a:t>
            </a:r>
            <a:endParaRPr lang="en-US" sz="900" dirty="0"/>
          </a:p>
        </p:txBody>
      </p:sp>
      <p:sp>
        <p:nvSpPr>
          <p:cNvPr id="68" name="Text 61"/>
          <p:cNvSpPr txBox="1"/>
          <p:nvPr/>
        </p:nvSpPr>
        <p:spPr>
          <a:xfrm>
            <a:off x="5650992" y="1828800"/>
            <a:ext cx="914400" cy="201168"/>
          </a:xfrm>
          <a:prstGeom prst="rect">
            <a:avLst/>
          </a:prstGeom>
          <a:noFill/>
          <a:ln/>
        </p:spPr>
        <p:txBody>
          <a:bodyPr wrap="square" lIns="0" tIns="0" rIns="0" bIns="0" rtlCol="0" anchor="ctr"/>
          <a:lstStyle/>
          <a:p>
            <a:pPr marL="0" indent="0">
              <a:buNone/>
            </a:pPr>
            <a:r>
              <a:rPr lang="en-US" sz="920" dirty="0">
                <a:solidFill>
                  <a:srgbClr val="3D342D"/>
                </a:solidFill>
                <a:latin typeface="Arial" pitchFamily="34" charset="0"/>
                <a:ea typeface="Arial" pitchFamily="34" charset="-122"/>
                <a:cs typeface="Arial" pitchFamily="34" charset="-120"/>
              </a:rPr>
              <a:t>Total slots</a:t>
            </a:r>
            <a:endParaRPr lang="en-US" sz="1050" dirty="0"/>
          </a:p>
        </p:txBody>
      </p:sp>
      <p:sp>
        <p:nvSpPr>
          <p:cNvPr id="69" name="Text 62"/>
          <p:cNvSpPr txBox="1"/>
          <p:nvPr/>
        </p:nvSpPr>
        <p:spPr>
          <a:xfrm>
            <a:off x="6492240" y="1828800"/>
            <a:ext cx="384048" cy="201168"/>
          </a:xfrm>
          <a:prstGeom prst="rect">
            <a:avLst/>
          </a:prstGeom>
          <a:noFill/>
          <a:ln/>
        </p:spPr>
        <p:txBody>
          <a:bodyPr wrap="square" lIns="0" tIns="0" rIns="0" bIns="0" rtlCol="0" anchor="ctr"/>
          <a:lstStyle/>
          <a:p>
            <a:pPr marL="0" indent="0" algn="r">
              <a:buNone/>
            </a:pPr>
            <a:r>
              <a:rPr lang="en-US" sz="1010" b="1" dirty="0">
                <a:solidFill>
                  <a:srgbClr val="3D342D"/>
                </a:solidFill>
                <a:latin typeface="Arial" pitchFamily="34" charset="0"/>
                <a:ea typeface="Arial" pitchFamily="34" charset="-122"/>
                <a:cs typeface="Arial" pitchFamily="34" charset="-120"/>
              </a:rPr>
              <a:t>40</a:t>
            </a:r>
            <a:endParaRPr lang="en-US" sz="1150" dirty="0"/>
          </a:p>
        </p:txBody>
      </p:sp>
      <p:sp>
        <p:nvSpPr>
          <p:cNvPr id="70" name="Text 63"/>
          <p:cNvSpPr txBox="1"/>
          <p:nvPr/>
        </p:nvSpPr>
        <p:spPr>
          <a:xfrm>
            <a:off x="5650992" y="2057400"/>
            <a:ext cx="914400" cy="201168"/>
          </a:xfrm>
          <a:prstGeom prst="rect">
            <a:avLst/>
          </a:prstGeom>
          <a:noFill/>
          <a:ln/>
        </p:spPr>
        <p:txBody>
          <a:bodyPr wrap="square" lIns="0" tIns="0" rIns="0" bIns="0" rtlCol="0" anchor="ctr"/>
          <a:lstStyle/>
          <a:p>
            <a:pPr marL="0" indent="0">
              <a:buNone/>
            </a:pPr>
            <a:r>
              <a:rPr lang="en-US" sz="920" dirty="0">
                <a:solidFill>
                  <a:srgbClr val="3D342D"/>
                </a:solidFill>
                <a:latin typeface="Arial" pitchFamily="34" charset="0"/>
                <a:ea typeface="Arial" pitchFamily="34" charset="-122"/>
                <a:cs typeface="Arial" pitchFamily="34" charset="-120"/>
              </a:rPr>
              <a:t>Available</a:t>
            </a:r>
            <a:endParaRPr lang="en-US" sz="1050" dirty="0"/>
          </a:p>
        </p:txBody>
      </p:sp>
      <p:sp>
        <p:nvSpPr>
          <p:cNvPr id="71" name="Text 64"/>
          <p:cNvSpPr txBox="1"/>
          <p:nvPr/>
        </p:nvSpPr>
        <p:spPr>
          <a:xfrm>
            <a:off x="6492240" y="2057400"/>
            <a:ext cx="384048" cy="201168"/>
          </a:xfrm>
          <a:prstGeom prst="rect">
            <a:avLst/>
          </a:prstGeom>
          <a:noFill/>
          <a:ln/>
        </p:spPr>
        <p:txBody>
          <a:bodyPr wrap="square" lIns="0" tIns="0" rIns="0" bIns="0" rtlCol="0" anchor="ctr"/>
          <a:lstStyle/>
          <a:p>
            <a:pPr marL="0" indent="0" algn="r">
              <a:buNone/>
            </a:pPr>
            <a:r>
              <a:rPr lang="en-US" sz="1010" b="1" dirty="0">
                <a:solidFill>
                  <a:srgbClr val="1FBF75"/>
                </a:solidFill>
                <a:latin typeface="Arial" pitchFamily="34" charset="0"/>
                <a:ea typeface="Arial" pitchFamily="34" charset="-122"/>
                <a:cs typeface="Arial" pitchFamily="34" charset="-120"/>
              </a:rPr>
              <a:t>12</a:t>
            </a:r>
            <a:endParaRPr lang="en-US" sz="1150" dirty="0"/>
          </a:p>
        </p:txBody>
      </p:sp>
      <p:sp>
        <p:nvSpPr>
          <p:cNvPr id="72" name="Text 65"/>
          <p:cNvSpPr txBox="1"/>
          <p:nvPr/>
        </p:nvSpPr>
        <p:spPr>
          <a:xfrm>
            <a:off x="5650992" y="2286000"/>
            <a:ext cx="914400" cy="201168"/>
          </a:xfrm>
          <a:prstGeom prst="rect">
            <a:avLst/>
          </a:prstGeom>
          <a:noFill/>
          <a:ln/>
        </p:spPr>
        <p:txBody>
          <a:bodyPr wrap="square" lIns="0" tIns="0" rIns="0" bIns="0" rtlCol="0" anchor="ctr"/>
          <a:lstStyle/>
          <a:p>
            <a:pPr marL="0" indent="0">
              <a:buNone/>
            </a:pPr>
            <a:r>
              <a:rPr lang="en-US" sz="920" dirty="0">
                <a:solidFill>
                  <a:srgbClr val="3D342D"/>
                </a:solidFill>
                <a:latin typeface="Arial" pitchFamily="34" charset="0"/>
                <a:ea typeface="Arial" pitchFamily="34" charset="-122"/>
                <a:cs typeface="Arial" pitchFamily="34" charset="-120"/>
              </a:rPr>
              <a:t>Occupied</a:t>
            </a:r>
            <a:endParaRPr lang="en-US" sz="1050" dirty="0"/>
          </a:p>
        </p:txBody>
      </p:sp>
      <p:sp>
        <p:nvSpPr>
          <p:cNvPr id="73" name="Text 66"/>
          <p:cNvSpPr txBox="1"/>
          <p:nvPr/>
        </p:nvSpPr>
        <p:spPr>
          <a:xfrm>
            <a:off x="6492240" y="2286000"/>
            <a:ext cx="384048" cy="201168"/>
          </a:xfrm>
          <a:prstGeom prst="rect">
            <a:avLst/>
          </a:prstGeom>
          <a:noFill/>
          <a:ln/>
        </p:spPr>
        <p:txBody>
          <a:bodyPr wrap="square" lIns="0" tIns="0" rIns="0" bIns="0" rtlCol="0" anchor="ctr"/>
          <a:lstStyle/>
          <a:p>
            <a:pPr marL="0" indent="0" algn="r">
              <a:buNone/>
            </a:pPr>
            <a:r>
              <a:rPr lang="en-US" sz="1010" b="1" dirty="0">
                <a:solidFill>
                  <a:srgbClr val="E5484D"/>
                </a:solidFill>
                <a:latin typeface="Arial" pitchFamily="34" charset="0"/>
                <a:ea typeface="Arial" pitchFamily="34" charset="-122"/>
                <a:cs typeface="Arial" pitchFamily="34" charset="-120"/>
              </a:rPr>
              <a:t>28</a:t>
            </a:r>
            <a:endParaRPr lang="en-US" sz="1150" dirty="0"/>
          </a:p>
        </p:txBody>
      </p:sp>
      <p:sp>
        <p:nvSpPr>
          <p:cNvPr id="74" name="Text 67"/>
          <p:cNvSpPr txBox="1"/>
          <p:nvPr/>
        </p:nvSpPr>
        <p:spPr>
          <a:xfrm>
            <a:off x="5650992" y="2514600"/>
            <a:ext cx="914400" cy="201168"/>
          </a:xfrm>
          <a:prstGeom prst="rect">
            <a:avLst/>
          </a:prstGeom>
          <a:noFill/>
          <a:ln/>
        </p:spPr>
        <p:txBody>
          <a:bodyPr wrap="square" lIns="0" tIns="0" rIns="0" bIns="0" rtlCol="0" anchor="ctr"/>
          <a:lstStyle/>
          <a:p>
            <a:pPr marL="0" indent="0">
              <a:buNone/>
            </a:pPr>
            <a:r>
              <a:rPr lang="en-US" sz="920" dirty="0">
                <a:solidFill>
                  <a:srgbClr val="3D342D"/>
                </a:solidFill>
                <a:latin typeface="Arial" pitchFamily="34" charset="0"/>
                <a:ea typeface="Arial" pitchFamily="34" charset="-122"/>
                <a:cs typeface="Arial" pitchFamily="34" charset="-120"/>
              </a:rPr>
              <a:t>Wrong parking</a:t>
            </a:r>
            <a:endParaRPr lang="en-US" sz="1050" dirty="0"/>
          </a:p>
        </p:txBody>
      </p:sp>
      <p:sp>
        <p:nvSpPr>
          <p:cNvPr id="75" name="Text 68"/>
          <p:cNvSpPr txBox="1"/>
          <p:nvPr/>
        </p:nvSpPr>
        <p:spPr>
          <a:xfrm>
            <a:off x="6492240" y="2514600"/>
            <a:ext cx="384048" cy="201168"/>
          </a:xfrm>
          <a:prstGeom prst="rect">
            <a:avLst/>
          </a:prstGeom>
          <a:noFill/>
          <a:ln/>
        </p:spPr>
        <p:txBody>
          <a:bodyPr wrap="square" lIns="0" tIns="0" rIns="0" bIns="0" rtlCol="0" anchor="ctr"/>
          <a:lstStyle/>
          <a:p>
            <a:pPr marL="0" indent="0" algn="r">
              <a:buNone/>
            </a:pPr>
            <a:r>
              <a:rPr lang="en-US" sz="1010" b="1" dirty="0">
                <a:solidFill>
                  <a:srgbClr val="F5A524"/>
                </a:solidFill>
                <a:latin typeface="Arial" pitchFamily="34" charset="0"/>
                <a:ea typeface="Arial" pitchFamily="34" charset="-122"/>
                <a:cs typeface="Arial" pitchFamily="34" charset="-120"/>
              </a:rPr>
              <a:t>2</a:t>
            </a:r>
            <a:endParaRPr lang="en-US" sz="1150" dirty="0"/>
          </a:p>
        </p:txBody>
      </p:sp>
      <p:sp>
        <p:nvSpPr>
          <p:cNvPr id="76" name="Text 69"/>
          <p:cNvSpPr txBox="1"/>
          <p:nvPr/>
        </p:nvSpPr>
        <p:spPr>
          <a:xfrm>
            <a:off x="5650992" y="2743200"/>
            <a:ext cx="1188720" cy="182880"/>
          </a:xfrm>
          <a:prstGeom prst="rect">
            <a:avLst/>
          </a:prstGeom>
          <a:noFill/>
          <a:ln/>
        </p:spPr>
        <p:txBody>
          <a:bodyPr wrap="square" lIns="0" tIns="0" rIns="0" bIns="0" rtlCol="0" anchor="ctr"/>
          <a:lstStyle/>
          <a:p>
            <a:pPr marL="0" indent="0">
              <a:buNone/>
            </a:pPr>
            <a:r>
              <a:rPr lang="en-US" sz="920" dirty="0">
                <a:solidFill>
                  <a:srgbClr val="3D342D"/>
                </a:solidFill>
                <a:latin typeface="Arial" pitchFamily="34" charset="0"/>
                <a:ea typeface="Arial" pitchFamily="34" charset="-122"/>
                <a:cs typeface="Arial" pitchFamily="34" charset="-120"/>
              </a:rPr>
              <a:t>Emergency lane</a:t>
            </a:r>
            <a:endParaRPr lang="en-US" sz="1050" dirty="0"/>
          </a:p>
        </p:txBody>
      </p:sp>
      <p:sp>
        <p:nvSpPr>
          <p:cNvPr id="77" name="Text 70"/>
          <p:cNvSpPr txBox="1"/>
          <p:nvPr/>
        </p:nvSpPr>
        <p:spPr>
          <a:xfrm>
            <a:off x="5650992" y="2944368"/>
            <a:ext cx="658368" cy="182880"/>
          </a:xfrm>
          <a:prstGeom prst="roundRect">
            <a:avLst>
              <a:gd name="adj" fmla="val 50000"/>
            </a:avLst>
          </a:prstGeom>
          <a:solidFill>
            <a:srgbClr val="E5484D"/>
          </a:solidFill>
          <a:ln/>
        </p:spPr>
        <p:txBody>
          <a:bodyPr wrap="square" lIns="0" tIns="0" rIns="0" bIns="0" rtlCol="0" anchor="ctr"/>
          <a:lstStyle/>
          <a:p>
            <a:pPr marL="0" indent="0" algn="ctr">
              <a:buNone/>
            </a:pPr>
            <a:r>
              <a:rPr lang="en-US" sz="740" b="1" dirty="0">
                <a:solidFill>
                  <a:srgbClr val="FFFFFF"/>
                </a:solidFill>
                <a:latin typeface="Arial" pitchFamily="34" charset="0"/>
                <a:ea typeface="Arial" pitchFamily="34" charset="-122"/>
                <a:cs typeface="Arial" pitchFamily="34" charset="-120"/>
              </a:rPr>
              <a:t>BLOCKED</a:t>
            </a:r>
            <a:endParaRPr lang="en-US" sz="850" dirty="0"/>
          </a:p>
        </p:txBody>
      </p:sp>
      <p:sp>
        <p:nvSpPr>
          <p:cNvPr id="78" name="Text 71"/>
          <p:cNvSpPr txBox="1"/>
          <p:nvPr/>
        </p:nvSpPr>
        <p:spPr>
          <a:xfrm>
            <a:off x="5650992" y="3246120"/>
            <a:ext cx="1188720" cy="182880"/>
          </a:xfrm>
          <a:prstGeom prst="rect">
            <a:avLst/>
          </a:prstGeom>
          <a:noFill/>
          <a:ln/>
        </p:spPr>
        <p:txBody>
          <a:bodyPr wrap="square" lIns="0" tIns="0" rIns="0" bIns="0" rtlCol="0" anchor="ctr"/>
          <a:lstStyle/>
          <a:p>
            <a:pPr marL="0" indent="0">
              <a:buNone/>
            </a:pPr>
            <a:r>
              <a:rPr lang="en-US" sz="920" b="1" dirty="0">
                <a:solidFill>
                  <a:srgbClr val="3D342D"/>
                </a:solidFill>
                <a:latin typeface="Arial" pitchFamily="34" charset="0"/>
                <a:ea typeface="Arial" pitchFamily="34" charset="-122"/>
                <a:cs typeface="Arial" pitchFamily="34" charset="-120"/>
              </a:rPr>
              <a:t>Live parking map</a:t>
            </a:r>
            <a:endParaRPr lang="en-US" sz="1050" dirty="0"/>
          </a:p>
        </p:txBody>
      </p:sp>
      <p:sp>
        <p:nvSpPr>
          <p:cNvPr id="79" name="Shape 72"/>
          <p:cNvSpPr/>
          <p:nvPr/>
        </p:nvSpPr>
        <p:spPr>
          <a:xfrm>
            <a:off x="5650992" y="3474720"/>
            <a:ext cx="173736" cy="173736"/>
          </a:xfrm>
          <a:prstGeom prst="roundRect">
            <a:avLst>
              <a:gd name="adj" fmla="val 15789"/>
            </a:avLst>
          </a:prstGeom>
          <a:solidFill>
            <a:srgbClr val="E5484D"/>
          </a:solidFill>
          <a:ln/>
        </p:spPr>
        <p:txBody>
          <a:bodyPr/>
          <a:lstStyle/>
          <a:p>
            <a:endParaRPr lang="en-IN"/>
          </a:p>
        </p:txBody>
      </p:sp>
      <p:sp>
        <p:nvSpPr>
          <p:cNvPr id="80" name="Shape 73"/>
          <p:cNvSpPr/>
          <p:nvPr/>
        </p:nvSpPr>
        <p:spPr>
          <a:xfrm>
            <a:off x="5856732" y="3474720"/>
            <a:ext cx="173736" cy="173736"/>
          </a:xfrm>
          <a:prstGeom prst="roundRect">
            <a:avLst>
              <a:gd name="adj" fmla="val 15789"/>
            </a:avLst>
          </a:prstGeom>
          <a:solidFill>
            <a:srgbClr val="1FBF75"/>
          </a:solidFill>
          <a:ln/>
        </p:spPr>
        <p:txBody>
          <a:bodyPr/>
          <a:lstStyle/>
          <a:p>
            <a:endParaRPr lang="en-IN"/>
          </a:p>
        </p:txBody>
      </p:sp>
      <p:sp>
        <p:nvSpPr>
          <p:cNvPr id="81" name="Shape 74"/>
          <p:cNvSpPr/>
          <p:nvPr/>
        </p:nvSpPr>
        <p:spPr>
          <a:xfrm>
            <a:off x="6062472" y="3474720"/>
            <a:ext cx="173736" cy="173736"/>
          </a:xfrm>
          <a:prstGeom prst="roundRect">
            <a:avLst>
              <a:gd name="adj" fmla="val 15789"/>
            </a:avLst>
          </a:prstGeom>
          <a:solidFill>
            <a:srgbClr val="E5484D"/>
          </a:solidFill>
          <a:ln/>
        </p:spPr>
        <p:txBody>
          <a:bodyPr/>
          <a:lstStyle/>
          <a:p>
            <a:endParaRPr lang="en-IN"/>
          </a:p>
        </p:txBody>
      </p:sp>
      <p:sp>
        <p:nvSpPr>
          <p:cNvPr id="82" name="Shape 75"/>
          <p:cNvSpPr/>
          <p:nvPr/>
        </p:nvSpPr>
        <p:spPr>
          <a:xfrm>
            <a:off x="6268212" y="3474720"/>
            <a:ext cx="173736" cy="173736"/>
          </a:xfrm>
          <a:prstGeom prst="roundRect">
            <a:avLst>
              <a:gd name="adj" fmla="val 15789"/>
            </a:avLst>
          </a:prstGeom>
          <a:solidFill>
            <a:srgbClr val="E5484D"/>
          </a:solidFill>
          <a:ln/>
        </p:spPr>
        <p:txBody>
          <a:bodyPr/>
          <a:lstStyle/>
          <a:p>
            <a:endParaRPr lang="en-IN"/>
          </a:p>
        </p:txBody>
      </p:sp>
      <p:sp>
        <p:nvSpPr>
          <p:cNvPr id="83" name="Shape 76"/>
          <p:cNvSpPr/>
          <p:nvPr/>
        </p:nvSpPr>
        <p:spPr>
          <a:xfrm>
            <a:off x="6473952" y="3474720"/>
            <a:ext cx="173736" cy="173736"/>
          </a:xfrm>
          <a:prstGeom prst="roundRect">
            <a:avLst>
              <a:gd name="adj" fmla="val 15789"/>
            </a:avLst>
          </a:prstGeom>
          <a:solidFill>
            <a:srgbClr val="1FBF75"/>
          </a:solidFill>
          <a:ln w="25400">
            <a:solidFill>
              <a:srgbClr val="F5A524"/>
            </a:solidFill>
            <a:prstDash val="solid"/>
          </a:ln>
        </p:spPr>
        <p:txBody>
          <a:bodyPr/>
          <a:lstStyle/>
          <a:p>
            <a:endParaRPr lang="en-IN"/>
          </a:p>
        </p:txBody>
      </p:sp>
      <p:sp>
        <p:nvSpPr>
          <p:cNvPr id="84" name="Shape 77"/>
          <p:cNvSpPr/>
          <p:nvPr/>
        </p:nvSpPr>
        <p:spPr>
          <a:xfrm>
            <a:off x="6679692" y="3474720"/>
            <a:ext cx="173736" cy="173736"/>
          </a:xfrm>
          <a:prstGeom prst="roundRect">
            <a:avLst>
              <a:gd name="adj" fmla="val 15789"/>
            </a:avLst>
          </a:prstGeom>
          <a:solidFill>
            <a:srgbClr val="E5484D"/>
          </a:solidFill>
          <a:ln/>
        </p:spPr>
        <p:txBody>
          <a:bodyPr/>
          <a:lstStyle/>
          <a:p>
            <a:endParaRPr lang="en-IN"/>
          </a:p>
        </p:txBody>
      </p:sp>
      <p:sp>
        <p:nvSpPr>
          <p:cNvPr id="85" name="Shape 78"/>
          <p:cNvSpPr/>
          <p:nvPr/>
        </p:nvSpPr>
        <p:spPr>
          <a:xfrm>
            <a:off x="5650992" y="3685032"/>
            <a:ext cx="173736" cy="173736"/>
          </a:xfrm>
          <a:prstGeom prst="roundRect">
            <a:avLst>
              <a:gd name="adj" fmla="val 15789"/>
            </a:avLst>
          </a:prstGeom>
          <a:solidFill>
            <a:srgbClr val="E5484D"/>
          </a:solidFill>
          <a:ln/>
        </p:spPr>
        <p:txBody>
          <a:bodyPr/>
          <a:lstStyle/>
          <a:p>
            <a:endParaRPr lang="en-IN"/>
          </a:p>
        </p:txBody>
      </p:sp>
      <p:sp>
        <p:nvSpPr>
          <p:cNvPr id="86" name="Shape 79"/>
          <p:cNvSpPr/>
          <p:nvPr/>
        </p:nvSpPr>
        <p:spPr>
          <a:xfrm>
            <a:off x="5856732" y="3685032"/>
            <a:ext cx="173736" cy="173736"/>
          </a:xfrm>
          <a:prstGeom prst="roundRect">
            <a:avLst>
              <a:gd name="adj" fmla="val 15789"/>
            </a:avLst>
          </a:prstGeom>
          <a:solidFill>
            <a:srgbClr val="E5484D"/>
          </a:solidFill>
          <a:ln/>
        </p:spPr>
        <p:txBody>
          <a:bodyPr/>
          <a:lstStyle/>
          <a:p>
            <a:endParaRPr lang="en-IN"/>
          </a:p>
        </p:txBody>
      </p:sp>
      <p:sp>
        <p:nvSpPr>
          <p:cNvPr id="87" name="Shape 80"/>
          <p:cNvSpPr/>
          <p:nvPr/>
        </p:nvSpPr>
        <p:spPr>
          <a:xfrm>
            <a:off x="6062472" y="3685032"/>
            <a:ext cx="173736" cy="173736"/>
          </a:xfrm>
          <a:prstGeom prst="roundRect">
            <a:avLst>
              <a:gd name="adj" fmla="val 15789"/>
            </a:avLst>
          </a:prstGeom>
          <a:solidFill>
            <a:srgbClr val="1FBF75"/>
          </a:solidFill>
          <a:ln/>
        </p:spPr>
        <p:txBody>
          <a:bodyPr/>
          <a:lstStyle/>
          <a:p>
            <a:endParaRPr lang="en-IN"/>
          </a:p>
        </p:txBody>
      </p:sp>
      <p:sp>
        <p:nvSpPr>
          <p:cNvPr id="88" name="Shape 81"/>
          <p:cNvSpPr/>
          <p:nvPr/>
        </p:nvSpPr>
        <p:spPr>
          <a:xfrm>
            <a:off x="6268212" y="3685032"/>
            <a:ext cx="173736" cy="173736"/>
          </a:xfrm>
          <a:prstGeom prst="roundRect">
            <a:avLst>
              <a:gd name="adj" fmla="val 15789"/>
            </a:avLst>
          </a:prstGeom>
          <a:solidFill>
            <a:srgbClr val="E5484D"/>
          </a:solidFill>
          <a:ln/>
        </p:spPr>
        <p:txBody>
          <a:bodyPr/>
          <a:lstStyle/>
          <a:p>
            <a:endParaRPr lang="en-IN"/>
          </a:p>
        </p:txBody>
      </p:sp>
      <p:sp>
        <p:nvSpPr>
          <p:cNvPr id="89" name="Shape 82"/>
          <p:cNvSpPr/>
          <p:nvPr/>
        </p:nvSpPr>
        <p:spPr>
          <a:xfrm>
            <a:off x="6473952" y="3685032"/>
            <a:ext cx="173736" cy="173736"/>
          </a:xfrm>
          <a:prstGeom prst="roundRect">
            <a:avLst>
              <a:gd name="adj" fmla="val 15789"/>
            </a:avLst>
          </a:prstGeom>
          <a:solidFill>
            <a:srgbClr val="1FBF75"/>
          </a:solidFill>
          <a:ln/>
        </p:spPr>
        <p:txBody>
          <a:bodyPr/>
          <a:lstStyle/>
          <a:p>
            <a:endParaRPr lang="en-IN"/>
          </a:p>
        </p:txBody>
      </p:sp>
      <p:sp>
        <p:nvSpPr>
          <p:cNvPr id="90" name="Shape 83"/>
          <p:cNvSpPr/>
          <p:nvPr/>
        </p:nvSpPr>
        <p:spPr>
          <a:xfrm>
            <a:off x="6679692" y="3685032"/>
            <a:ext cx="173736" cy="173736"/>
          </a:xfrm>
          <a:prstGeom prst="roundRect">
            <a:avLst>
              <a:gd name="adj" fmla="val 15789"/>
            </a:avLst>
          </a:prstGeom>
          <a:solidFill>
            <a:srgbClr val="E5484D"/>
          </a:solidFill>
          <a:ln/>
        </p:spPr>
        <p:txBody>
          <a:bodyPr/>
          <a:lstStyle/>
          <a:p>
            <a:endParaRPr lang="en-IN"/>
          </a:p>
        </p:txBody>
      </p:sp>
      <p:sp>
        <p:nvSpPr>
          <p:cNvPr id="91" name="Text 84"/>
          <p:cNvSpPr txBox="1"/>
          <p:nvPr/>
        </p:nvSpPr>
        <p:spPr>
          <a:xfrm>
            <a:off x="5650992" y="3913632"/>
            <a:ext cx="1280160" cy="182880"/>
          </a:xfrm>
          <a:prstGeom prst="rect">
            <a:avLst/>
          </a:prstGeom>
          <a:noFill/>
          <a:ln/>
        </p:spPr>
        <p:txBody>
          <a:bodyPr wrap="square" lIns="0" tIns="0" rIns="0" bIns="0" rtlCol="0" anchor="ctr"/>
          <a:lstStyle/>
          <a:p>
            <a:pPr marL="0" indent="0">
              <a:buNone/>
            </a:pPr>
            <a:r>
              <a:rPr lang="en-US" sz="830" i="1" dirty="0">
                <a:solidFill>
                  <a:srgbClr val="847C76"/>
                </a:solidFill>
                <a:latin typeface="Arial" pitchFamily="34" charset="0"/>
                <a:ea typeface="Arial" pitchFamily="34" charset="-122"/>
                <a:cs typeface="Arial" pitchFamily="34" charset="-120"/>
              </a:rPr>
              <a:t>Guides driver to best slot</a:t>
            </a:r>
            <a:endParaRPr lang="en-US" sz="950" dirty="0"/>
          </a:p>
        </p:txBody>
      </p:sp>
      <p:sp>
        <p:nvSpPr>
          <p:cNvPr id="92" name="Shape 85"/>
          <p:cNvSpPr/>
          <p:nvPr/>
        </p:nvSpPr>
        <p:spPr>
          <a:xfrm>
            <a:off x="7342632" y="2199132"/>
            <a:ext cx="73152" cy="73152"/>
          </a:xfrm>
          <a:prstGeom prst="ellipse">
            <a:avLst/>
          </a:prstGeom>
          <a:solidFill>
            <a:srgbClr val="1FBF75"/>
          </a:solidFill>
          <a:ln/>
        </p:spPr>
        <p:txBody>
          <a:bodyPr/>
          <a:lstStyle/>
          <a:p>
            <a:endParaRPr lang="en-IN"/>
          </a:p>
        </p:txBody>
      </p:sp>
      <p:sp>
        <p:nvSpPr>
          <p:cNvPr id="93" name="Text 86"/>
          <p:cNvSpPr txBox="1"/>
          <p:nvPr/>
        </p:nvSpPr>
        <p:spPr>
          <a:xfrm>
            <a:off x="7488936" y="2148840"/>
            <a:ext cx="1133856" cy="155448"/>
          </a:xfrm>
          <a:prstGeom prst="rect">
            <a:avLst/>
          </a:prstGeom>
          <a:noFill/>
          <a:ln/>
        </p:spPr>
        <p:txBody>
          <a:bodyPr wrap="square" lIns="0" tIns="0" rIns="0" bIns="0" rtlCol="0" anchor="t"/>
          <a:lstStyle/>
          <a:p>
            <a:pPr marL="0" indent="0">
              <a:buNone/>
            </a:pPr>
            <a:r>
              <a:rPr lang="en-US" sz="920" dirty="0">
                <a:solidFill>
                  <a:srgbClr val="3D342D"/>
                </a:solidFill>
                <a:latin typeface="Arial" pitchFamily="34" charset="0"/>
                <a:ea typeface="Arial" pitchFamily="34" charset="-122"/>
                <a:cs typeface="Arial" pitchFamily="34" charset="-120"/>
              </a:rPr>
              <a:t>Show available slot</a:t>
            </a:r>
            <a:endParaRPr lang="en-US" sz="1050" dirty="0"/>
          </a:p>
        </p:txBody>
      </p:sp>
      <p:sp>
        <p:nvSpPr>
          <p:cNvPr id="94" name="Shape 87"/>
          <p:cNvSpPr/>
          <p:nvPr/>
        </p:nvSpPr>
        <p:spPr>
          <a:xfrm>
            <a:off x="7342632" y="2423160"/>
            <a:ext cx="73152" cy="73152"/>
          </a:xfrm>
          <a:prstGeom prst="ellipse">
            <a:avLst/>
          </a:prstGeom>
          <a:solidFill>
            <a:srgbClr val="F86425"/>
          </a:solidFill>
          <a:ln/>
        </p:spPr>
        <p:txBody>
          <a:bodyPr/>
          <a:lstStyle/>
          <a:p>
            <a:endParaRPr lang="en-IN"/>
          </a:p>
        </p:txBody>
      </p:sp>
      <p:sp>
        <p:nvSpPr>
          <p:cNvPr id="95" name="Text 88"/>
          <p:cNvSpPr txBox="1"/>
          <p:nvPr/>
        </p:nvSpPr>
        <p:spPr>
          <a:xfrm>
            <a:off x="7488936" y="2372868"/>
            <a:ext cx="1133856" cy="310896"/>
          </a:xfrm>
          <a:prstGeom prst="rect">
            <a:avLst/>
          </a:prstGeom>
          <a:noFill/>
          <a:ln/>
        </p:spPr>
        <p:txBody>
          <a:bodyPr wrap="square" lIns="0" tIns="0" rIns="0" bIns="0" rtlCol="0" anchor="t"/>
          <a:lstStyle/>
          <a:p>
            <a:pPr marL="0" indent="0">
              <a:buNone/>
            </a:pPr>
            <a:r>
              <a:rPr lang="en-US" sz="920" dirty="0">
                <a:solidFill>
                  <a:srgbClr val="3D342D"/>
                </a:solidFill>
                <a:latin typeface="Arial" pitchFamily="34" charset="0"/>
                <a:ea typeface="Arial" pitchFamily="34" charset="-122"/>
                <a:cs typeface="Arial" pitchFamily="34" charset="-120"/>
              </a:rPr>
              <a:t>Navigate to selected slot</a:t>
            </a:r>
            <a:endParaRPr lang="en-US" sz="1050" dirty="0"/>
          </a:p>
        </p:txBody>
      </p:sp>
      <p:sp>
        <p:nvSpPr>
          <p:cNvPr id="96" name="Shape 89"/>
          <p:cNvSpPr/>
          <p:nvPr/>
        </p:nvSpPr>
        <p:spPr>
          <a:xfrm>
            <a:off x="7342632" y="2802636"/>
            <a:ext cx="73152" cy="73152"/>
          </a:xfrm>
          <a:prstGeom prst="ellipse">
            <a:avLst/>
          </a:prstGeom>
          <a:solidFill>
            <a:srgbClr val="F86425"/>
          </a:solidFill>
          <a:ln/>
        </p:spPr>
        <p:txBody>
          <a:bodyPr/>
          <a:lstStyle/>
          <a:p>
            <a:endParaRPr lang="en-IN"/>
          </a:p>
        </p:txBody>
      </p:sp>
      <p:sp>
        <p:nvSpPr>
          <p:cNvPr id="97" name="Text 90"/>
          <p:cNvSpPr txBox="1"/>
          <p:nvPr/>
        </p:nvSpPr>
        <p:spPr>
          <a:xfrm>
            <a:off x="7488936" y="2752344"/>
            <a:ext cx="1133856" cy="310896"/>
          </a:xfrm>
          <a:prstGeom prst="rect">
            <a:avLst/>
          </a:prstGeom>
          <a:noFill/>
          <a:ln/>
        </p:spPr>
        <p:txBody>
          <a:bodyPr wrap="square" lIns="0" tIns="0" rIns="0" bIns="0" rtlCol="0" anchor="t"/>
          <a:lstStyle/>
          <a:p>
            <a:pPr marL="0" indent="0">
              <a:buNone/>
            </a:pPr>
            <a:r>
              <a:rPr lang="en-US" sz="920" dirty="0">
                <a:solidFill>
                  <a:srgbClr val="3D342D"/>
                </a:solidFill>
                <a:latin typeface="Arial" pitchFamily="34" charset="0"/>
                <a:ea typeface="Arial" pitchFamily="34" charset="-122"/>
                <a:cs typeface="Arial" pitchFamily="34" charset="-120"/>
              </a:rPr>
              <a:t>ML: predict future availability</a:t>
            </a:r>
            <a:endParaRPr lang="en-US" sz="1050" dirty="0"/>
          </a:p>
        </p:txBody>
      </p:sp>
      <p:sp>
        <p:nvSpPr>
          <p:cNvPr id="98" name="Shape 91"/>
          <p:cNvSpPr/>
          <p:nvPr/>
        </p:nvSpPr>
        <p:spPr>
          <a:xfrm>
            <a:off x="7342632" y="3182112"/>
            <a:ext cx="73152" cy="73152"/>
          </a:xfrm>
          <a:prstGeom prst="ellipse">
            <a:avLst/>
          </a:prstGeom>
          <a:solidFill>
            <a:srgbClr val="F5A524"/>
          </a:solidFill>
          <a:ln/>
        </p:spPr>
        <p:txBody>
          <a:bodyPr/>
          <a:lstStyle/>
          <a:p>
            <a:endParaRPr lang="en-IN"/>
          </a:p>
        </p:txBody>
      </p:sp>
      <p:sp>
        <p:nvSpPr>
          <p:cNvPr id="99" name="Text 92"/>
          <p:cNvSpPr txBox="1"/>
          <p:nvPr/>
        </p:nvSpPr>
        <p:spPr>
          <a:xfrm>
            <a:off x="7488936" y="3131820"/>
            <a:ext cx="1133856" cy="155448"/>
          </a:xfrm>
          <a:prstGeom prst="rect">
            <a:avLst/>
          </a:prstGeom>
          <a:noFill/>
          <a:ln/>
        </p:spPr>
        <p:txBody>
          <a:bodyPr wrap="square" lIns="0" tIns="0" rIns="0" bIns="0" rtlCol="0" anchor="t"/>
          <a:lstStyle/>
          <a:p>
            <a:pPr marL="0" indent="0">
              <a:buNone/>
            </a:pPr>
            <a:r>
              <a:rPr lang="en-US" sz="920" dirty="0">
                <a:solidFill>
                  <a:srgbClr val="3D342D"/>
                </a:solidFill>
                <a:latin typeface="Arial" pitchFamily="34" charset="0"/>
                <a:ea typeface="Arial" pitchFamily="34" charset="-122"/>
                <a:cs typeface="Arial" pitchFamily="34" charset="-120"/>
              </a:rPr>
              <a:t>Wrong-parking alerts</a:t>
            </a:r>
            <a:endParaRPr lang="en-US" sz="1050" dirty="0"/>
          </a:p>
        </p:txBody>
      </p:sp>
      <p:sp>
        <p:nvSpPr>
          <p:cNvPr id="100" name="Shape 93"/>
          <p:cNvSpPr/>
          <p:nvPr/>
        </p:nvSpPr>
        <p:spPr>
          <a:xfrm>
            <a:off x="7342632" y="3406140"/>
            <a:ext cx="73152" cy="73152"/>
          </a:xfrm>
          <a:prstGeom prst="ellipse">
            <a:avLst/>
          </a:prstGeom>
          <a:solidFill>
            <a:srgbClr val="E5484D"/>
          </a:solidFill>
          <a:ln/>
        </p:spPr>
        <p:txBody>
          <a:bodyPr/>
          <a:lstStyle/>
          <a:p>
            <a:endParaRPr lang="en-IN"/>
          </a:p>
        </p:txBody>
      </p:sp>
      <p:sp>
        <p:nvSpPr>
          <p:cNvPr id="101" name="Text 94"/>
          <p:cNvSpPr txBox="1"/>
          <p:nvPr/>
        </p:nvSpPr>
        <p:spPr>
          <a:xfrm>
            <a:off x="7488936" y="3355848"/>
            <a:ext cx="1133856" cy="310896"/>
          </a:xfrm>
          <a:prstGeom prst="rect">
            <a:avLst/>
          </a:prstGeom>
          <a:noFill/>
          <a:ln/>
        </p:spPr>
        <p:txBody>
          <a:bodyPr wrap="square" lIns="0" tIns="0" rIns="0" bIns="0" rtlCol="0" anchor="t"/>
          <a:lstStyle/>
          <a:p>
            <a:pPr marL="0" indent="0">
              <a:buNone/>
            </a:pPr>
            <a:r>
              <a:rPr lang="en-US" sz="920" dirty="0">
                <a:solidFill>
                  <a:srgbClr val="3D342D"/>
                </a:solidFill>
                <a:latin typeface="Arial" pitchFamily="34" charset="0"/>
                <a:ea typeface="Arial" pitchFamily="34" charset="-122"/>
                <a:cs typeface="Arial" pitchFamily="34" charset="-120"/>
              </a:rPr>
              <a:t>Emergency-lane alerts</a:t>
            </a:r>
            <a:endParaRPr lang="en-US" sz="1050" dirty="0"/>
          </a:p>
        </p:txBody>
      </p:sp>
      <p:sp>
        <p:nvSpPr>
          <p:cNvPr id="102" name="Shape 95"/>
          <p:cNvSpPr/>
          <p:nvPr/>
        </p:nvSpPr>
        <p:spPr>
          <a:xfrm>
            <a:off x="457200" y="4315968"/>
            <a:ext cx="8229600" cy="457200"/>
          </a:xfrm>
          <a:prstGeom prst="roundRect">
            <a:avLst>
              <a:gd name="adj" fmla="val 20000"/>
            </a:avLst>
          </a:prstGeom>
          <a:solidFill>
            <a:srgbClr val="4F433A"/>
          </a:solidFill>
          <a:ln/>
          <a:effectLst>
            <a:outerShdw blurRad="127000" dist="38100" dir="5400000" algn="bl" rotWithShape="0">
              <a:srgbClr val="000000">
                <a:alpha val="35000"/>
              </a:srgbClr>
            </a:outerShdw>
          </a:effectLst>
        </p:spPr>
        <p:txBody>
          <a:bodyPr/>
          <a:lstStyle/>
          <a:p>
            <a:endParaRPr lang="en-IN"/>
          </a:p>
        </p:txBody>
      </p:sp>
      <p:sp>
        <p:nvSpPr>
          <p:cNvPr id="103" name="Text 96"/>
          <p:cNvSpPr txBox="1"/>
          <p:nvPr/>
        </p:nvSpPr>
        <p:spPr>
          <a:xfrm>
            <a:off x="594360" y="4315968"/>
            <a:ext cx="1143000" cy="457200"/>
          </a:xfrm>
          <a:prstGeom prst="rect">
            <a:avLst/>
          </a:prstGeom>
          <a:noFill/>
          <a:ln/>
        </p:spPr>
        <p:txBody>
          <a:bodyPr wrap="square" lIns="0" tIns="0" rIns="0" bIns="0" rtlCol="0" anchor="ctr"/>
          <a:lstStyle/>
          <a:p>
            <a:pPr marL="0" indent="0">
              <a:buNone/>
            </a:pPr>
            <a:r>
              <a:rPr lang="en-US" sz="920" b="1" kern="0" spc="100" dirty="0">
                <a:solidFill>
                  <a:srgbClr val="1FBF75"/>
                </a:solidFill>
                <a:latin typeface="Arial" pitchFamily="34" charset="0"/>
                <a:ea typeface="Arial" pitchFamily="34" charset="-122"/>
                <a:cs typeface="Arial" pitchFamily="34" charset="-120"/>
              </a:rPr>
              <a:t>SMART OUTCOMES</a:t>
            </a:r>
            <a:endParaRPr lang="en-US" sz="1050" dirty="0"/>
          </a:p>
        </p:txBody>
      </p:sp>
      <p:sp>
        <p:nvSpPr>
          <p:cNvPr id="104" name="Shape 97"/>
          <p:cNvSpPr/>
          <p:nvPr/>
        </p:nvSpPr>
        <p:spPr>
          <a:xfrm>
            <a:off x="1892808" y="4503420"/>
            <a:ext cx="82296" cy="82296"/>
          </a:xfrm>
          <a:prstGeom prst="ellipse">
            <a:avLst/>
          </a:prstGeom>
          <a:solidFill>
            <a:srgbClr val="1FBF75"/>
          </a:solidFill>
          <a:ln/>
        </p:spPr>
        <p:txBody>
          <a:bodyPr/>
          <a:lstStyle/>
          <a:p>
            <a:endParaRPr lang="en-IN"/>
          </a:p>
        </p:txBody>
      </p:sp>
      <p:sp>
        <p:nvSpPr>
          <p:cNvPr id="105" name="Text 98"/>
          <p:cNvSpPr txBox="1"/>
          <p:nvPr/>
        </p:nvSpPr>
        <p:spPr>
          <a:xfrm>
            <a:off x="2029968" y="4315968"/>
            <a:ext cx="996696" cy="457200"/>
          </a:xfrm>
          <a:prstGeom prst="rect">
            <a:avLst/>
          </a:prstGeom>
          <a:noFill/>
          <a:ln/>
        </p:spPr>
        <p:txBody>
          <a:bodyPr wrap="square" lIns="0" tIns="0" rIns="0" bIns="0" rtlCol="0" anchor="ctr"/>
          <a:lstStyle/>
          <a:p>
            <a:pPr marL="0" indent="0">
              <a:buNone/>
            </a:pPr>
            <a:r>
              <a:rPr lang="en-US" sz="880" b="1" dirty="0">
                <a:solidFill>
                  <a:srgbClr val="FFFFFF"/>
                </a:solidFill>
                <a:latin typeface="Arial" pitchFamily="34" charset="0"/>
                <a:ea typeface="Arial" pitchFamily="34" charset="-122"/>
                <a:cs typeface="Arial" pitchFamily="34" charset="-120"/>
              </a:rPr>
              <a:t>Live Availability</a:t>
            </a:r>
            <a:endParaRPr lang="en-US" sz="1000" dirty="0"/>
          </a:p>
        </p:txBody>
      </p:sp>
      <p:sp>
        <p:nvSpPr>
          <p:cNvPr id="106" name="Shape 99"/>
          <p:cNvSpPr/>
          <p:nvPr/>
        </p:nvSpPr>
        <p:spPr>
          <a:xfrm>
            <a:off x="3054096" y="4425696"/>
            <a:ext cx="0" cy="237744"/>
          </a:xfrm>
          <a:prstGeom prst="line">
            <a:avLst/>
          </a:prstGeom>
          <a:noFill/>
          <a:ln w="12700">
            <a:solidFill>
              <a:srgbClr val="66574C"/>
            </a:solidFill>
            <a:prstDash val="solid"/>
          </a:ln>
        </p:spPr>
        <p:txBody>
          <a:bodyPr/>
          <a:lstStyle/>
          <a:p>
            <a:endParaRPr lang="en-IN"/>
          </a:p>
        </p:txBody>
      </p:sp>
      <p:sp>
        <p:nvSpPr>
          <p:cNvPr id="107" name="Shape 100"/>
          <p:cNvSpPr/>
          <p:nvPr/>
        </p:nvSpPr>
        <p:spPr>
          <a:xfrm>
            <a:off x="3163824" y="4503420"/>
            <a:ext cx="82296" cy="82296"/>
          </a:xfrm>
          <a:prstGeom prst="ellipse">
            <a:avLst/>
          </a:prstGeom>
          <a:solidFill>
            <a:srgbClr val="F5A524"/>
          </a:solidFill>
          <a:ln/>
        </p:spPr>
        <p:txBody>
          <a:bodyPr/>
          <a:lstStyle/>
          <a:p>
            <a:endParaRPr lang="en-IN"/>
          </a:p>
        </p:txBody>
      </p:sp>
      <p:sp>
        <p:nvSpPr>
          <p:cNvPr id="108" name="Text 101"/>
          <p:cNvSpPr txBox="1"/>
          <p:nvPr/>
        </p:nvSpPr>
        <p:spPr>
          <a:xfrm>
            <a:off x="3300984" y="4315968"/>
            <a:ext cx="996696" cy="457200"/>
          </a:xfrm>
          <a:prstGeom prst="rect">
            <a:avLst/>
          </a:prstGeom>
          <a:noFill/>
          <a:ln/>
        </p:spPr>
        <p:txBody>
          <a:bodyPr wrap="square" lIns="0" tIns="0" rIns="0" bIns="0" rtlCol="0" anchor="ctr"/>
          <a:lstStyle/>
          <a:p>
            <a:pPr marL="0" indent="0">
              <a:buNone/>
            </a:pPr>
            <a:r>
              <a:rPr lang="en-US" sz="880" b="1" dirty="0">
                <a:solidFill>
                  <a:srgbClr val="FFFFFF"/>
                </a:solidFill>
                <a:latin typeface="Arial" pitchFamily="34" charset="0"/>
                <a:ea typeface="Arial" pitchFamily="34" charset="-122"/>
                <a:cs typeface="Arial" pitchFamily="34" charset="-120"/>
              </a:rPr>
              <a:t>Wrong Parking Detection</a:t>
            </a:r>
            <a:endParaRPr lang="en-US" sz="1000" dirty="0"/>
          </a:p>
        </p:txBody>
      </p:sp>
      <p:sp>
        <p:nvSpPr>
          <p:cNvPr id="109" name="Shape 102"/>
          <p:cNvSpPr/>
          <p:nvPr/>
        </p:nvSpPr>
        <p:spPr>
          <a:xfrm>
            <a:off x="4325112" y="4425696"/>
            <a:ext cx="0" cy="237744"/>
          </a:xfrm>
          <a:prstGeom prst="line">
            <a:avLst/>
          </a:prstGeom>
          <a:noFill/>
          <a:ln w="12700">
            <a:solidFill>
              <a:srgbClr val="66574C"/>
            </a:solidFill>
            <a:prstDash val="solid"/>
          </a:ln>
        </p:spPr>
        <p:txBody>
          <a:bodyPr/>
          <a:lstStyle/>
          <a:p>
            <a:endParaRPr lang="en-IN"/>
          </a:p>
        </p:txBody>
      </p:sp>
      <p:sp>
        <p:nvSpPr>
          <p:cNvPr id="110" name="Shape 103"/>
          <p:cNvSpPr/>
          <p:nvPr/>
        </p:nvSpPr>
        <p:spPr>
          <a:xfrm>
            <a:off x="4434840" y="4503420"/>
            <a:ext cx="82296" cy="82296"/>
          </a:xfrm>
          <a:prstGeom prst="ellipse">
            <a:avLst/>
          </a:prstGeom>
          <a:solidFill>
            <a:srgbClr val="E5484D"/>
          </a:solidFill>
          <a:ln/>
        </p:spPr>
        <p:txBody>
          <a:bodyPr/>
          <a:lstStyle/>
          <a:p>
            <a:endParaRPr lang="en-IN"/>
          </a:p>
        </p:txBody>
      </p:sp>
      <p:sp>
        <p:nvSpPr>
          <p:cNvPr id="111" name="Text 104"/>
          <p:cNvSpPr txBox="1"/>
          <p:nvPr/>
        </p:nvSpPr>
        <p:spPr>
          <a:xfrm>
            <a:off x="4572000" y="4315968"/>
            <a:ext cx="996696" cy="457200"/>
          </a:xfrm>
          <a:prstGeom prst="rect">
            <a:avLst/>
          </a:prstGeom>
          <a:noFill/>
          <a:ln/>
        </p:spPr>
        <p:txBody>
          <a:bodyPr wrap="square" lIns="0" tIns="0" rIns="0" bIns="0" rtlCol="0" anchor="ctr"/>
          <a:lstStyle/>
          <a:p>
            <a:pPr marL="0" indent="0">
              <a:buNone/>
            </a:pPr>
            <a:r>
              <a:rPr lang="en-US" sz="880" b="1" dirty="0">
                <a:solidFill>
                  <a:srgbClr val="FFFFFF"/>
                </a:solidFill>
                <a:latin typeface="Arial" pitchFamily="34" charset="0"/>
                <a:ea typeface="Arial" pitchFamily="34" charset="-122"/>
                <a:cs typeface="Arial" pitchFamily="34" charset="-120"/>
              </a:rPr>
              <a:t>Emergency Lane Protection</a:t>
            </a:r>
            <a:endParaRPr lang="en-US" sz="1000" dirty="0"/>
          </a:p>
        </p:txBody>
      </p:sp>
      <p:sp>
        <p:nvSpPr>
          <p:cNvPr id="112" name="Shape 105"/>
          <p:cNvSpPr/>
          <p:nvPr/>
        </p:nvSpPr>
        <p:spPr>
          <a:xfrm>
            <a:off x="5596128" y="4425696"/>
            <a:ext cx="0" cy="237744"/>
          </a:xfrm>
          <a:prstGeom prst="line">
            <a:avLst/>
          </a:prstGeom>
          <a:noFill/>
          <a:ln w="12700">
            <a:solidFill>
              <a:srgbClr val="66574C"/>
            </a:solidFill>
            <a:prstDash val="solid"/>
          </a:ln>
        </p:spPr>
        <p:txBody>
          <a:bodyPr/>
          <a:lstStyle/>
          <a:p>
            <a:endParaRPr lang="en-IN"/>
          </a:p>
        </p:txBody>
      </p:sp>
      <p:sp>
        <p:nvSpPr>
          <p:cNvPr id="113" name="Shape 106"/>
          <p:cNvSpPr/>
          <p:nvPr/>
        </p:nvSpPr>
        <p:spPr>
          <a:xfrm>
            <a:off x="5705856" y="4503420"/>
            <a:ext cx="82296" cy="82296"/>
          </a:xfrm>
          <a:prstGeom prst="ellipse">
            <a:avLst/>
          </a:prstGeom>
          <a:solidFill>
            <a:srgbClr val="F86425"/>
          </a:solidFill>
          <a:ln/>
        </p:spPr>
        <p:txBody>
          <a:bodyPr/>
          <a:lstStyle/>
          <a:p>
            <a:endParaRPr lang="en-IN"/>
          </a:p>
        </p:txBody>
      </p:sp>
      <p:sp>
        <p:nvSpPr>
          <p:cNvPr id="114" name="Text 107"/>
          <p:cNvSpPr txBox="1"/>
          <p:nvPr/>
        </p:nvSpPr>
        <p:spPr>
          <a:xfrm>
            <a:off x="5843016" y="4315968"/>
            <a:ext cx="996696" cy="457200"/>
          </a:xfrm>
          <a:prstGeom prst="rect">
            <a:avLst/>
          </a:prstGeom>
          <a:noFill/>
          <a:ln/>
        </p:spPr>
        <p:txBody>
          <a:bodyPr wrap="square" lIns="0" tIns="0" rIns="0" bIns="0" rtlCol="0" anchor="ctr"/>
          <a:lstStyle/>
          <a:p>
            <a:pPr marL="0" indent="0">
              <a:buNone/>
            </a:pPr>
            <a:r>
              <a:rPr lang="en-US" sz="880" b="1" dirty="0">
                <a:solidFill>
                  <a:srgbClr val="FFFFFF"/>
                </a:solidFill>
                <a:latin typeface="Arial" pitchFamily="34" charset="0"/>
                <a:ea typeface="Arial" pitchFamily="34" charset="-122"/>
                <a:cs typeface="Arial" pitchFamily="34" charset="-120"/>
              </a:rPr>
              <a:t>Smart Navigation</a:t>
            </a:r>
            <a:endParaRPr lang="en-US" sz="1000" dirty="0"/>
          </a:p>
        </p:txBody>
      </p:sp>
      <p:sp>
        <p:nvSpPr>
          <p:cNvPr id="115" name="Shape 108"/>
          <p:cNvSpPr/>
          <p:nvPr/>
        </p:nvSpPr>
        <p:spPr>
          <a:xfrm>
            <a:off x="6867144" y="4425696"/>
            <a:ext cx="0" cy="237744"/>
          </a:xfrm>
          <a:prstGeom prst="line">
            <a:avLst/>
          </a:prstGeom>
          <a:noFill/>
          <a:ln w="12700">
            <a:solidFill>
              <a:srgbClr val="66574C"/>
            </a:solidFill>
            <a:prstDash val="solid"/>
          </a:ln>
        </p:spPr>
        <p:txBody>
          <a:bodyPr/>
          <a:lstStyle/>
          <a:p>
            <a:endParaRPr lang="en-IN"/>
          </a:p>
        </p:txBody>
      </p:sp>
      <p:sp>
        <p:nvSpPr>
          <p:cNvPr id="116" name="Shape 109"/>
          <p:cNvSpPr/>
          <p:nvPr/>
        </p:nvSpPr>
        <p:spPr>
          <a:xfrm>
            <a:off x="6976872" y="4503420"/>
            <a:ext cx="82296" cy="82296"/>
          </a:xfrm>
          <a:prstGeom prst="ellipse">
            <a:avLst/>
          </a:prstGeom>
          <a:solidFill>
            <a:srgbClr val="F86425"/>
          </a:solidFill>
          <a:ln/>
        </p:spPr>
        <p:txBody>
          <a:bodyPr/>
          <a:lstStyle/>
          <a:p>
            <a:endParaRPr lang="en-IN"/>
          </a:p>
        </p:txBody>
      </p:sp>
      <p:sp>
        <p:nvSpPr>
          <p:cNvPr id="117" name="Text 110"/>
          <p:cNvSpPr txBox="1"/>
          <p:nvPr/>
        </p:nvSpPr>
        <p:spPr>
          <a:xfrm>
            <a:off x="7114032" y="4315968"/>
            <a:ext cx="996696" cy="457200"/>
          </a:xfrm>
          <a:prstGeom prst="rect">
            <a:avLst/>
          </a:prstGeom>
          <a:noFill/>
          <a:ln/>
        </p:spPr>
        <p:txBody>
          <a:bodyPr wrap="square" lIns="0" tIns="0" rIns="0" bIns="0" rtlCol="0" anchor="ctr"/>
          <a:lstStyle/>
          <a:p>
            <a:pPr marL="0" indent="0">
              <a:buNone/>
            </a:pPr>
            <a:r>
              <a:rPr lang="en-US" sz="880" b="1" dirty="0">
                <a:solidFill>
                  <a:srgbClr val="FFFFFF"/>
                </a:solidFill>
                <a:latin typeface="Arial" pitchFamily="34" charset="0"/>
                <a:ea typeface="Arial" pitchFamily="34" charset="-122"/>
                <a:cs typeface="Arial" pitchFamily="34" charset="-120"/>
              </a:rPr>
              <a:t>Predictive Availability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8F7"/>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ctr"/>
          <a:lstStyle/>
          <a:p>
            <a:pPr marL="0" indent="0">
              <a:buNone/>
            </a:pPr>
            <a:r>
              <a:rPr lang="en-US" sz="3400" b="1" dirty="0">
                <a:solidFill>
                  <a:srgbClr val="36312D"/>
                </a:solidFill>
                <a:latin typeface="Cambria" pitchFamily="34" charset="0"/>
                <a:ea typeface="Cambria" pitchFamily="34" charset="-122"/>
                <a:cs typeface="Cambria" pitchFamily="34" charset="-120"/>
              </a:rPr>
              <a:t>How detection works</a:t>
            </a:r>
            <a:endParaRPr lang="en-US" sz="3400" dirty="0"/>
          </a:p>
        </p:txBody>
      </p:sp>
      <p:sp>
        <p:nvSpPr>
          <p:cNvPr id="3" name="Text 1"/>
          <p:cNvSpPr txBox="1"/>
          <p:nvPr/>
        </p:nvSpPr>
        <p:spPr>
          <a:xfrm>
            <a:off x="457200" y="1280160"/>
            <a:ext cx="384048" cy="384048"/>
          </a:xfrm>
          <a:prstGeom prst="ellipse">
            <a:avLst/>
          </a:prstGeom>
          <a:solidFill>
            <a:srgbClr val="1FBF75"/>
          </a:solidFill>
          <a:ln/>
        </p:spPr>
        <p:txBody>
          <a:bodyPr wrap="square" lIns="0" tIns="0" rIns="0" bIns="0" rtlCol="0" anchor="ctr"/>
          <a:lstStyle/>
          <a:p>
            <a:pPr marL="0" indent="0" algn="ctr">
              <a:buNone/>
            </a:pPr>
            <a:r>
              <a:rPr lang="en-US" sz="1400" b="1" dirty="0">
                <a:solidFill>
                  <a:srgbClr val="26211E"/>
                </a:solidFill>
                <a:latin typeface="Arial" pitchFamily="34" charset="0"/>
                <a:ea typeface="Arial" pitchFamily="34" charset="-122"/>
                <a:cs typeface="Arial" pitchFamily="34" charset="-120"/>
              </a:rPr>
              <a:t>1</a:t>
            </a:r>
            <a:endParaRPr lang="en-US" sz="1400" dirty="0"/>
          </a:p>
        </p:txBody>
      </p:sp>
      <p:sp>
        <p:nvSpPr>
          <p:cNvPr id="4" name="Text 2"/>
          <p:cNvSpPr txBox="1"/>
          <p:nvPr/>
        </p:nvSpPr>
        <p:spPr>
          <a:xfrm>
            <a:off x="1005840" y="1234440"/>
            <a:ext cx="3840480" cy="274320"/>
          </a:xfrm>
          <a:prstGeom prst="rect">
            <a:avLst/>
          </a:prstGeom>
          <a:noFill/>
          <a:ln/>
        </p:spPr>
        <p:txBody>
          <a:bodyPr wrap="square" lIns="0" tIns="0" rIns="0" bIns="0" rtlCol="0" anchor="t"/>
          <a:lstStyle/>
          <a:p>
            <a:pPr marL="0" indent="0">
              <a:buNone/>
            </a:pPr>
            <a:r>
              <a:rPr lang="en-US" sz="1500" b="1" dirty="0">
                <a:solidFill>
                  <a:srgbClr val="36312D"/>
                </a:solidFill>
                <a:latin typeface="Arial" pitchFamily="34" charset="0"/>
                <a:ea typeface="Arial" pitchFamily="34" charset="-122"/>
                <a:cs typeface="Arial" pitchFamily="34" charset="-120"/>
              </a:rPr>
              <a:t>Identify slots once</a:t>
            </a:r>
            <a:endParaRPr lang="en-US" sz="1500" dirty="0"/>
          </a:p>
        </p:txBody>
      </p:sp>
      <p:sp>
        <p:nvSpPr>
          <p:cNvPr id="5" name="Text 3"/>
          <p:cNvSpPr txBox="1"/>
          <p:nvPr/>
        </p:nvSpPr>
        <p:spPr>
          <a:xfrm>
            <a:off x="1005840" y="1508760"/>
            <a:ext cx="3840480" cy="274320"/>
          </a:xfrm>
          <a:prstGeom prst="rect">
            <a:avLst/>
          </a:prstGeom>
          <a:noFill/>
          <a:ln/>
        </p:spPr>
        <p:txBody>
          <a:bodyPr wrap="square" lIns="0" tIns="0" rIns="0" bIns="0" rtlCol="0" anchor="t"/>
          <a:lstStyle/>
          <a:p>
            <a:pPr marL="0" indent="0">
              <a:buNone/>
            </a:pPr>
            <a:r>
              <a:rPr lang="en-US" sz="1300" dirty="0">
                <a:solidFill>
                  <a:srgbClr val="79736E"/>
                </a:solidFill>
                <a:latin typeface="Arial" pitchFamily="34" charset="0"/>
                <a:ea typeface="Arial" pitchFamily="34" charset="-122"/>
                <a:cs typeface="Arial" pitchFamily="34" charset="-120"/>
              </a:rPr>
              <a:t>Draw a polygon over each bay in a web tool</a:t>
            </a:r>
            <a:endParaRPr lang="en-US" sz="1300" dirty="0"/>
          </a:p>
        </p:txBody>
      </p:sp>
      <p:sp>
        <p:nvSpPr>
          <p:cNvPr id="6" name="Text 4"/>
          <p:cNvSpPr txBox="1"/>
          <p:nvPr/>
        </p:nvSpPr>
        <p:spPr>
          <a:xfrm>
            <a:off x="457200" y="1965960"/>
            <a:ext cx="384048" cy="384048"/>
          </a:xfrm>
          <a:prstGeom prst="ellipse">
            <a:avLst/>
          </a:prstGeom>
          <a:solidFill>
            <a:srgbClr val="1FBF75"/>
          </a:solidFill>
          <a:ln/>
        </p:spPr>
        <p:txBody>
          <a:bodyPr wrap="square" lIns="0" tIns="0" rIns="0" bIns="0" rtlCol="0" anchor="ctr"/>
          <a:lstStyle/>
          <a:p>
            <a:pPr marL="0" indent="0" algn="ctr">
              <a:buNone/>
            </a:pPr>
            <a:r>
              <a:rPr lang="en-US" sz="1400" b="1" dirty="0">
                <a:solidFill>
                  <a:srgbClr val="26211E"/>
                </a:solidFill>
                <a:latin typeface="Arial" pitchFamily="34" charset="0"/>
                <a:ea typeface="Arial" pitchFamily="34" charset="-122"/>
                <a:cs typeface="Arial" pitchFamily="34" charset="-120"/>
              </a:rPr>
              <a:t>2</a:t>
            </a:r>
            <a:endParaRPr lang="en-US" sz="1400" dirty="0"/>
          </a:p>
        </p:txBody>
      </p:sp>
      <p:sp>
        <p:nvSpPr>
          <p:cNvPr id="7" name="Text 5"/>
          <p:cNvSpPr txBox="1"/>
          <p:nvPr/>
        </p:nvSpPr>
        <p:spPr>
          <a:xfrm>
            <a:off x="1005840" y="1920240"/>
            <a:ext cx="3840480" cy="274320"/>
          </a:xfrm>
          <a:prstGeom prst="rect">
            <a:avLst/>
          </a:prstGeom>
          <a:noFill/>
          <a:ln/>
        </p:spPr>
        <p:txBody>
          <a:bodyPr wrap="square" lIns="0" tIns="0" rIns="0" bIns="0" rtlCol="0" anchor="t"/>
          <a:lstStyle/>
          <a:p>
            <a:pPr marL="0" indent="0">
              <a:buNone/>
            </a:pPr>
            <a:r>
              <a:rPr lang="en-US" sz="1500" b="1" dirty="0">
                <a:solidFill>
                  <a:srgbClr val="36312D"/>
                </a:solidFill>
                <a:latin typeface="Arial" pitchFamily="34" charset="0"/>
                <a:ea typeface="Arial" pitchFamily="34" charset="-122"/>
                <a:cs typeface="Arial" pitchFamily="34" charset="-120"/>
              </a:rPr>
              <a:t>Grab frames</a:t>
            </a:r>
            <a:endParaRPr lang="en-US" sz="1500" dirty="0"/>
          </a:p>
        </p:txBody>
      </p:sp>
      <p:sp>
        <p:nvSpPr>
          <p:cNvPr id="8" name="Text 6"/>
          <p:cNvSpPr txBox="1"/>
          <p:nvPr/>
        </p:nvSpPr>
        <p:spPr>
          <a:xfrm>
            <a:off x="1005840" y="2194560"/>
            <a:ext cx="3840480" cy="274320"/>
          </a:xfrm>
          <a:prstGeom prst="rect">
            <a:avLst/>
          </a:prstGeom>
          <a:noFill/>
          <a:ln/>
        </p:spPr>
        <p:txBody>
          <a:bodyPr wrap="square" lIns="0" tIns="0" rIns="0" bIns="0" rtlCol="0" anchor="t"/>
          <a:lstStyle/>
          <a:p>
            <a:pPr marL="0" indent="0">
              <a:buNone/>
            </a:pPr>
            <a:r>
              <a:rPr lang="en-US" sz="1300" dirty="0">
                <a:solidFill>
                  <a:srgbClr val="79736E"/>
                </a:solidFill>
                <a:latin typeface="Arial" pitchFamily="34" charset="0"/>
                <a:ea typeface="Arial" pitchFamily="34" charset="-122"/>
                <a:cs typeface="Arial" pitchFamily="34" charset="-120"/>
              </a:rPr>
              <a:t>Sample the video at 2-5 frames per second</a:t>
            </a:r>
            <a:endParaRPr lang="en-US" sz="1300" dirty="0"/>
          </a:p>
        </p:txBody>
      </p:sp>
      <p:sp>
        <p:nvSpPr>
          <p:cNvPr id="9" name="Text 7"/>
          <p:cNvSpPr txBox="1"/>
          <p:nvPr/>
        </p:nvSpPr>
        <p:spPr>
          <a:xfrm>
            <a:off x="457200" y="2651760"/>
            <a:ext cx="384048" cy="384048"/>
          </a:xfrm>
          <a:prstGeom prst="ellipse">
            <a:avLst/>
          </a:prstGeom>
          <a:solidFill>
            <a:srgbClr val="1FBF75"/>
          </a:solidFill>
          <a:ln/>
        </p:spPr>
        <p:txBody>
          <a:bodyPr wrap="square" lIns="0" tIns="0" rIns="0" bIns="0" rtlCol="0" anchor="ctr"/>
          <a:lstStyle/>
          <a:p>
            <a:pPr marL="0" indent="0" algn="ctr">
              <a:buNone/>
            </a:pPr>
            <a:r>
              <a:rPr lang="en-US" sz="1400" b="1" dirty="0">
                <a:solidFill>
                  <a:srgbClr val="26211E"/>
                </a:solidFill>
                <a:latin typeface="Arial" pitchFamily="34" charset="0"/>
                <a:ea typeface="Arial" pitchFamily="34" charset="-122"/>
                <a:cs typeface="Arial" pitchFamily="34" charset="-120"/>
              </a:rPr>
              <a:t>3</a:t>
            </a:r>
            <a:endParaRPr lang="en-US" sz="1400" dirty="0"/>
          </a:p>
        </p:txBody>
      </p:sp>
      <p:sp>
        <p:nvSpPr>
          <p:cNvPr id="10" name="Text 8"/>
          <p:cNvSpPr txBox="1"/>
          <p:nvPr/>
        </p:nvSpPr>
        <p:spPr>
          <a:xfrm>
            <a:off x="1005840" y="2606040"/>
            <a:ext cx="3840480" cy="274320"/>
          </a:xfrm>
          <a:prstGeom prst="rect">
            <a:avLst/>
          </a:prstGeom>
          <a:noFill/>
          <a:ln/>
        </p:spPr>
        <p:txBody>
          <a:bodyPr wrap="square" lIns="0" tIns="0" rIns="0" bIns="0" rtlCol="0" anchor="t"/>
          <a:lstStyle/>
          <a:p>
            <a:pPr marL="0" indent="0">
              <a:buNone/>
            </a:pPr>
            <a:r>
              <a:rPr lang="en-US" sz="1500" b="1" dirty="0">
                <a:solidFill>
                  <a:srgbClr val="36312D"/>
                </a:solidFill>
                <a:latin typeface="Arial" pitchFamily="34" charset="0"/>
                <a:ea typeface="Arial" pitchFamily="34" charset="-122"/>
                <a:cs typeface="Arial" pitchFamily="34" charset="-120"/>
              </a:rPr>
              <a:t>Detect vehicles</a:t>
            </a:r>
            <a:endParaRPr lang="en-US" sz="1500" dirty="0"/>
          </a:p>
        </p:txBody>
      </p:sp>
      <p:sp>
        <p:nvSpPr>
          <p:cNvPr id="11" name="Text 9"/>
          <p:cNvSpPr txBox="1"/>
          <p:nvPr/>
        </p:nvSpPr>
        <p:spPr>
          <a:xfrm>
            <a:off x="1005840" y="2880360"/>
            <a:ext cx="3840480" cy="274320"/>
          </a:xfrm>
          <a:prstGeom prst="rect">
            <a:avLst/>
          </a:prstGeom>
          <a:noFill/>
          <a:ln/>
        </p:spPr>
        <p:txBody>
          <a:bodyPr wrap="square" lIns="0" tIns="0" rIns="0" bIns="0" rtlCol="0" anchor="t"/>
          <a:lstStyle/>
          <a:p>
            <a:pPr marL="0" indent="0">
              <a:buNone/>
            </a:pPr>
            <a:r>
              <a:rPr lang="en-US" sz="1300" dirty="0">
                <a:solidFill>
                  <a:srgbClr val="79736E"/>
                </a:solidFill>
                <a:latin typeface="Arial" pitchFamily="34" charset="0"/>
                <a:ea typeface="Arial" pitchFamily="34" charset="-122"/>
                <a:cs typeface="Arial" pitchFamily="34" charset="-120"/>
              </a:rPr>
              <a:t>YOLO finds cars, bikes and trucks</a:t>
            </a:r>
            <a:endParaRPr lang="en-US" sz="1300" dirty="0"/>
          </a:p>
        </p:txBody>
      </p:sp>
      <p:sp>
        <p:nvSpPr>
          <p:cNvPr id="12" name="Text 10"/>
          <p:cNvSpPr txBox="1"/>
          <p:nvPr/>
        </p:nvSpPr>
        <p:spPr>
          <a:xfrm>
            <a:off x="457200" y="3337560"/>
            <a:ext cx="384048" cy="384048"/>
          </a:xfrm>
          <a:prstGeom prst="ellipse">
            <a:avLst/>
          </a:prstGeom>
          <a:solidFill>
            <a:srgbClr val="1FBF75"/>
          </a:solidFill>
          <a:ln/>
        </p:spPr>
        <p:txBody>
          <a:bodyPr wrap="square" lIns="0" tIns="0" rIns="0" bIns="0" rtlCol="0" anchor="ctr"/>
          <a:lstStyle/>
          <a:p>
            <a:pPr marL="0" indent="0" algn="ctr">
              <a:buNone/>
            </a:pPr>
            <a:r>
              <a:rPr lang="en-US" sz="1400" b="1" dirty="0">
                <a:solidFill>
                  <a:srgbClr val="26211E"/>
                </a:solidFill>
                <a:latin typeface="Arial" pitchFamily="34" charset="0"/>
                <a:ea typeface="Arial" pitchFamily="34" charset="-122"/>
                <a:cs typeface="Arial" pitchFamily="34" charset="-120"/>
              </a:rPr>
              <a:t>4</a:t>
            </a:r>
            <a:endParaRPr lang="en-US" sz="1400" dirty="0"/>
          </a:p>
        </p:txBody>
      </p:sp>
      <p:sp>
        <p:nvSpPr>
          <p:cNvPr id="13" name="Text 11"/>
          <p:cNvSpPr txBox="1"/>
          <p:nvPr/>
        </p:nvSpPr>
        <p:spPr>
          <a:xfrm>
            <a:off x="1005840" y="3291840"/>
            <a:ext cx="3840480" cy="274320"/>
          </a:xfrm>
          <a:prstGeom prst="rect">
            <a:avLst/>
          </a:prstGeom>
          <a:noFill/>
          <a:ln/>
        </p:spPr>
        <p:txBody>
          <a:bodyPr wrap="square" lIns="0" tIns="0" rIns="0" bIns="0" rtlCol="0" anchor="t"/>
          <a:lstStyle/>
          <a:p>
            <a:pPr marL="0" indent="0">
              <a:buNone/>
            </a:pPr>
            <a:r>
              <a:rPr lang="en-US" sz="1500" b="1" dirty="0">
                <a:solidFill>
                  <a:srgbClr val="36312D"/>
                </a:solidFill>
                <a:latin typeface="Arial" pitchFamily="34" charset="0"/>
                <a:ea typeface="Arial" pitchFamily="34" charset="-122"/>
                <a:cs typeface="Arial" pitchFamily="34" charset="-120"/>
              </a:rPr>
              <a:t>Match to bays</a:t>
            </a:r>
            <a:endParaRPr lang="en-US" sz="1500" dirty="0"/>
          </a:p>
        </p:txBody>
      </p:sp>
      <p:sp>
        <p:nvSpPr>
          <p:cNvPr id="14" name="Text 12"/>
          <p:cNvSpPr txBox="1"/>
          <p:nvPr/>
        </p:nvSpPr>
        <p:spPr>
          <a:xfrm>
            <a:off x="1005840" y="3566160"/>
            <a:ext cx="3840480" cy="274320"/>
          </a:xfrm>
          <a:prstGeom prst="rect">
            <a:avLst/>
          </a:prstGeom>
          <a:noFill/>
          <a:ln/>
        </p:spPr>
        <p:txBody>
          <a:bodyPr wrap="square" lIns="0" tIns="0" rIns="0" bIns="0" rtlCol="0" anchor="t"/>
          <a:lstStyle/>
          <a:p>
            <a:pPr marL="0" indent="0">
              <a:buNone/>
            </a:pPr>
            <a:r>
              <a:rPr lang="en-US" sz="1300" dirty="0">
                <a:solidFill>
                  <a:srgbClr val="79736E"/>
                </a:solidFill>
                <a:latin typeface="Arial" pitchFamily="34" charset="0"/>
                <a:ea typeface="Arial" pitchFamily="34" charset="-122"/>
                <a:cs typeface="Arial" pitchFamily="34" charset="-120"/>
              </a:rPr>
              <a:t>Overlap (IoU) above threshold = occupied</a:t>
            </a:r>
            <a:endParaRPr lang="en-US" sz="1300" dirty="0"/>
          </a:p>
        </p:txBody>
      </p:sp>
      <p:sp>
        <p:nvSpPr>
          <p:cNvPr id="15" name="Text 13"/>
          <p:cNvSpPr txBox="1"/>
          <p:nvPr/>
        </p:nvSpPr>
        <p:spPr>
          <a:xfrm>
            <a:off x="457200" y="4023360"/>
            <a:ext cx="384048" cy="384048"/>
          </a:xfrm>
          <a:prstGeom prst="ellipse">
            <a:avLst/>
          </a:prstGeom>
          <a:solidFill>
            <a:srgbClr val="1FBF75"/>
          </a:solidFill>
          <a:ln/>
        </p:spPr>
        <p:txBody>
          <a:bodyPr wrap="square" lIns="0" tIns="0" rIns="0" bIns="0" rtlCol="0" anchor="ctr"/>
          <a:lstStyle/>
          <a:p>
            <a:pPr marL="0" indent="0" algn="ctr">
              <a:buNone/>
            </a:pPr>
            <a:r>
              <a:rPr lang="en-US" sz="1400" b="1" dirty="0">
                <a:solidFill>
                  <a:srgbClr val="26211E"/>
                </a:solidFill>
                <a:latin typeface="Arial" pitchFamily="34" charset="0"/>
                <a:ea typeface="Arial" pitchFamily="34" charset="-122"/>
                <a:cs typeface="Arial" pitchFamily="34" charset="-120"/>
              </a:rPr>
              <a:t>5</a:t>
            </a:r>
            <a:endParaRPr lang="en-US" sz="1400" dirty="0"/>
          </a:p>
        </p:txBody>
      </p:sp>
      <p:sp>
        <p:nvSpPr>
          <p:cNvPr id="16" name="Text 14"/>
          <p:cNvSpPr txBox="1"/>
          <p:nvPr/>
        </p:nvSpPr>
        <p:spPr>
          <a:xfrm>
            <a:off x="1005840" y="3977640"/>
            <a:ext cx="3840480" cy="274320"/>
          </a:xfrm>
          <a:prstGeom prst="rect">
            <a:avLst/>
          </a:prstGeom>
          <a:noFill/>
          <a:ln/>
        </p:spPr>
        <p:txBody>
          <a:bodyPr wrap="square" lIns="0" tIns="0" rIns="0" bIns="0" rtlCol="0" anchor="t"/>
          <a:lstStyle/>
          <a:p>
            <a:pPr marL="0" indent="0">
              <a:buNone/>
            </a:pPr>
            <a:r>
              <a:rPr lang="en-US" sz="1500" b="1" dirty="0">
                <a:solidFill>
                  <a:srgbClr val="36312D"/>
                </a:solidFill>
                <a:latin typeface="Arial" pitchFamily="34" charset="0"/>
                <a:ea typeface="Arial" pitchFamily="34" charset="-122"/>
                <a:cs typeface="Arial" pitchFamily="34" charset="-120"/>
              </a:rPr>
              <a:t>Smooth the state</a:t>
            </a:r>
            <a:endParaRPr lang="en-US" sz="1500" dirty="0"/>
          </a:p>
        </p:txBody>
      </p:sp>
      <p:sp>
        <p:nvSpPr>
          <p:cNvPr id="17" name="Text 15"/>
          <p:cNvSpPr txBox="1"/>
          <p:nvPr/>
        </p:nvSpPr>
        <p:spPr>
          <a:xfrm>
            <a:off x="1005840" y="4251960"/>
            <a:ext cx="3840480" cy="274320"/>
          </a:xfrm>
          <a:prstGeom prst="rect">
            <a:avLst/>
          </a:prstGeom>
          <a:noFill/>
          <a:ln/>
        </p:spPr>
        <p:txBody>
          <a:bodyPr wrap="square" lIns="0" tIns="0" rIns="0" bIns="0" rtlCol="0" anchor="t"/>
          <a:lstStyle/>
          <a:p>
            <a:pPr marL="0" indent="0">
              <a:buNone/>
            </a:pPr>
            <a:r>
              <a:rPr lang="en-US" sz="1300" dirty="0">
                <a:solidFill>
                  <a:srgbClr val="79736E"/>
                </a:solidFill>
                <a:latin typeface="Arial" pitchFamily="34" charset="0"/>
                <a:ea typeface="Arial" pitchFamily="34" charset="-122"/>
                <a:cs typeface="Arial" pitchFamily="34" charset="-120"/>
              </a:rPr>
              <a:t>Majority vote over recent frames stops flicker</a:t>
            </a:r>
            <a:endParaRPr lang="en-US" sz="1300" dirty="0"/>
          </a:p>
        </p:txBody>
      </p:sp>
      <p:sp>
        <p:nvSpPr>
          <p:cNvPr id="18" name="Shape 16"/>
          <p:cNvSpPr/>
          <p:nvPr/>
        </p:nvSpPr>
        <p:spPr>
          <a:xfrm>
            <a:off x="5029200" y="1188720"/>
            <a:ext cx="3657600" cy="3429000"/>
          </a:xfrm>
          <a:prstGeom prst="roundRect">
            <a:avLst>
              <a:gd name="adj" fmla="val 2667"/>
            </a:avLst>
          </a:prstGeom>
          <a:solidFill>
            <a:srgbClr val="26211E"/>
          </a:solidFill>
          <a:ln/>
        </p:spPr>
        <p:txBody>
          <a:bodyPr/>
          <a:lstStyle/>
          <a:p>
            <a:endParaRPr lang="en-IN"/>
          </a:p>
        </p:txBody>
      </p:sp>
      <p:sp>
        <p:nvSpPr>
          <p:cNvPr id="19" name="Shape 17"/>
          <p:cNvSpPr/>
          <p:nvPr/>
        </p:nvSpPr>
        <p:spPr>
          <a:xfrm>
            <a:off x="5221224" y="1417320"/>
            <a:ext cx="749808" cy="1143000"/>
          </a:xfrm>
          <a:prstGeom prst="roundRect">
            <a:avLst>
              <a:gd name="adj" fmla="val 4878"/>
            </a:avLst>
          </a:prstGeom>
          <a:solidFill>
            <a:srgbClr val="E5484D">
              <a:alpha val="12000"/>
            </a:srgbClr>
          </a:solidFill>
          <a:ln w="12700">
            <a:solidFill>
              <a:srgbClr val="E5484D"/>
            </a:solidFill>
            <a:prstDash val="dash"/>
          </a:ln>
        </p:spPr>
        <p:txBody>
          <a:bodyPr/>
          <a:lstStyle/>
          <a:p>
            <a:endParaRPr lang="en-IN"/>
          </a:p>
        </p:txBody>
      </p:sp>
      <p:sp>
        <p:nvSpPr>
          <p:cNvPr id="20" name="Shape 18"/>
          <p:cNvSpPr/>
          <p:nvPr/>
        </p:nvSpPr>
        <p:spPr>
          <a:xfrm>
            <a:off x="5385816" y="1600200"/>
            <a:ext cx="420624" cy="777240"/>
          </a:xfrm>
          <a:prstGeom prst="roundRect">
            <a:avLst>
              <a:gd name="adj" fmla="val 21739"/>
            </a:avLst>
          </a:prstGeom>
          <a:solidFill>
            <a:srgbClr val="B8B1AB"/>
          </a:solidFill>
          <a:ln/>
        </p:spPr>
        <p:txBody>
          <a:bodyPr/>
          <a:lstStyle/>
          <a:p>
            <a:endParaRPr lang="en-IN"/>
          </a:p>
        </p:txBody>
      </p:sp>
      <p:sp>
        <p:nvSpPr>
          <p:cNvPr id="21" name="Shape 19"/>
          <p:cNvSpPr/>
          <p:nvPr/>
        </p:nvSpPr>
        <p:spPr>
          <a:xfrm>
            <a:off x="5294376" y="1527048"/>
            <a:ext cx="603504" cy="923544"/>
          </a:xfrm>
          <a:prstGeom prst="rect">
            <a:avLst/>
          </a:prstGeom>
          <a:noFill/>
          <a:ln w="22225">
            <a:solidFill>
              <a:srgbClr val="E5484D"/>
            </a:solidFill>
            <a:prstDash val="solid"/>
          </a:ln>
        </p:spPr>
        <p:txBody>
          <a:bodyPr/>
          <a:lstStyle/>
          <a:p>
            <a:endParaRPr lang="en-IN"/>
          </a:p>
        </p:txBody>
      </p:sp>
      <p:sp>
        <p:nvSpPr>
          <p:cNvPr id="22" name="Text 20"/>
          <p:cNvSpPr txBox="1"/>
          <p:nvPr/>
        </p:nvSpPr>
        <p:spPr>
          <a:xfrm>
            <a:off x="6062472" y="1417320"/>
            <a:ext cx="749808" cy="1143000"/>
          </a:xfrm>
          <a:prstGeom prst="roundRect">
            <a:avLst>
              <a:gd name="adj" fmla="val 7317"/>
            </a:avLst>
          </a:prstGeom>
          <a:solidFill>
            <a:srgbClr val="1FBF75">
              <a:alpha val="12000"/>
            </a:srgbClr>
          </a:solidFill>
          <a:ln w="19050">
            <a:solidFill>
              <a:srgbClr val="1FBF75"/>
            </a:solidFill>
          </a:ln>
        </p:spPr>
        <p:txBody>
          <a:bodyPr wrap="square" lIns="0" tIns="0" rIns="0" bIns="0" rtlCol="0" anchor="ctr"/>
          <a:lstStyle/>
          <a:p>
            <a:pPr marL="0" indent="0" algn="ctr">
              <a:buNone/>
            </a:pPr>
            <a:r>
              <a:rPr lang="en-US" sz="1200" b="1" dirty="0">
                <a:solidFill>
                  <a:srgbClr val="1FBF75"/>
                </a:solidFill>
                <a:latin typeface="Arial" pitchFamily="34" charset="0"/>
                <a:ea typeface="Arial" pitchFamily="34" charset="-122"/>
                <a:cs typeface="Arial" pitchFamily="34" charset="-120"/>
              </a:rPr>
              <a:t>FREE</a:t>
            </a:r>
            <a:endParaRPr lang="en-US" sz="1200" dirty="0"/>
          </a:p>
        </p:txBody>
      </p:sp>
      <p:sp>
        <p:nvSpPr>
          <p:cNvPr id="23" name="Shape 21"/>
          <p:cNvSpPr/>
          <p:nvPr/>
        </p:nvSpPr>
        <p:spPr>
          <a:xfrm>
            <a:off x="6903720" y="1417320"/>
            <a:ext cx="749808" cy="1143000"/>
          </a:xfrm>
          <a:prstGeom prst="roundRect">
            <a:avLst>
              <a:gd name="adj" fmla="val 4878"/>
            </a:avLst>
          </a:prstGeom>
          <a:solidFill>
            <a:srgbClr val="E5484D">
              <a:alpha val="12000"/>
            </a:srgbClr>
          </a:solidFill>
          <a:ln w="12700">
            <a:solidFill>
              <a:srgbClr val="E5484D"/>
            </a:solidFill>
            <a:prstDash val="dash"/>
          </a:ln>
        </p:spPr>
        <p:txBody>
          <a:bodyPr/>
          <a:lstStyle/>
          <a:p>
            <a:endParaRPr lang="en-IN"/>
          </a:p>
        </p:txBody>
      </p:sp>
      <p:sp>
        <p:nvSpPr>
          <p:cNvPr id="24" name="Shape 22"/>
          <p:cNvSpPr/>
          <p:nvPr/>
        </p:nvSpPr>
        <p:spPr>
          <a:xfrm>
            <a:off x="7068312" y="1600200"/>
            <a:ext cx="420624" cy="777240"/>
          </a:xfrm>
          <a:prstGeom prst="roundRect">
            <a:avLst>
              <a:gd name="adj" fmla="val 21739"/>
            </a:avLst>
          </a:prstGeom>
          <a:solidFill>
            <a:srgbClr val="B8B1AB"/>
          </a:solidFill>
          <a:ln/>
        </p:spPr>
        <p:txBody>
          <a:bodyPr/>
          <a:lstStyle/>
          <a:p>
            <a:endParaRPr lang="en-IN"/>
          </a:p>
        </p:txBody>
      </p:sp>
      <p:sp>
        <p:nvSpPr>
          <p:cNvPr id="25" name="Shape 23"/>
          <p:cNvSpPr/>
          <p:nvPr/>
        </p:nvSpPr>
        <p:spPr>
          <a:xfrm>
            <a:off x="6976872" y="1527048"/>
            <a:ext cx="603504" cy="923544"/>
          </a:xfrm>
          <a:prstGeom prst="rect">
            <a:avLst/>
          </a:prstGeom>
          <a:noFill/>
          <a:ln w="22225">
            <a:solidFill>
              <a:srgbClr val="E5484D"/>
            </a:solidFill>
            <a:prstDash val="solid"/>
          </a:ln>
        </p:spPr>
        <p:txBody>
          <a:bodyPr/>
          <a:lstStyle/>
          <a:p>
            <a:endParaRPr lang="en-IN"/>
          </a:p>
        </p:txBody>
      </p:sp>
      <p:sp>
        <p:nvSpPr>
          <p:cNvPr id="26" name="Text 24"/>
          <p:cNvSpPr txBox="1"/>
          <p:nvPr/>
        </p:nvSpPr>
        <p:spPr>
          <a:xfrm>
            <a:off x="7744968" y="1417320"/>
            <a:ext cx="749808" cy="1143000"/>
          </a:xfrm>
          <a:prstGeom prst="roundRect">
            <a:avLst>
              <a:gd name="adj" fmla="val 7317"/>
            </a:avLst>
          </a:prstGeom>
          <a:solidFill>
            <a:srgbClr val="1FBF75">
              <a:alpha val="12000"/>
            </a:srgbClr>
          </a:solidFill>
          <a:ln w="19050">
            <a:solidFill>
              <a:srgbClr val="1FBF75"/>
            </a:solidFill>
          </a:ln>
        </p:spPr>
        <p:txBody>
          <a:bodyPr wrap="square" lIns="0" tIns="0" rIns="0" bIns="0" rtlCol="0" anchor="ctr"/>
          <a:lstStyle/>
          <a:p>
            <a:pPr marL="0" indent="0" algn="ctr">
              <a:buNone/>
            </a:pPr>
            <a:r>
              <a:rPr lang="en-US" sz="1200" b="1" dirty="0">
                <a:solidFill>
                  <a:srgbClr val="1FBF75"/>
                </a:solidFill>
                <a:latin typeface="Arial" pitchFamily="34" charset="0"/>
                <a:ea typeface="Arial" pitchFamily="34" charset="-122"/>
                <a:cs typeface="Arial" pitchFamily="34" charset="-120"/>
              </a:rPr>
              <a:t>FREE</a:t>
            </a:r>
            <a:endParaRPr lang="en-US" sz="1200" dirty="0"/>
          </a:p>
        </p:txBody>
      </p:sp>
      <p:sp>
        <p:nvSpPr>
          <p:cNvPr id="27" name="Text 25"/>
          <p:cNvSpPr txBox="1"/>
          <p:nvPr/>
        </p:nvSpPr>
        <p:spPr>
          <a:xfrm>
            <a:off x="5221224" y="3017520"/>
            <a:ext cx="749808" cy="1143000"/>
          </a:xfrm>
          <a:prstGeom prst="roundRect">
            <a:avLst>
              <a:gd name="adj" fmla="val 7317"/>
            </a:avLst>
          </a:prstGeom>
          <a:solidFill>
            <a:srgbClr val="1FBF75">
              <a:alpha val="12000"/>
            </a:srgbClr>
          </a:solidFill>
          <a:ln w="19050">
            <a:solidFill>
              <a:srgbClr val="1FBF75"/>
            </a:solidFill>
          </a:ln>
        </p:spPr>
        <p:txBody>
          <a:bodyPr wrap="square" lIns="0" tIns="0" rIns="0" bIns="0" rtlCol="0" anchor="ctr"/>
          <a:lstStyle/>
          <a:p>
            <a:pPr marL="0" indent="0" algn="ctr">
              <a:buNone/>
            </a:pPr>
            <a:r>
              <a:rPr lang="en-US" sz="1200" b="1" dirty="0">
                <a:solidFill>
                  <a:srgbClr val="1FBF75"/>
                </a:solidFill>
                <a:latin typeface="Arial" pitchFamily="34" charset="0"/>
                <a:ea typeface="Arial" pitchFamily="34" charset="-122"/>
                <a:cs typeface="Arial" pitchFamily="34" charset="-120"/>
              </a:rPr>
              <a:t>FREE</a:t>
            </a:r>
            <a:endParaRPr lang="en-US" sz="1200" dirty="0"/>
          </a:p>
        </p:txBody>
      </p:sp>
      <p:sp>
        <p:nvSpPr>
          <p:cNvPr id="28" name="Shape 26"/>
          <p:cNvSpPr/>
          <p:nvPr/>
        </p:nvSpPr>
        <p:spPr>
          <a:xfrm>
            <a:off x="6062472" y="3017520"/>
            <a:ext cx="749808" cy="1143000"/>
          </a:xfrm>
          <a:prstGeom prst="roundRect">
            <a:avLst>
              <a:gd name="adj" fmla="val 4878"/>
            </a:avLst>
          </a:prstGeom>
          <a:solidFill>
            <a:srgbClr val="E5484D">
              <a:alpha val="12000"/>
            </a:srgbClr>
          </a:solidFill>
          <a:ln w="12700">
            <a:solidFill>
              <a:srgbClr val="E5484D"/>
            </a:solidFill>
            <a:prstDash val="dash"/>
          </a:ln>
        </p:spPr>
        <p:txBody>
          <a:bodyPr/>
          <a:lstStyle/>
          <a:p>
            <a:endParaRPr lang="en-IN"/>
          </a:p>
        </p:txBody>
      </p:sp>
      <p:sp>
        <p:nvSpPr>
          <p:cNvPr id="29" name="Shape 27"/>
          <p:cNvSpPr/>
          <p:nvPr/>
        </p:nvSpPr>
        <p:spPr>
          <a:xfrm>
            <a:off x="6227064" y="3200400"/>
            <a:ext cx="420624" cy="777240"/>
          </a:xfrm>
          <a:prstGeom prst="roundRect">
            <a:avLst>
              <a:gd name="adj" fmla="val 21739"/>
            </a:avLst>
          </a:prstGeom>
          <a:solidFill>
            <a:srgbClr val="B8B1AB"/>
          </a:solidFill>
          <a:ln/>
        </p:spPr>
        <p:txBody>
          <a:bodyPr/>
          <a:lstStyle/>
          <a:p>
            <a:endParaRPr lang="en-IN"/>
          </a:p>
        </p:txBody>
      </p:sp>
      <p:sp>
        <p:nvSpPr>
          <p:cNvPr id="30" name="Shape 28"/>
          <p:cNvSpPr/>
          <p:nvPr/>
        </p:nvSpPr>
        <p:spPr>
          <a:xfrm>
            <a:off x="6135624" y="3127248"/>
            <a:ext cx="603504" cy="923544"/>
          </a:xfrm>
          <a:prstGeom prst="rect">
            <a:avLst/>
          </a:prstGeom>
          <a:noFill/>
          <a:ln w="22225">
            <a:solidFill>
              <a:srgbClr val="E5484D"/>
            </a:solidFill>
            <a:prstDash val="solid"/>
          </a:ln>
        </p:spPr>
        <p:txBody>
          <a:bodyPr/>
          <a:lstStyle/>
          <a:p>
            <a:endParaRPr lang="en-IN"/>
          </a:p>
        </p:txBody>
      </p:sp>
      <p:sp>
        <p:nvSpPr>
          <p:cNvPr id="31" name="Text 29"/>
          <p:cNvSpPr txBox="1"/>
          <p:nvPr/>
        </p:nvSpPr>
        <p:spPr>
          <a:xfrm>
            <a:off x="6903720" y="3017520"/>
            <a:ext cx="749808" cy="1143000"/>
          </a:xfrm>
          <a:prstGeom prst="roundRect">
            <a:avLst>
              <a:gd name="adj" fmla="val 7317"/>
            </a:avLst>
          </a:prstGeom>
          <a:solidFill>
            <a:srgbClr val="1FBF75">
              <a:alpha val="12000"/>
            </a:srgbClr>
          </a:solidFill>
          <a:ln w="19050">
            <a:solidFill>
              <a:srgbClr val="1FBF75"/>
            </a:solidFill>
          </a:ln>
        </p:spPr>
        <p:txBody>
          <a:bodyPr wrap="square" lIns="0" tIns="0" rIns="0" bIns="0" rtlCol="0" anchor="ctr"/>
          <a:lstStyle/>
          <a:p>
            <a:pPr marL="0" indent="0" algn="ctr">
              <a:buNone/>
            </a:pPr>
            <a:r>
              <a:rPr lang="en-US" sz="1200" b="1" dirty="0">
                <a:solidFill>
                  <a:srgbClr val="1FBF75"/>
                </a:solidFill>
                <a:latin typeface="Arial" pitchFamily="34" charset="0"/>
                <a:ea typeface="Arial" pitchFamily="34" charset="-122"/>
                <a:cs typeface="Arial" pitchFamily="34" charset="-120"/>
              </a:rPr>
              <a:t>FREE</a:t>
            </a:r>
            <a:endParaRPr lang="en-US" sz="1200" dirty="0"/>
          </a:p>
        </p:txBody>
      </p:sp>
      <p:sp>
        <p:nvSpPr>
          <p:cNvPr id="32" name="Shape 30"/>
          <p:cNvSpPr/>
          <p:nvPr/>
        </p:nvSpPr>
        <p:spPr>
          <a:xfrm>
            <a:off x="7744968" y="3017520"/>
            <a:ext cx="749808" cy="1143000"/>
          </a:xfrm>
          <a:prstGeom prst="roundRect">
            <a:avLst>
              <a:gd name="adj" fmla="val 4878"/>
            </a:avLst>
          </a:prstGeom>
          <a:solidFill>
            <a:srgbClr val="E5484D">
              <a:alpha val="12000"/>
            </a:srgbClr>
          </a:solidFill>
          <a:ln w="12700">
            <a:solidFill>
              <a:srgbClr val="E5484D"/>
            </a:solidFill>
            <a:prstDash val="dash"/>
          </a:ln>
        </p:spPr>
        <p:txBody>
          <a:bodyPr/>
          <a:lstStyle/>
          <a:p>
            <a:endParaRPr lang="en-IN"/>
          </a:p>
        </p:txBody>
      </p:sp>
      <p:sp>
        <p:nvSpPr>
          <p:cNvPr id="33" name="Shape 31"/>
          <p:cNvSpPr/>
          <p:nvPr/>
        </p:nvSpPr>
        <p:spPr>
          <a:xfrm>
            <a:off x="7909560" y="3200400"/>
            <a:ext cx="420624" cy="777240"/>
          </a:xfrm>
          <a:prstGeom prst="roundRect">
            <a:avLst>
              <a:gd name="adj" fmla="val 21739"/>
            </a:avLst>
          </a:prstGeom>
          <a:solidFill>
            <a:srgbClr val="B8B1AB"/>
          </a:solidFill>
          <a:ln/>
        </p:spPr>
        <p:txBody>
          <a:bodyPr/>
          <a:lstStyle/>
          <a:p>
            <a:endParaRPr lang="en-IN"/>
          </a:p>
        </p:txBody>
      </p:sp>
      <p:sp>
        <p:nvSpPr>
          <p:cNvPr id="34" name="Shape 32"/>
          <p:cNvSpPr/>
          <p:nvPr/>
        </p:nvSpPr>
        <p:spPr>
          <a:xfrm>
            <a:off x="7818120" y="3127248"/>
            <a:ext cx="603504" cy="923544"/>
          </a:xfrm>
          <a:prstGeom prst="rect">
            <a:avLst/>
          </a:prstGeom>
          <a:noFill/>
          <a:ln w="22225">
            <a:solidFill>
              <a:srgbClr val="E5484D"/>
            </a:solidFill>
            <a:prstDash val="solid"/>
          </a:ln>
        </p:spPr>
        <p:txBody>
          <a:bodyPr/>
          <a:lstStyle/>
          <a:p>
            <a:endParaRPr lang="en-IN"/>
          </a:p>
        </p:txBody>
      </p:sp>
      <p:sp>
        <p:nvSpPr>
          <p:cNvPr id="35" name="Shape 33"/>
          <p:cNvSpPr/>
          <p:nvPr/>
        </p:nvSpPr>
        <p:spPr>
          <a:xfrm>
            <a:off x="5221224" y="2788920"/>
            <a:ext cx="3273552" cy="0"/>
          </a:xfrm>
          <a:prstGeom prst="line">
            <a:avLst/>
          </a:prstGeom>
          <a:noFill/>
          <a:ln w="12700">
            <a:solidFill>
              <a:srgbClr val="B8B1AB"/>
            </a:solidFill>
            <a:prstDash val="dash"/>
          </a:ln>
        </p:spPr>
        <p:txBody>
          <a:bodyPr/>
          <a:lstStyle/>
          <a:p>
            <a:endParaRPr lang="en-IN"/>
          </a:p>
        </p:txBody>
      </p:sp>
      <p:sp>
        <p:nvSpPr>
          <p:cNvPr id="36" name="Text 34"/>
          <p:cNvSpPr txBox="1"/>
          <p:nvPr/>
        </p:nvSpPr>
        <p:spPr>
          <a:xfrm>
            <a:off x="5221224" y="4315968"/>
            <a:ext cx="3291840" cy="228600"/>
          </a:xfrm>
          <a:prstGeom prst="rect">
            <a:avLst/>
          </a:prstGeom>
          <a:noFill/>
          <a:ln/>
        </p:spPr>
        <p:txBody>
          <a:bodyPr wrap="square" lIns="0" tIns="0" rIns="0" bIns="0" rtlCol="0" anchor="t"/>
          <a:lstStyle/>
          <a:p>
            <a:pPr marL="0" indent="0">
              <a:buNone/>
            </a:pPr>
            <a:r>
              <a:rPr lang="en-US" sz="1100" dirty="0">
                <a:solidFill>
                  <a:srgbClr val="B8B1AB"/>
                </a:solidFill>
                <a:latin typeface="Arial" pitchFamily="34" charset="0"/>
                <a:ea typeface="Arial" pitchFamily="34" charset="-122"/>
                <a:cs typeface="Arial" pitchFamily="34" charset="-120"/>
              </a:rPr>
              <a:t>Camera view: boxes = detected vehicles</a:t>
            </a:r>
            <a:endParaRPr lang="en-US" sz="1100" dirty="0"/>
          </a:p>
        </p:txBody>
      </p:sp>
      <p:sp>
        <p:nvSpPr>
          <p:cNvPr id="37" name="Text 35"/>
          <p:cNvSpPr txBox="1"/>
          <p:nvPr/>
        </p:nvSpPr>
        <p:spPr>
          <a:xfrm>
            <a:off x="457200" y="4846320"/>
            <a:ext cx="5486400" cy="201168"/>
          </a:xfrm>
          <a:prstGeom prst="rect">
            <a:avLst/>
          </a:prstGeom>
          <a:noFill/>
          <a:ln/>
        </p:spPr>
        <p:txBody>
          <a:bodyPr wrap="square" lIns="0" tIns="0" rIns="0" bIns="0" rtlCol="0" anchor="t"/>
          <a:lstStyle/>
          <a:p>
            <a:r>
              <a:rPr lang="en-US" sz="1000" dirty="0" err="1">
                <a:solidFill>
                  <a:srgbClr val="79736E"/>
                </a:solidFill>
                <a:latin typeface="Arial" pitchFamily="34" charset="0"/>
                <a:ea typeface="Arial" pitchFamily="34" charset="-122"/>
                <a:cs typeface="Arial" pitchFamily="34" charset="-120"/>
              </a:rPr>
              <a:t>ParkSense</a:t>
            </a:r>
            <a:r>
              <a:rPr lang="en-US" sz="1000" dirty="0">
                <a:solidFill>
                  <a:srgbClr val="79736E"/>
                </a:solidFill>
                <a:latin typeface="Arial" pitchFamily="34" charset="0"/>
                <a:ea typeface="Arial" pitchFamily="34" charset="-122"/>
                <a:cs typeface="Arial" pitchFamily="34" charset="-120"/>
              </a:rPr>
              <a:t>   ·  Final Review</a:t>
            </a:r>
            <a:endParaRPr lang="en-US" sz="1000" dirty="0"/>
          </a:p>
        </p:txBody>
      </p:sp>
      <p:sp>
        <p:nvSpPr>
          <p:cNvPr id="38" name="Text 36"/>
          <p:cNvSpPr txBox="1"/>
          <p:nvPr/>
        </p:nvSpPr>
        <p:spPr>
          <a:xfrm>
            <a:off x="8229600" y="4846320"/>
            <a:ext cx="457200" cy="201168"/>
          </a:xfrm>
          <a:prstGeom prst="rect">
            <a:avLst/>
          </a:prstGeom>
          <a:noFill/>
          <a:ln/>
        </p:spPr>
        <p:txBody>
          <a:bodyPr wrap="square" lIns="0" tIns="0" rIns="0" bIns="0" rtlCol="0" anchor="t"/>
          <a:lstStyle/>
          <a:p>
            <a:pPr marL="0" indent="0" algn="r">
              <a:buNone/>
            </a:pPr>
            <a:r>
              <a:rPr lang="en-US" sz="1000" dirty="0">
                <a:solidFill>
                  <a:srgbClr val="79736E"/>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8F7"/>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ctr"/>
          <a:lstStyle/>
          <a:p>
            <a:pPr marL="0" indent="0">
              <a:buNone/>
            </a:pPr>
            <a:r>
              <a:rPr lang="en-US" sz="3400" b="1" dirty="0">
                <a:solidFill>
                  <a:srgbClr val="36312D"/>
                </a:solidFill>
                <a:latin typeface="Cambria" pitchFamily="34" charset="0"/>
                <a:ea typeface="Cambria" pitchFamily="34" charset="-122"/>
                <a:cs typeface="Cambria" pitchFamily="34" charset="-120"/>
              </a:rPr>
              <a:t>Slot recommendation</a:t>
            </a:r>
            <a:endParaRPr lang="en-US" sz="3400" dirty="0"/>
          </a:p>
        </p:txBody>
      </p:sp>
      <p:sp>
        <p:nvSpPr>
          <p:cNvPr id="3" name="Text 1"/>
          <p:cNvSpPr txBox="1"/>
          <p:nvPr/>
        </p:nvSpPr>
        <p:spPr>
          <a:xfrm>
            <a:off x="457200" y="1188720"/>
            <a:ext cx="4023360" cy="274320"/>
          </a:xfrm>
          <a:prstGeom prst="rect">
            <a:avLst/>
          </a:prstGeom>
          <a:noFill/>
          <a:ln/>
        </p:spPr>
        <p:txBody>
          <a:bodyPr wrap="square" lIns="0" tIns="0" rIns="0" bIns="0" rtlCol="0" anchor="t"/>
          <a:lstStyle/>
          <a:p>
            <a:pPr marL="0" indent="0">
              <a:buNone/>
            </a:pPr>
            <a:r>
              <a:rPr lang="en-US" sz="1600" b="1" dirty="0">
                <a:solidFill>
                  <a:srgbClr val="36312D"/>
                </a:solidFill>
                <a:latin typeface="Arial" pitchFamily="34" charset="0"/>
                <a:ea typeface="Arial" pitchFamily="34" charset="-122"/>
                <a:cs typeface="Arial" pitchFamily="34" charset="-120"/>
              </a:rPr>
              <a:t>Lot as a graph</a:t>
            </a:r>
            <a:endParaRPr lang="en-US" sz="1600" dirty="0"/>
          </a:p>
        </p:txBody>
      </p:sp>
      <p:sp>
        <p:nvSpPr>
          <p:cNvPr id="4" name="Text 2"/>
          <p:cNvSpPr txBox="1"/>
          <p:nvPr/>
        </p:nvSpPr>
        <p:spPr>
          <a:xfrm>
            <a:off x="457200" y="1490472"/>
            <a:ext cx="4023360" cy="502920"/>
          </a:xfrm>
          <a:prstGeom prst="rect">
            <a:avLst/>
          </a:prstGeom>
          <a:noFill/>
          <a:ln/>
        </p:spPr>
        <p:txBody>
          <a:bodyPr wrap="square" lIns="0" tIns="0" rIns="0" bIns="0" rtlCol="0" anchor="t"/>
          <a:lstStyle/>
          <a:p>
            <a:pPr marL="0" indent="0">
              <a:buNone/>
            </a:pPr>
            <a:r>
              <a:rPr lang="en-US" sz="1400" dirty="0">
                <a:solidFill>
                  <a:srgbClr val="79736E"/>
                </a:solidFill>
                <a:latin typeface="Arial" pitchFamily="34" charset="0"/>
                <a:ea typeface="Arial" pitchFamily="34" charset="-122"/>
                <a:cs typeface="Arial" pitchFamily="34" charset="-120"/>
              </a:rPr>
              <a:t>Junctions and lanes become nodes and weighted edges.</a:t>
            </a:r>
            <a:endParaRPr lang="en-US" sz="1400" dirty="0"/>
          </a:p>
        </p:txBody>
      </p:sp>
      <p:sp>
        <p:nvSpPr>
          <p:cNvPr id="5" name="Text 3"/>
          <p:cNvSpPr txBox="1"/>
          <p:nvPr/>
        </p:nvSpPr>
        <p:spPr>
          <a:xfrm>
            <a:off x="457200" y="2057400"/>
            <a:ext cx="4023360" cy="274320"/>
          </a:xfrm>
          <a:prstGeom prst="rect">
            <a:avLst/>
          </a:prstGeom>
          <a:noFill/>
          <a:ln/>
        </p:spPr>
        <p:txBody>
          <a:bodyPr wrap="square" lIns="0" tIns="0" rIns="0" bIns="0" rtlCol="0" anchor="t"/>
          <a:lstStyle/>
          <a:p>
            <a:pPr marL="0" indent="0">
              <a:buNone/>
            </a:pPr>
            <a:r>
              <a:rPr lang="en-US" sz="1600" b="1" dirty="0">
                <a:solidFill>
                  <a:srgbClr val="36312D"/>
                </a:solidFill>
                <a:latin typeface="Arial" pitchFamily="34" charset="0"/>
                <a:ea typeface="Arial" pitchFamily="34" charset="-122"/>
                <a:cs typeface="Arial" pitchFamily="34" charset="-120"/>
              </a:rPr>
              <a:t>Recommend a slot</a:t>
            </a:r>
            <a:endParaRPr lang="en-US" sz="1600" dirty="0"/>
          </a:p>
        </p:txBody>
      </p:sp>
      <p:sp>
        <p:nvSpPr>
          <p:cNvPr id="6" name="Text 4"/>
          <p:cNvSpPr txBox="1"/>
          <p:nvPr/>
        </p:nvSpPr>
        <p:spPr>
          <a:xfrm>
            <a:off x="457200" y="2359152"/>
            <a:ext cx="4023360" cy="502920"/>
          </a:xfrm>
          <a:prstGeom prst="rect">
            <a:avLst/>
          </a:prstGeom>
          <a:noFill/>
          <a:ln/>
        </p:spPr>
        <p:txBody>
          <a:bodyPr wrap="square" lIns="0" tIns="0" rIns="0" bIns="0" rtlCol="0" anchor="t"/>
          <a:lstStyle/>
          <a:p>
            <a:pPr marL="0" indent="0">
              <a:buNone/>
            </a:pPr>
            <a:r>
              <a:rPr lang="en-US" sz="1400" dirty="0">
                <a:solidFill>
                  <a:srgbClr val="79736E"/>
                </a:solidFill>
                <a:latin typeface="Arial" pitchFamily="34" charset="0"/>
                <a:ea typeface="Arial" pitchFamily="34" charset="-122"/>
                <a:cs typeface="Arial" pitchFamily="34" charset="-120"/>
              </a:rPr>
              <a:t>Pick the nearest free bay by shortest path (A* / Dijkstra).</a:t>
            </a:r>
            <a:endParaRPr lang="en-US" sz="1400" dirty="0"/>
          </a:p>
        </p:txBody>
      </p:sp>
      <p:sp>
        <p:nvSpPr>
          <p:cNvPr id="7" name="Text 5"/>
          <p:cNvSpPr txBox="1"/>
          <p:nvPr/>
        </p:nvSpPr>
        <p:spPr>
          <a:xfrm>
            <a:off x="457200" y="2926080"/>
            <a:ext cx="4023360" cy="274320"/>
          </a:xfrm>
          <a:prstGeom prst="rect">
            <a:avLst/>
          </a:prstGeom>
          <a:noFill/>
          <a:ln/>
        </p:spPr>
        <p:txBody>
          <a:bodyPr wrap="square" lIns="0" tIns="0" rIns="0" bIns="0" rtlCol="0" anchor="t"/>
          <a:lstStyle/>
          <a:p>
            <a:pPr marL="0" indent="0">
              <a:buNone/>
            </a:pPr>
            <a:r>
              <a:rPr lang="en-US" sz="1600" b="1" dirty="0">
                <a:solidFill>
                  <a:srgbClr val="36312D"/>
                </a:solidFill>
                <a:latin typeface="Arial" pitchFamily="34" charset="0"/>
                <a:ea typeface="Arial" pitchFamily="34" charset="-122"/>
                <a:cs typeface="Arial" pitchFamily="34" charset="-120"/>
              </a:rPr>
              <a:t>Live re-route</a:t>
            </a:r>
            <a:endParaRPr lang="en-US" sz="1600" dirty="0"/>
          </a:p>
        </p:txBody>
      </p:sp>
      <p:sp>
        <p:nvSpPr>
          <p:cNvPr id="8" name="Text 6"/>
          <p:cNvSpPr txBox="1"/>
          <p:nvPr/>
        </p:nvSpPr>
        <p:spPr>
          <a:xfrm>
            <a:off x="457200" y="3227832"/>
            <a:ext cx="4023360" cy="502920"/>
          </a:xfrm>
          <a:prstGeom prst="rect">
            <a:avLst/>
          </a:prstGeom>
          <a:noFill/>
          <a:ln/>
        </p:spPr>
        <p:txBody>
          <a:bodyPr wrap="square" lIns="0" tIns="0" rIns="0" bIns="0" rtlCol="0" anchor="t"/>
          <a:lstStyle/>
          <a:p>
            <a:pPr marL="0" indent="0">
              <a:buNone/>
            </a:pPr>
            <a:r>
              <a:rPr lang="en-US" sz="1400" dirty="0">
                <a:solidFill>
                  <a:srgbClr val="79736E"/>
                </a:solidFill>
                <a:latin typeface="Arial" pitchFamily="34" charset="0"/>
                <a:ea typeface="Arial" pitchFamily="34" charset="-122"/>
                <a:cs typeface="Arial" pitchFamily="34" charset="-120"/>
              </a:rPr>
              <a:t>If the bay is taken, the suggestion updates automatically.</a:t>
            </a:r>
            <a:endParaRPr lang="en-US" sz="1400" dirty="0"/>
          </a:p>
        </p:txBody>
      </p:sp>
      <p:sp>
        <p:nvSpPr>
          <p:cNvPr id="9" name="Text 7"/>
          <p:cNvSpPr txBox="1"/>
          <p:nvPr/>
        </p:nvSpPr>
        <p:spPr>
          <a:xfrm>
            <a:off x="457200" y="3794760"/>
            <a:ext cx="4023360" cy="274320"/>
          </a:xfrm>
          <a:prstGeom prst="rect">
            <a:avLst/>
          </a:prstGeom>
          <a:noFill/>
          <a:ln/>
        </p:spPr>
        <p:txBody>
          <a:bodyPr wrap="square" lIns="0" tIns="0" rIns="0" bIns="0" rtlCol="0" anchor="t"/>
          <a:lstStyle/>
          <a:p>
            <a:pPr marL="0" indent="0">
              <a:buNone/>
            </a:pPr>
            <a:r>
              <a:rPr lang="en-US" sz="1600" b="1" dirty="0">
                <a:solidFill>
                  <a:srgbClr val="36312D"/>
                </a:solidFill>
                <a:latin typeface="Arial" pitchFamily="34" charset="0"/>
                <a:ea typeface="Arial" pitchFamily="34" charset="-122"/>
                <a:cs typeface="Arial" pitchFamily="34" charset="-120"/>
              </a:rPr>
              <a:t>Outdoor hand-off</a:t>
            </a:r>
            <a:endParaRPr lang="en-US" sz="1600" dirty="0"/>
          </a:p>
        </p:txBody>
      </p:sp>
      <p:sp>
        <p:nvSpPr>
          <p:cNvPr id="10" name="Text 8"/>
          <p:cNvSpPr txBox="1"/>
          <p:nvPr/>
        </p:nvSpPr>
        <p:spPr>
          <a:xfrm>
            <a:off x="457200" y="4096512"/>
            <a:ext cx="4023360" cy="502920"/>
          </a:xfrm>
          <a:prstGeom prst="rect">
            <a:avLst/>
          </a:prstGeom>
          <a:noFill/>
          <a:ln/>
        </p:spPr>
        <p:txBody>
          <a:bodyPr wrap="square" lIns="0" tIns="0" rIns="0" bIns="0" rtlCol="0" anchor="t"/>
          <a:lstStyle/>
          <a:p>
            <a:pPr marL="0" indent="0">
              <a:buNone/>
            </a:pPr>
            <a:r>
              <a:rPr lang="en-US" sz="1400" dirty="0">
                <a:solidFill>
                  <a:srgbClr val="79736E"/>
                </a:solidFill>
                <a:latin typeface="Arial" pitchFamily="34" charset="0"/>
                <a:ea typeface="Arial" pitchFamily="34" charset="-122"/>
                <a:cs typeface="Arial" pitchFamily="34" charset="-120"/>
              </a:rPr>
              <a:t>Deep link to Google Maps to reach the lot itself.</a:t>
            </a:r>
            <a:endParaRPr lang="en-US" sz="1400" dirty="0"/>
          </a:p>
        </p:txBody>
      </p:sp>
      <p:sp>
        <p:nvSpPr>
          <p:cNvPr id="11" name="Shape 9"/>
          <p:cNvSpPr/>
          <p:nvPr/>
        </p:nvSpPr>
        <p:spPr>
          <a:xfrm>
            <a:off x="4754880" y="1188720"/>
            <a:ext cx="3931920" cy="3429000"/>
          </a:xfrm>
          <a:prstGeom prst="roundRect">
            <a:avLst>
              <a:gd name="adj" fmla="val 2667"/>
            </a:avLst>
          </a:prstGeom>
          <a:solidFill>
            <a:srgbClr val="26211E"/>
          </a:solidFill>
          <a:ln/>
        </p:spPr>
        <p:txBody>
          <a:bodyPr/>
          <a:lstStyle/>
          <a:p>
            <a:endParaRPr lang="en-IN"/>
          </a:p>
        </p:txBody>
      </p:sp>
      <p:sp>
        <p:nvSpPr>
          <p:cNvPr id="12" name="Shape 10"/>
          <p:cNvSpPr/>
          <p:nvPr/>
        </p:nvSpPr>
        <p:spPr>
          <a:xfrm>
            <a:off x="4754880" y="2194560"/>
            <a:ext cx="3931920" cy="1097280"/>
          </a:xfrm>
          <a:prstGeom prst="rect">
            <a:avLst/>
          </a:prstGeom>
          <a:solidFill>
            <a:srgbClr val="47403B"/>
          </a:solidFill>
          <a:ln/>
        </p:spPr>
        <p:txBody>
          <a:bodyPr/>
          <a:lstStyle/>
          <a:p>
            <a:endParaRPr lang="en-IN"/>
          </a:p>
        </p:txBody>
      </p:sp>
      <p:sp>
        <p:nvSpPr>
          <p:cNvPr id="13" name="Shape 11"/>
          <p:cNvSpPr/>
          <p:nvPr/>
        </p:nvSpPr>
        <p:spPr>
          <a:xfrm>
            <a:off x="5120640" y="2743200"/>
            <a:ext cx="3474720" cy="0"/>
          </a:xfrm>
          <a:prstGeom prst="line">
            <a:avLst/>
          </a:prstGeom>
          <a:noFill/>
          <a:ln w="12700">
            <a:solidFill>
              <a:srgbClr val="B8B1AB"/>
            </a:solidFill>
            <a:prstDash val="dash"/>
          </a:ln>
        </p:spPr>
        <p:txBody>
          <a:bodyPr/>
          <a:lstStyle/>
          <a:p>
            <a:endParaRPr lang="en-IN"/>
          </a:p>
        </p:txBody>
      </p:sp>
      <p:sp>
        <p:nvSpPr>
          <p:cNvPr id="14" name="Shape 12"/>
          <p:cNvSpPr/>
          <p:nvPr/>
        </p:nvSpPr>
        <p:spPr>
          <a:xfrm>
            <a:off x="5074920" y="1371600"/>
            <a:ext cx="457200" cy="822960"/>
          </a:xfrm>
          <a:prstGeom prst="roundRect">
            <a:avLst>
              <a:gd name="adj" fmla="val 12000"/>
            </a:avLst>
          </a:prstGeom>
          <a:solidFill>
            <a:srgbClr val="E5484D">
              <a:alpha val="20000"/>
            </a:srgbClr>
          </a:solidFill>
          <a:ln w="19050">
            <a:solidFill>
              <a:srgbClr val="E5484D"/>
            </a:solidFill>
            <a:prstDash val="solid"/>
          </a:ln>
        </p:spPr>
        <p:txBody>
          <a:bodyPr/>
          <a:lstStyle/>
          <a:p>
            <a:endParaRPr lang="en-IN"/>
          </a:p>
        </p:txBody>
      </p:sp>
      <p:pic>
        <p:nvPicPr>
          <p:cNvPr id="15" name="Image 0" descr="preencoded.png"/>
          <p:cNvPicPr>
            <a:picLocks noChangeAspect="1"/>
          </p:cNvPicPr>
          <p:nvPr/>
        </p:nvPicPr>
        <p:blipFill>
          <a:blip r:embed="rId3"/>
          <a:stretch>
            <a:fillRect/>
          </a:stretch>
        </p:blipFill>
        <p:spPr>
          <a:xfrm>
            <a:off x="5189220" y="1668780"/>
            <a:ext cx="228600" cy="228600"/>
          </a:xfrm>
          <a:prstGeom prst="rect">
            <a:avLst/>
          </a:prstGeom>
        </p:spPr>
      </p:pic>
      <p:sp>
        <p:nvSpPr>
          <p:cNvPr id="16" name="Shape 13"/>
          <p:cNvSpPr/>
          <p:nvPr/>
        </p:nvSpPr>
        <p:spPr>
          <a:xfrm>
            <a:off x="5074920" y="3291840"/>
            <a:ext cx="457200" cy="822960"/>
          </a:xfrm>
          <a:prstGeom prst="roundRect">
            <a:avLst>
              <a:gd name="adj" fmla="val 12000"/>
            </a:avLst>
          </a:prstGeom>
          <a:solidFill>
            <a:srgbClr val="E5484D">
              <a:alpha val="20000"/>
            </a:srgbClr>
          </a:solidFill>
          <a:ln w="19050">
            <a:solidFill>
              <a:srgbClr val="E5484D"/>
            </a:solidFill>
            <a:prstDash val="solid"/>
          </a:ln>
        </p:spPr>
        <p:txBody>
          <a:bodyPr/>
          <a:lstStyle/>
          <a:p>
            <a:endParaRPr lang="en-IN"/>
          </a:p>
        </p:txBody>
      </p:sp>
      <p:pic>
        <p:nvPicPr>
          <p:cNvPr id="17" name="Image 1" descr="preencoded.png"/>
          <p:cNvPicPr>
            <a:picLocks noChangeAspect="1"/>
          </p:cNvPicPr>
          <p:nvPr/>
        </p:nvPicPr>
        <p:blipFill>
          <a:blip r:embed="rId3"/>
          <a:stretch>
            <a:fillRect/>
          </a:stretch>
        </p:blipFill>
        <p:spPr>
          <a:xfrm>
            <a:off x="5189220" y="3589020"/>
            <a:ext cx="228600" cy="228600"/>
          </a:xfrm>
          <a:prstGeom prst="rect">
            <a:avLst/>
          </a:prstGeom>
        </p:spPr>
      </p:pic>
      <p:sp>
        <p:nvSpPr>
          <p:cNvPr id="18" name="Shape 14"/>
          <p:cNvSpPr/>
          <p:nvPr/>
        </p:nvSpPr>
        <p:spPr>
          <a:xfrm>
            <a:off x="5623560" y="1371600"/>
            <a:ext cx="457200" cy="822960"/>
          </a:xfrm>
          <a:prstGeom prst="roundRect">
            <a:avLst>
              <a:gd name="adj" fmla="val 12000"/>
            </a:avLst>
          </a:prstGeom>
          <a:solidFill>
            <a:srgbClr val="E5484D">
              <a:alpha val="20000"/>
            </a:srgbClr>
          </a:solidFill>
          <a:ln w="19050">
            <a:solidFill>
              <a:srgbClr val="E5484D"/>
            </a:solidFill>
            <a:prstDash val="solid"/>
          </a:ln>
        </p:spPr>
        <p:txBody>
          <a:bodyPr/>
          <a:lstStyle/>
          <a:p>
            <a:endParaRPr lang="en-IN"/>
          </a:p>
        </p:txBody>
      </p:sp>
      <p:pic>
        <p:nvPicPr>
          <p:cNvPr id="19" name="Image 2" descr="preencoded.png"/>
          <p:cNvPicPr>
            <a:picLocks noChangeAspect="1"/>
          </p:cNvPicPr>
          <p:nvPr/>
        </p:nvPicPr>
        <p:blipFill>
          <a:blip r:embed="rId3"/>
          <a:stretch>
            <a:fillRect/>
          </a:stretch>
        </p:blipFill>
        <p:spPr>
          <a:xfrm>
            <a:off x="5737860" y="1668780"/>
            <a:ext cx="228600" cy="228600"/>
          </a:xfrm>
          <a:prstGeom prst="rect">
            <a:avLst/>
          </a:prstGeom>
        </p:spPr>
      </p:pic>
      <p:sp>
        <p:nvSpPr>
          <p:cNvPr id="20" name="Shape 15"/>
          <p:cNvSpPr/>
          <p:nvPr/>
        </p:nvSpPr>
        <p:spPr>
          <a:xfrm>
            <a:off x="5623560" y="3291840"/>
            <a:ext cx="457200" cy="822960"/>
          </a:xfrm>
          <a:prstGeom prst="roundRect">
            <a:avLst>
              <a:gd name="adj" fmla="val 12000"/>
            </a:avLst>
          </a:prstGeom>
          <a:solidFill>
            <a:srgbClr val="E5484D">
              <a:alpha val="20000"/>
            </a:srgbClr>
          </a:solidFill>
          <a:ln w="19050">
            <a:solidFill>
              <a:srgbClr val="E5484D"/>
            </a:solidFill>
            <a:prstDash val="solid"/>
          </a:ln>
        </p:spPr>
        <p:txBody>
          <a:bodyPr/>
          <a:lstStyle/>
          <a:p>
            <a:endParaRPr lang="en-IN"/>
          </a:p>
        </p:txBody>
      </p:sp>
      <p:pic>
        <p:nvPicPr>
          <p:cNvPr id="21" name="Image 3" descr="preencoded.png"/>
          <p:cNvPicPr>
            <a:picLocks noChangeAspect="1"/>
          </p:cNvPicPr>
          <p:nvPr/>
        </p:nvPicPr>
        <p:blipFill>
          <a:blip r:embed="rId3"/>
          <a:stretch>
            <a:fillRect/>
          </a:stretch>
        </p:blipFill>
        <p:spPr>
          <a:xfrm>
            <a:off x="5737860" y="3589020"/>
            <a:ext cx="228600" cy="228600"/>
          </a:xfrm>
          <a:prstGeom prst="rect">
            <a:avLst/>
          </a:prstGeom>
        </p:spPr>
      </p:pic>
      <p:sp>
        <p:nvSpPr>
          <p:cNvPr id="22" name="Text 16"/>
          <p:cNvSpPr txBox="1"/>
          <p:nvPr/>
        </p:nvSpPr>
        <p:spPr>
          <a:xfrm>
            <a:off x="6172200" y="1371600"/>
            <a:ext cx="457200" cy="822960"/>
          </a:xfrm>
          <a:prstGeom prst="roundRect">
            <a:avLst>
              <a:gd name="adj" fmla="val 12000"/>
            </a:avLst>
          </a:prstGeom>
          <a:solidFill>
            <a:srgbClr val="F5A524"/>
          </a:solidFill>
          <a:ln/>
        </p:spPr>
        <p:txBody>
          <a:bodyPr wrap="square" lIns="0" tIns="0" rIns="0" bIns="0" rtlCol="0" anchor="ctr"/>
          <a:lstStyle/>
          <a:p>
            <a:pPr marL="0" indent="0" algn="ctr">
              <a:buNone/>
            </a:pPr>
            <a:r>
              <a:rPr lang="en-US" sz="1100" b="1" dirty="0">
                <a:solidFill>
                  <a:srgbClr val="26211E"/>
                </a:solidFill>
                <a:latin typeface="Arial" pitchFamily="34" charset="0"/>
                <a:ea typeface="Arial" pitchFamily="34" charset="-122"/>
                <a:cs typeface="Arial" pitchFamily="34" charset="-120"/>
              </a:rPr>
              <a:t>A-07</a:t>
            </a:r>
            <a:endParaRPr lang="en-US" sz="1100" dirty="0"/>
          </a:p>
        </p:txBody>
      </p:sp>
      <p:sp>
        <p:nvSpPr>
          <p:cNvPr id="23" name="Shape 17"/>
          <p:cNvSpPr/>
          <p:nvPr/>
        </p:nvSpPr>
        <p:spPr>
          <a:xfrm>
            <a:off x="6172200" y="3291840"/>
            <a:ext cx="457200" cy="822960"/>
          </a:xfrm>
          <a:prstGeom prst="roundRect">
            <a:avLst>
              <a:gd name="adj" fmla="val 12000"/>
            </a:avLst>
          </a:prstGeom>
          <a:solidFill>
            <a:srgbClr val="E5484D">
              <a:alpha val="20000"/>
            </a:srgbClr>
          </a:solidFill>
          <a:ln w="19050">
            <a:solidFill>
              <a:srgbClr val="E5484D"/>
            </a:solidFill>
            <a:prstDash val="solid"/>
          </a:ln>
        </p:spPr>
        <p:txBody>
          <a:bodyPr/>
          <a:lstStyle/>
          <a:p>
            <a:endParaRPr lang="en-IN"/>
          </a:p>
        </p:txBody>
      </p:sp>
      <p:pic>
        <p:nvPicPr>
          <p:cNvPr id="24" name="Image 4" descr="preencoded.png"/>
          <p:cNvPicPr>
            <a:picLocks noChangeAspect="1"/>
          </p:cNvPicPr>
          <p:nvPr/>
        </p:nvPicPr>
        <p:blipFill>
          <a:blip r:embed="rId3"/>
          <a:stretch>
            <a:fillRect/>
          </a:stretch>
        </p:blipFill>
        <p:spPr>
          <a:xfrm>
            <a:off x="6286500" y="3589020"/>
            <a:ext cx="228600" cy="228600"/>
          </a:xfrm>
          <a:prstGeom prst="rect">
            <a:avLst/>
          </a:prstGeom>
        </p:spPr>
      </p:pic>
      <p:sp>
        <p:nvSpPr>
          <p:cNvPr id="25" name="Shape 18"/>
          <p:cNvSpPr/>
          <p:nvPr/>
        </p:nvSpPr>
        <p:spPr>
          <a:xfrm>
            <a:off x="6720840" y="1371600"/>
            <a:ext cx="457200" cy="822960"/>
          </a:xfrm>
          <a:prstGeom prst="roundRect">
            <a:avLst>
              <a:gd name="adj" fmla="val 12000"/>
            </a:avLst>
          </a:prstGeom>
          <a:solidFill>
            <a:srgbClr val="E5484D">
              <a:alpha val="20000"/>
            </a:srgbClr>
          </a:solidFill>
          <a:ln w="19050">
            <a:solidFill>
              <a:srgbClr val="E5484D"/>
            </a:solidFill>
            <a:prstDash val="solid"/>
          </a:ln>
        </p:spPr>
        <p:txBody>
          <a:bodyPr/>
          <a:lstStyle/>
          <a:p>
            <a:endParaRPr lang="en-IN"/>
          </a:p>
        </p:txBody>
      </p:sp>
      <p:pic>
        <p:nvPicPr>
          <p:cNvPr id="26" name="Image 5" descr="preencoded.png"/>
          <p:cNvPicPr>
            <a:picLocks noChangeAspect="1"/>
          </p:cNvPicPr>
          <p:nvPr/>
        </p:nvPicPr>
        <p:blipFill>
          <a:blip r:embed="rId3"/>
          <a:stretch>
            <a:fillRect/>
          </a:stretch>
        </p:blipFill>
        <p:spPr>
          <a:xfrm>
            <a:off x="6835140" y="1668780"/>
            <a:ext cx="228600" cy="228600"/>
          </a:xfrm>
          <a:prstGeom prst="rect">
            <a:avLst/>
          </a:prstGeom>
        </p:spPr>
      </p:pic>
      <p:sp>
        <p:nvSpPr>
          <p:cNvPr id="27" name="Shape 19"/>
          <p:cNvSpPr/>
          <p:nvPr/>
        </p:nvSpPr>
        <p:spPr>
          <a:xfrm>
            <a:off x="6720840" y="3291840"/>
            <a:ext cx="457200" cy="822960"/>
          </a:xfrm>
          <a:prstGeom prst="roundRect">
            <a:avLst>
              <a:gd name="adj" fmla="val 12000"/>
            </a:avLst>
          </a:prstGeom>
          <a:solidFill>
            <a:srgbClr val="E5484D">
              <a:alpha val="20000"/>
            </a:srgbClr>
          </a:solidFill>
          <a:ln w="19050">
            <a:solidFill>
              <a:srgbClr val="E5484D"/>
            </a:solidFill>
            <a:prstDash val="solid"/>
          </a:ln>
        </p:spPr>
        <p:txBody>
          <a:bodyPr/>
          <a:lstStyle/>
          <a:p>
            <a:endParaRPr lang="en-IN"/>
          </a:p>
        </p:txBody>
      </p:sp>
      <p:pic>
        <p:nvPicPr>
          <p:cNvPr id="28" name="Image 6" descr="preencoded.png"/>
          <p:cNvPicPr>
            <a:picLocks noChangeAspect="1"/>
          </p:cNvPicPr>
          <p:nvPr/>
        </p:nvPicPr>
        <p:blipFill>
          <a:blip r:embed="rId3"/>
          <a:stretch>
            <a:fillRect/>
          </a:stretch>
        </p:blipFill>
        <p:spPr>
          <a:xfrm>
            <a:off x="6835140" y="3589020"/>
            <a:ext cx="228600" cy="228600"/>
          </a:xfrm>
          <a:prstGeom prst="rect">
            <a:avLst/>
          </a:prstGeom>
        </p:spPr>
      </p:pic>
      <p:sp>
        <p:nvSpPr>
          <p:cNvPr id="29" name="Text 20"/>
          <p:cNvSpPr txBox="1"/>
          <p:nvPr/>
        </p:nvSpPr>
        <p:spPr>
          <a:xfrm>
            <a:off x="7269480" y="1371600"/>
            <a:ext cx="457200" cy="822960"/>
          </a:xfrm>
          <a:prstGeom prst="roundRect">
            <a:avLst>
              <a:gd name="adj" fmla="val 12000"/>
            </a:avLst>
          </a:prstGeom>
          <a:solidFill>
            <a:srgbClr val="1FBF75">
              <a:alpha val="12000"/>
            </a:srgbClr>
          </a:solidFill>
          <a:ln w="19050">
            <a:solidFill>
              <a:srgbClr val="1FBF75"/>
            </a:solidFill>
          </a:ln>
        </p:spPr>
        <p:txBody>
          <a:bodyPr wrap="square" lIns="0" tIns="0" rIns="0" bIns="0" rtlCol="0" anchor="ctr"/>
          <a:lstStyle/>
          <a:p>
            <a:pPr marL="0" indent="0" algn="ctr">
              <a:buNone/>
            </a:pPr>
            <a:r>
              <a:rPr lang="en-US" sz="1600" b="1" dirty="0">
                <a:solidFill>
                  <a:srgbClr val="1FBF75"/>
                </a:solidFill>
                <a:latin typeface="Arial" pitchFamily="34" charset="0"/>
                <a:ea typeface="Arial" pitchFamily="34" charset="-122"/>
                <a:cs typeface="Arial" pitchFamily="34" charset="-120"/>
              </a:rPr>
              <a:t>P</a:t>
            </a:r>
            <a:endParaRPr lang="en-US" sz="1600" dirty="0"/>
          </a:p>
        </p:txBody>
      </p:sp>
      <p:sp>
        <p:nvSpPr>
          <p:cNvPr id="30" name="Text 21"/>
          <p:cNvSpPr txBox="1"/>
          <p:nvPr/>
        </p:nvSpPr>
        <p:spPr>
          <a:xfrm>
            <a:off x="7269480" y="3291840"/>
            <a:ext cx="457200" cy="822960"/>
          </a:xfrm>
          <a:prstGeom prst="roundRect">
            <a:avLst>
              <a:gd name="adj" fmla="val 12000"/>
            </a:avLst>
          </a:prstGeom>
          <a:solidFill>
            <a:srgbClr val="1FBF75">
              <a:alpha val="12000"/>
            </a:srgbClr>
          </a:solidFill>
          <a:ln w="19050">
            <a:solidFill>
              <a:srgbClr val="1FBF75"/>
            </a:solidFill>
          </a:ln>
        </p:spPr>
        <p:txBody>
          <a:bodyPr wrap="square" lIns="0" tIns="0" rIns="0" bIns="0" rtlCol="0" anchor="ctr"/>
          <a:lstStyle/>
          <a:p>
            <a:pPr marL="0" indent="0" algn="ctr">
              <a:buNone/>
            </a:pPr>
            <a:r>
              <a:rPr lang="en-US" sz="1600" b="1" dirty="0">
                <a:solidFill>
                  <a:srgbClr val="1FBF75"/>
                </a:solidFill>
                <a:latin typeface="Arial" pitchFamily="34" charset="0"/>
                <a:ea typeface="Arial" pitchFamily="34" charset="-122"/>
                <a:cs typeface="Arial" pitchFamily="34" charset="-120"/>
              </a:rPr>
              <a:t>P</a:t>
            </a:r>
            <a:endParaRPr lang="en-US" sz="1600" dirty="0"/>
          </a:p>
        </p:txBody>
      </p:sp>
      <p:sp>
        <p:nvSpPr>
          <p:cNvPr id="31" name="Shape 22"/>
          <p:cNvSpPr/>
          <p:nvPr/>
        </p:nvSpPr>
        <p:spPr>
          <a:xfrm>
            <a:off x="7818120" y="1371600"/>
            <a:ext cx="457200" cy="822960"/>
          </a:xfrm>
          <a:prstGeom prst="roundRect">
            <a:avLst>
              <a:gd name="adj" fmla="val 12000"/>
            </a:avLst>
          </a:prstGeom>
          <a:solidFill>
            <a:srgbClr val="E5484D">
              <a:alpha val="20000"/>
            </a:srgbClr>
          </a:solidFill>
          <a:ln w="19050">
            <a:solidFill>
              <a:srgbClr val="E5484D"/>
            </a:solidFill>
            <a:prstDash val="solid"/>
          </a:ln>
        </p:spPr>
        <p:txBody>
          <a:bodyPr/>
          <a:lstStyle/>
          <a:p>
            <a:endParaRPr lang="en-IN"/>
          </a:p>
        </p:txBody>
      </p:sp>
      <p:pic>
        <p:nvPicPr>
          <p:cNvPr id="32" name="Image 7" descr="preencoded.png"/>
          <p:cNvPicPr>
            <a:picLocks noChangeAspect="1"/>
          </p:cNvPicPr>
          <p:nvPr/>
        </p:nvPicPr>
        <p:blipFill>
          <a:blip r:embed="rId3"/>
          <a:stretch>
            <a:fillRect/>
          </a:stretch>
        </p:blipFill>
        <p:spPr>
          <a:xfrm>
            <a:off x="7932420" y="1668780"/>
            <a:ext cx="228600" cy="228600"/>
          </a:xfrm>
          <a:prstGeom prst="rect">
            <a:avLst/>
          </a:prstGeom>
        </p:spPr>
      </p:pic>
      <p:sp>
        <p:nvSpPr>
          <p:cNvPr id="33" name="Shape 23"/>
          <p:cNvSpPr/>
          <p:nvPr/>
        </p:nvSpPr>
        <p:spPr>
          <a:xfrm>
            <a:off x="7818120" y="3291840"/>
            <a:ext cx="457200" cy="822960"/>
          </a:xfrm>
          <a:prstGeom prst="roundRect">
            <a:avLst>
              <a:gd name="adj" fmla="val 12000"/>
            </a:avLst>
          </a:prstGeom>
          <a:solidFill>
            <a:srgbClr val="E5484D">
              <a:alpha val="20000"/>
            </a:srgbClr>
          </a:solidFill>
          <a:ln w="19050">
            <a:solidFill>
              <a:srgbClr val="E5484D"/>
            </a:solidFill>
            <a:prstDash val="solid"/>
          </a:ln>
        </p:spPr>
        <p:txBody>
          <a:bodyPr/>
          <a:lstStyle/>
          <a:p>
            <a:endParaRPr lang="en-IN"/>
          </a:p>
        </p:txBody>
      </p:sp>
      <p:pic>
        <p:nvPicPr>
          <p:cNvPr id="34" name="Image 8" descr="preencoded.png"/>
          <p:cNvPicPr>
            <a:picLocks noChangeAspect="1"/>
          </p:cNvPicPr>
          <p:nvPr/>
        </p:nvPicPr>
        <p:blipFill>
          <a:blip r:embed="rId3"/>
          <a:stretch>
            <a:fillRect/>
          </a:stretch>
        </p:blipFill>
        <p:spPr>
          <a:xfrm>
            <a:off x="7932420" y="3589020"/>
            <a:ext cx="228600" cy="228600"/>
          </a:xfrm>
          <a:prstGeom prst="rect">
            <a:avLst/>
          </a:prstGeom>
        </p:spPr>
      </p:pic>
      <p:sp>
        <p:nvSpPr>
          <p:cNvPr id="35" name="Shape 24"/>
          <p:cNvSpPr/>
          <p:nvPr/>
        </p:nvSpPr>
        <p:spPr>
          <a:xfrm>
            <a:off x="4983480" y="2743200"/>
            <a:ext cx="1417320" cy="0"/>
          </a:xfrm>
          <a:prstGeom prst="line">
            <a:avLst/>
          </a:prstGeom>
          <a:noFill/>
          <a:ln w="44450">
            <a:solidFill>
              <a:srgbClr val="F5A524"/>
            </a:solidFill>
            <a:prstDash val="solid"/>
          </a:ln>
        </p:spPr>
        <p:txBody>
          <a:bodyPr/>
          <a:lstStyle/>
          <a:p>
            <a:endParaRPr lang="en-IN"/>
          </a:p>
        </p:txBody>
      </p:sp>
      <p:sp>
        <p:nvSpPr>
          <p:cNvPr id="36" name="Shape 25"/>
          <p:cNvSpPr/>
          <p:nvPr/>
        </p:nvSpPr>
        <p:spPr>
          <a:xfrm>
            <a:off x="6400800" y="2194560"/>
            <a:ext cx="0" cy="548640"/>
          </a:xfrm>
          <a:prstGeom prst="line">
            <a:avLst/>
          </a:prstGeom>
          <a:noFill/>
          <a:ln w="44450">
            <a:solidFill>
              <a:srgbClr val="F5A524"/>
            </a:solidFill>
            <a:prstDash val="solid"/>
            <a:headEnd type="triangle"/>
          </a:ln>
        </p:spPr>
        <p:txBody>
          <a:bodyPr/>
          <a:lstStyle/>
          <a:p>
            <a:endParaRPr lang="en-IN"/>
          </a:p>
        </p:txBody>
      </p:sp>
      <p:sp>
        <p:nvSpPr>
          <p:cNvPr id="37" name="Shape 26"/>
          <p:cNvSpPr/>
          <p:nvPr/>
        </p:nvSpPr>
        <p:spPr>
          <a:xfrm>
            <a:off x="4846320" y="2642616"/>
            <a:ext cx="201168" cy="201168"/>
          </a:xfrm>
          <a:prstGeom prst="ellipse">
            <a:avLst/>
          </a:prstGeom>
          <a:solidFill>
            <a:srgbClr val="FFFFFF"/>
          </a:solidFill>
          <a:ln w="31750">
            <a:solidFill>
              <a:srgbClr val="F5A524"/>
            </a:solidFill>
            <a:prstDash val="solid"/>
          </a:ln>
        </p:spPr>
        <p:txBody>
          <a:bodyPr/>
          <a:lstStyle/>
          <a:p>
            <a:endParaRPr lang="en-IN"/>
          </a:p>
        </p:txBody>
      </p:sp>
      <p:sp>
        <p:nvSpPr>
          <p:cNvPr id="38" name="Text 27"/>
          <p:cNvSpPr txBox="1"/>
          <p:nvPr/>
        </p:nvSpPr>
        <p:spPr>
          <a:xfrm>
            <a:off x="4773168" y="2880360"/>
            <a:ext cx="548640" cy="201168"/>
          </a:xfrm>
          <a:prstGeom prst="rect">
            <a:avLst/>
          </a:prstGeom>
          <a:noFill/>
          <a:ln/>
        </p:spPr>
        <p:txBody>
          <a:bodyPr wrap="square" lIns="0" tIns="0" rIns="0" bIns="0" rtlCol="0" anchor="t"/>
          <a:lstStyle/>
          <a:p>
            <a:pPr marL="0" indent="0">
              <a:buNone/>
            </a:pPr>
            <a:r>
              <a:rPr lang="en-US" sz="1000" dirty="0">
                <a:solidFill>
                  <a:srgbClr val="E1DDD9"/>
                </a:solidFill>
                <a:latin typeface="Arial" pitchFamily="34" charset="0"/>
                <a:ea typeface="Arial" pitchFamily="34" charset="-122"/>
                <a:cs typeface="Arial" pitchFamily="34" charset="-120"/>
              </a:rPr>
              <a:t>Entry</a:t>
            </a:r>
            <a:endParaRPr lang="en-US" sz="1000" dirty="0"/>
          </a:p>
        </p:txBody>
      </p:sp>
      <p:sp>
        <p:nvSpPr>
          <p:cNvPr id="39" name="Shape 28"/>
          <p:cNvSpPr/>
          <p:nvPr/>
        </p:nvSpPr>
        <p:spPr>
          <a:xfrm>
            <a:off x="5029200" y="4279392"/>
            <a:ext cx="128016" cy="128016"/>
          </a:xfrm>
          <a:prstGeom prst="rect">
            <a:avLst/>
          </a:prstGeom>
          <a:solidFill>
            <a:srgbClr val="1FBF75"/>
          </a:solidFill>
          <a:ln/>
        </p:spPr>
        <p:txBody>
          <a:bodyPr/>
          <a:lstStyle/>
          <a:p>
            <a:endParaRPr lang="en-IN"/>
          </a:p>
        </p:txBody>
      </p:sp>
      <p:sp>
        <p:nvSpPr>
          <p:cNvPr id="40" name="Text 29"/>
          <p:cNvSpPr txBox="1"/>
          <p:nvPr/>
        </p:nvSpPr>
        <p:spPr>
          <a:xfrm>
            <a:off x="5212080" y="4233672"/>
            <a:ext cx="1463040" cy="219456"/>
          </a:xfrm>
          <a:prstGeom prst="rect">
            <a:avLst/>
          </a:prstGeom>
          <a:noFill/>
          <a:ln/>
        </p:spPr>
        <p:txBody>
          <a:bodyPr wrap="square" lIns="0" tIns="0" rIns="0" bIns="0" rtlCol="0" anchor="ctr"/>
          <a:lstStyle/>
          <a:p>
            <a:pPr marL="0" indent="0">
              <a:buNone/>
            </a:pPr>
            <a:r>
              <a:rPr lang="en-US" sz="1100" dirty="0">
                <a:solidFill>
                  <a:srgbClr val="E1DDD9"/>
                </a:solidFill>
                <a:latin typeface="Arial" pitchFamily="34" charset="0"/>
                <a:ea typeface="Arial" pitchFamily="34" charset="-122"/>
                <a:cs typeface="Arial" pitchFamily="34" charset="-120"/>
              </a:rPr>
              <a:t>Free</a:t>
            </a:r>
            <a:endParaRPr lang="en-US" sz="1100" dirty="0"/>
          </a:p>
        </p:txBody>
      </p:sp>
      <p:sp>
        <p:nvSpPr>
          <p:cNvPr id="41" name="Shape 30"/>
          <p:cNvSpPr/>
          <p:nvPr/>
        </p:nvSpPr>
        <p:spPr>
          <a:xfrm>
            <a:off x="5852160" y="4279392"/>
            <a:ext cx="128016" cy="128016"/>
          </a:xfrm>
          <a:prstGeom prst="rect">
            <a:avLst/>
          </a:prstGeom>
          <a:solidFill>
            <a:srgbClr val="E5484D"/>
          </a:solidFill>
          <a:ln/>
        </p:spPr>
        <p:txBody>
          <a:bodyPr/>
          <a:lstStyle/>
          <a:p>
            <a:endParaRPr lang="en-IN"/>
          </a:p>
        </p:txBody>
      </p:sp>
      <p:sp>
        <p:nvSpPr>
          <p:cNvPr id="42" name="Text 31"/>
          <p:cNvSpPr txBox="1"/>
          <p:nvPr/>
        </p:nvSpPr>
        <p:spPr>
          <a:xfrm>
            <a:off x="6035040" y="4233672"/>
            <a:ext cx="1463040" cy="219456"/>
          </a:xfrm>
          <a:prstGeom prst="rect">
            <a:avLst/>
          </a:prstGeom>
          <a:noFill/>
          <a:ln/>
        </p:spPr>
        <p:txBody>
          <a:bodyPr wrap="square" lIns="0" tIns="0" rIns="0" bIns="0" rtlCol="0" anchor="ctr"/>
          <a:lstStyle/>
          <a:p>
            <a:pPr marL="0" indent="0">
              <a:buNone/>
            </a:pPr>
            <a:r>
              <a:rPr lang="en-US" sz="1100" dirty="0">
                <a:solidFill>
                  <a:srgbClr val="E1DDD9"/>
                </a:solidFill>
                <a:latin typeface="Arial" pitchFamily="34" charset="0"/>
                <a:ea typeface="Arial" pitchFamily="34" charset="-122"/>
                <a:cs typeface="Arial" pitchFamily="34" charset="-120"/>
              </a:rPr>
              <a:t>Occupied</a:t>
            </a:r>
            <a:endParaRPr lang="en-US" sz="1100" dirty="0"/>
          </a:p>
        </p:txBody>
      </p:sp>
      <p:sp>
        <p:nvSpPr>
          <p:cNvPr id="43" name="Shape 32"/>
          <p:cNvSpPr/>
          <p:nvPr/>
        </p:nvSpPr>
        <p:spPr>
          <a:xfrm>
            <a:off x="6949440" y="4279392"/>
            <a:ext cx="128016" cy="128016"/>
          </a:xfrm>
          <a:prstGeom prst="rect">
            <a:avLst/>
          </a:prstGeom>
          <a:solidFill>
            <a:srgbClr val="F5A524"/>
          </a:solidFill>
          <a:ln/>
        </p:spPr>
        <p:txBody>
          <a:bodyPr/>
          <a:lstStyle/>
          <a:p>
            <a:endParaRPr lang="en-IN"/>
          </a:p>
        </p:txBody>
      </p:sp>
      <p:sp>
        <p:nvSpPr>
          <p:cNvPr id="44" name="Text 33"/>
          <p:cNvSpPr txBox="1"/>
          <p:nvPr/>
        </p:nvSpPr>
        <p:spPr>
          <a:xfrm>
            <a:off x="7132320" y="4233672"/>
            <a:ext cx="1463040" cy="219456"/>
          </a:xfrm>
          <a:prstGeom prst="rect">
            <a:avLst/>
          </a:prstGeom>
          <a:noFill/>
          <a:ln/>
        </p:spPr>
        <p:txBody>
          <a:bodyPr wrap="square" lIns="0" tIns="0" rIns="0" bIns="0" rtlCol="0" anchor="ctr"/>
          <a:lstStyle/>
          <a:p>
            <a:pPr marL="0" indent="0">
              <a:buNone/>
            </a:pPr>
            <a:r>
              <a:rPr lang="en-US" sz="1100" dirty="0">
                <a:solidFill>
                  <a:srgbClr val="E1DDD9"/>
                </a:solidFill>
                <a:latin typeface="Arial" pitchFamily="34" charset="0"/>
                <a:ea typeface="Arial" pitchFamily="34" charset="-122"/>
                <a:cs typeface="Arial" pitchFamily="34" charset="-120"/>
              </a:rPr>
              <a:t>Recommended route</a:t>
            </a:r>
            <a:endParaRPr lang="en-US" sz="1100" dirty="0"/>
          </a:p>
        </p:txBody>
      </p:sp>
      <p:sp>
        <p:nvSpPr>
          <p:cNvPr id="45" name="Text 34"/>
          <p:cNvSpPr txBox="1"/>
          <p:nvPr/>
        </p:nvSpPr>
        <p:spPr>
          <a:xfrm>
            <a:off x="457200" y="4846320"/>
            <a:ext cx="5486400" cy="201168"/>
          </a:xfrm>
          <a:prstGeom prst="rect">
            <a:avLst/>
          </a:prstGeom>
          <a:noFill/>
          <a:ln/>
        </p:spPr>
        <p:txBody>
          <a:bodyPr wrap="square" lIns="0" tIns="0" rIns="0" bIns="0" rtlCol="0" anchor="t"/>
          <a:lstStyle/>
          <a:p>
            <a:r>
              <a:rPr lang="en-US" sz="1000" dirty="0" err="1">
                <a:solidFill>
                  <a:srgbClr val="79736E"/>
                </a:solidFill>
                <a:latin typeface="Arial" pitchFamily="34" charset="0"/>
                <a:ea typeface="Arial" pitchFamily="34" charset="-122"/>
                <a:cs typeface="Arial" pitchFamily="34" charset="-120"/>
              </a:rPr>
              <a:t>ParkSense</a:t>
            </a:r>
            <a:r>
              <a:rPr lang="en-US" sz="1000" dirty="0">
                <a:solidFill>
                  <a:srgbClr val="79736E"/>
                </a:solidFill>
                <a:latin typeface="Arial" pitchFamily="34" charset="0"/>
                <a:ea typeface="Arial" pitchFamily="34" charset="-122"/>
                <a:cs typeface="Arial" pitchFamily="34" charset="-120"/>
              </a:rPr>
              <a:t>   ·  Final Review</a:t>
            </a:r>
            <a:endParaRPr lang="en-US" sz="1000" dirty="0"/>
          </a:p>
        </p:txBody>
      </p:sp>
      <p:sp>
        <p:nvSpPr>
          <p:cNvPr id="46" name="Text 35"/>
          <p:cNvSpPr txBox="1"/>
          <p:nvPr/>
        </p:nvSpPr>
        <p:spPr>
          <a:xfrm>
            <a:off x="8229600" y="4846320"/>
            <a:ext cx="457200" cy="201168"/>
          </a:xfrm>
          <a:prstGeom prst="rect">
            <a:avLst/>
          </a:prstGeom>
          <a:noFill/>
          <a:ln/>
        </p:spPr>
        <p:txBody>
          <a:bodyPr wrap="square" lIns="0" tIns="0" rIns="0" bIns="0" rtlCol="0" anchor="t"/>
          <a:lstStyle/>
          <a:p>
            <a:pPr marL="0" indent="0" algn="r">
              <a:buNone/>
            </a:pPr>
            <a:r>
              <a:rPr lang="en-US" sz="1000" dirty="0">
                <a:solidFill>
                  <a:srgbClr val="79736E"/>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8F7"/>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ctr"/>
          <a:lstStyle/>
          <a:p>
            <a:pPr marL="0" indent="0">
              <a:buNone/>
            </a:pPr>
            <a:r>
              <a:rPr lang="en-US" sz="3400" b="1" dirty="0">
                <a:solidFill>
                  <a:srgbClr val="36312D"/>
                </a:solidFill>
                <a:latin typeface="Cambria" pitchFamily="34" charset="0"/>
                <a:ea typeface="Cambria" pitchFamily="34" charset="-122"/>
                <a:cs typeface="Cambria" pitchFamily="34" charset="-120"/>
              </a:rPr>
              <a:t>Emergency lane priority</a:t>
            </a:r>
            <a:endParaRPr lang="en-US" sz="3400" dirty="0"/>
          </a:p>
        </p:txBody>
      </p:sp>
      <p:sp>
        <p:nvSpPr>
          <p:cNvPr id="3" name="Shape 1"/>
          <p:cNvSpPr/>
          <p:nvPr/>
        </p:nvSpPr>
        <p:spPr>
          <a:xfrm>
            <a:off x="457200" y="1216152"/>
            <a:ext cx="457200" cy="457200"/>
          </a:xfrm>
          <a:prstGeom prst="ellipse">
            <a:avLst/>
          </a:prstGeom>
          <a:solidFill>
            <a:srgbClr val="3A332E"/>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571500" y="1330452"/>
            <a:ext cx="228600" cy="228600"/>
          </a:xfrm>
          <a:prstGeom prst="rect">
            <a:avLst/>
          </a:prstGeom>
        </p:spPr>
      </p:pic>
      <p:sp>
        <p:nvSpPr>
          <p:cNvPr id="5" name="Text 2"/>
          <p:cNvSpPr txBox="1"/>
          <p:nvPr/>
        </p:nvSpPr>
        <p:spPr>
          <a:xfrm>
            <a:off x="1097280" y="1188720"/>
            <a:ext cx="3474720" cy="256032"/>
          </a:xfrm>
          <a:prstGeom prst="rect">
            <a:avLst/>
          </a:prstGeom>
          <a:noFill/>
          <a:ln/>
        </p:spPr>
        <p:txBody>
          <a:bodyPr wrap="square" lIns="0" tIns="0" rIns="0" bIns="0" rtlCol="0" anchor="t"/>
          <a:lstStyle/>
          <a:p>
            <a:pPr marL="0" indent="0">
              <a:buNone/>
            </a:pPr>
            <a:r>
              <a:rPr lang="en-US" sz="1320" b="1" dirty="0">
                <a:solidFill>
                  <a:srgbClr val="36312D"/>
                </a:solidFill>
                <a:latin typeface="Arial" pitchFamily="34" charset="0"/>
                <a:ea typeface="Arial" pitchFamily="34" charset="-122"/>
                <a:cs typeface="Arial" pitchFamily="34" charset="-120"/>
              </a:rPr>
              <a:t>Reserved lane</a:t>
            </a:r>
            <a:endParaRPr lang="en-US" sz="1500" dirty="0"/>
          </a:p>
        </p:txBody>
      </p:sp>
      <p:sp>
        <p:nvSpPr>
          <p:cNvPr id="6" name="Text 3"/>
          <p:cNvSpPr txBox="1"/>
          <p:nvPr/>
        </p:nvSpPr>
        <p:spPr>
          <a:xfrm>
            <a:off x="1097280" y="1453896"/>
            <a:ext cx="3474720" cy="411480"/>
          </a:xfrm>
          <a:prstGeom prst="rect">
            <a:avLst/>
          </a:prstGeom>
          <a:noFill/>
          <a:ln/>
        </p:spPr>
        <p:txBody>
          <a:bodyPr wrap="square" lIns="0" tIns="0" rIns="0" bIns="0" rtlCol="0" anchor="t"/>
          <a:lstStyle/>
          <a:p>
            <a:pPr marL="0" indent="0">
              <a:buNone/>
            </a:pPr>
            <a:r>
              <a:rPr lang="en-US" sz="1140" dirty="0">
                <a:solidFill>
                  <a:srgbClr val="79736E"/>
                </a:solidFill>
                <a:latin typeface="Arial" pitchFamily="34" charset="0"/>
                <a:ea typeface="Arial" pitchFamily="34" charset="-122"/>
                <a:cs typeface="Arial" pitchFamily="34" charset="-120"/>
              </a:rPr>
              <a:t>Marked no-parking; never offered as a slot.</a:t>
            </a:r>
            <a:endParaRPr lang="en-US" sz="1300" dirty="0"/>
          </a:p>
        </p:txBody>
      </p:sp>
      <p:sp>
        <p:nvSpPr>
          <p:cNvPr id="7" name="Shape 4"/>
          <p:cNvSpPr/>
          <p:nvPr/>
        </p:nvSpPr>
        <p:spPr>
          <a:xfrm>
            <a:off x="457200" y="1929384"/>
            <a:ext cx="457200" cy="457200"/>
          </a:xfrm>
          <a:prstGeom prst="ellipse">
            <a:avLst/>
          </a:prstGeom>
          <a:solidFill>
            <a:srgbClr val="3A332E"/>
          </a:solidFill>
          <a:ln/>
        </p:spPr>
        <p:txBody>
          <a:bodyPr/>
          <a:lstStyle/>
          <a:p>
            <a:endParaRPr lang="en-IN"/>
          </a:p>
        </p:txBody>
      </p:sp>
      <p:pic>
        <p:nvPicPr>
          <p:cNvPr id="8" name="Image 1" descr="preencoded.png"/>
          <p:cNvPicPr>
            <a:picLocks noChangeAspect="1"/>
          </p:cNvPicPr>
          <p:nvPr/>
        </p:nvPicPr>
        <p:blipFill>
          <a:blip r:embed="rId4"/>
          <a:stretch>
            <a:fillRect/>
          </a:stretch>
        </p:blipFill>
        <p:spPr>
          <a:xfrm>
            <a:off x="571500" y="2043684"/>
            <a:ext cx="228600" cy="228600"/>
          </a:xfrm>
          <a:prstGeom prst="rect">
            <a:avLst/>
          </a:prstGeom>
        </p:spPr>
      </p:pic>
      <p:sp>
        <p:nvSpPr>
          <p:cNvPr id="9" name="Text 5"/>
          <p:cNvSpPr txBox="1"/>
          <p:nvPr/>
        </p:nvSpPr>
        <p:spPr>
          <a:xfrm>
            <a:off x="1097280" y="1901952"/>
            <a:ext cx="3474720" cy="256032"/>
          </a:xfrm>
          <a:prstGeom prst="rect">
            <a:avLst/>
          </a:prstGeom>
          <a:noFill/>
          <a:ln/>
        </p:spPr>
        <p:txBody>
          <a:bodyPr wrap="square" lIns="0" tIns="0" rIns="0" bIns="0" rtlCol="0" anchor="t"/>
          <a:lstStyle/>
          <a:p>
            <a:pPr marL="0" indent="0">
              <a:buNone/>
            </a:pPr>
            <a:r>
              <a:rPr lang="en-US" sz="1320" b="1" dirty="0">
                <a:solidFill>
                  <a:srgbClr val="36312D"/>
                </a:solidFill>
                <a:latin typeface="Arial" pitchFamily="34" charset="0"/>
                <a:ea typeface="Arial" pitchFamily="34" charset="-122"/>
                <a:cs typeface="Arial" pitchFamily="34" charset="-120"/>
              </a:rPr>
              <a:t>Blockage alert</a:t>
            </a:r>
            <a:endParaRPr lang="en-US" sz="1500" dirty="0"/>
          </a:p>
        </p:txBody>
      </p:sp>
      <p:sp>
        <p:nvSpPr>
          <p:cNvPr id="10" name="Text 6"/>
          <p:cNvSpPr txBox="1"/>
          <p:nvPr/>
        </p:nvSpPr>
        <p:spPr>
          <a:xfrm>
            <a:off x="1097280" y="2167128"/>
            <a:ext cx="3474720" cy="411480"/>
          </a:xfrm>
          <a:prstGeom prst="rect">
            <a:avLst/>
          </a:prstGeom>
          <a:noFill/>
          <a:ln/>
        </p:spPr>
        <p:txBody>
          <a:bodyPr wrap="square" lIns="0" tIns="0" rIns="0" bIns="0" rtlCol="0" anchor="t"/>
          <a:lstStyle/>
          <a:p>
            <a:pPr marL="0" indent="0">
              <a:buNone/>
            </a:pPr>
            <a:r>
              <a:rPr lang="en-US" sz="1140" dirty="0">
                <a:solidFill>
                  <a:srgbClr val="79736E"/>
                </a:solidFill>
                <a:latin typeface="Arial" pitchFamily="34" charset="0"/>
                <a:ea typeface="Arial" pitchFamily="34" charset="-122"/>
                <a:cs typeface="Arial" pitchFamily="34" charset="-120"/>
              </a:rPr>
              <a:t>A vehicle parked in the lane triggers an alert.</a:t>
            </a:r>
            <a:endParaRPr lang="en-US" sz="1300" dirty="0"/>
          </a:p>
        </p:txBody>
      </p:sp>
      <p:sp>
        <p:nvSpPr>
          <p:cNvPr id="11" name="Shape 7"/>
          <p:cNvSpPr/>
          <p:nvPr/>
        </p:nvSpPr>
        <p:spPr>
          <a:xfrm>
            <a:off x="457200" y="2642616"/>
            <a:ext cx="457200" cy="457200"/>
          </a:xfrm>
          <a:prstGeom prst="ellipse">
            <a:avLst/>
          </a:prstGeom>
          <a:solidFill>
            <a:srgbClr val="3A332E"/>
          </a:solidFill>
          <a:ln/>
        </p:spPr>
        <p:txBody>
          <a:bodyPr/>
          <a:lstStyle/>
          <a:p>
            <a:endParaRPr lang="en-IN"/>
          </a:p>
        </p:txBody>
      </p:sp>
      <p:pic>
        <p:nvPicPr>
          <p:cNvPr id="12" name="Image 2" descr="preencoded.png"/>
          <p:cNvPicPr>
            <a:picLocks noChangeAspect="1"/>
          </p:cNvPicPr>
          <p:nvPr/>
        </p:nvPicPr>
        <p:blipFill>
          <a:blip r:embed="rId5"/>
          <a:stretch>
            <a:fillRect/>
          </a:stretch>
        </p:blipFill>
        <p:spPr>
          <a:xfrm>
            <a:off x="571500" y="2756916"/>
            <a:ext cx="228600" cy="228600"/>
          </a:xfrm>
          <a:prstGeom prst="rect">
            <a:avLst/>
          </a:prstGeom>
        </p:spPr>
      </p:pic>
      <p:sp>
        <p:nvSpPr>
          <p:cNvPr id="13" name="Text 8"/>
          <p:cNvSpPr txBox="1"/>
          <p:nvPr/>
        </p:nvSpPr>
        <p:spPr>
          <a:xfrm>
            <a:off x="1097280" y="2615184"/>
            <a:ext cx="3474720" cy="256032"/>
          </a:xfrm>
          <a:prstGeom prst="rect">
            <a:avLst/>
          </a:prstGeom>
          <a:noFill/>
          <a:ln/>
        </p:spPr>
        <p:txBody>
          <a:bodyPr wrap="square" lIns="0" tIns="0" rIns="0" bIns="0" rtlCol="0" anchor="t"/>
          <a:lstStyle/>
          <a:p>
            <a:pPr marL="0" indent="0">
              <a:buNone/>
            </a:pPr>
            <a:r>
              <a:rPr lang="en-US" sz="1320" b="1" dirty="0">
                <a:solidFill>
                  <a:srgbClr val="36312D"/>
                </a:solidFill>
                <a:latin typeface="Arial" pitchFamily="34" charset="0"/>
                <a:ea typeface="Arial" pitchFamily="34" charset="-122"/>
                <a:cs typeface="Arial" pitchFamily="34" charset="-120"/>
              </a:rPr>
              <a:t>Emergency priority</a:t>
            </a:r>
            <a:endParaRPr lang="en-US" sz="1500" dirty="0"/>
          </a:p>
        </p:txBody>
      </p:sp>
      <p:sp>
        <p:nvSpPr>
          <p:cNvPr id="14" name="Text 9"/>
          <p:cNvSpPr txBox="1"/>
          <p:nvPr/>
        </p:nvSpPr>
        <p:spPr>
          <a:xfrm>
            <a:off x="1097280" y="2880360"/>
            <a:ext cx="3474720" cy="411480"/>
          </a:xfrm>
          <a:prstGeom prst="rect">
            <a:avLst/>
          </a:prstGeom>
          <a:noFill/>
          <a:ln/>
        </p:spPr>
        <p:txBody>
          <a:bodyPr wrap="square" lIns="0" tIns="0" rIns="0" bIns="0" rtlCol="0" anchor="t"/>
          <a:lstStyle/>
          <a:p>
            <a:pPr marL="0" indent="0">
              <a:buNone/>
            </a:pPr>
            <a:r>
              <a:rPr lang="en-US" sz="1140" dirty="0">
                <a:solidFill>
                  <a:srgbClr val="79736E"/>
                </a:solidFill>
                <a:latin typeface="Arial" pitchFamily="34" charset="0"/>
                <a:ea typeface="Arial" pitchFamily="34" charset="-122"/>
                <a:cs typeface="Arial" pitchFamily="34" charset="-120"/>
              </a:rPr>
              <a:t>Ambulance or fire truck gets a cleared route.</a:t>
            </a:r>
            <a:endParaRPr lang="en-US" sz="1300" dirty="0"/>
          </a:p>
        </p:txBody>
      </p:sp>
      <p:sp>
        <p:nvSpPr>
          <p:cNvPr id="15" name="Shape 10"/>
          <p:cNvSpPr/>
          <p:nvPr/>
        </p:nvSpPr>
        <p:spPr>
          <a:xfrm>
            <a:off x="457200" y="3355848"/>
            <a:ext cx="457200" cy="457200"/>
          </a:xfrm>
          <a:prstGeom prst="ellipse">
            <a:avLst/>
          </a:prstGeom>
          <a:solidFill>
            <a:srgbClr val="3A332E"/>
          </a:solidFill>
          <a:ln/>
        </p:spPr>
        <p:txBody>
          <a:bodyPr/>
          <a:lstStyle/>
          <a:p>
            <a:endParaRPr lang="en-IN"/>
          </a:p>
        </p:txBody>
      </p:sp>
      <p:pic>
        <p:nvPicPr>
          <p:cNvPr id="16" name="Image 3" descr="preencoded.png"/>
          <p:cNvPicPr>
            <a:picLocks noChangeAspect="1"/>
          </p:cNvPicPr>
          <p:nvPr/>
        </p:nvPicPr>
        <p:blipFill>
          <a:blip r:embed="rId6"/>
          <a:stretch>
            <a:fillRect/>
          </a:stretch>
        </p:blipFill>
        <p:spPr>
          <a:xfrm>
            <a:off x="571500" y="3470148"/>
            <a:ext cx="228600" cy="228600"/>
          </a:xfrm>
          <a:prstGeom prst="rect">
            <a:avLst/>
          </a:prstGeom>
        </p:spPr>
      </p:pic>
      <p:sp>
        <p:nvSpPr>
          <p:cNvPr id="17" name="Text 11"/>
          <p:cNvSpPr txBox="1"/>
          <p:nvPr/>
        </p:nvSpPr>
        <p:spPr>
          <a:xfrm>
            <a:off x="1097280" y="3328416"/>
            <a:ext cx="3474720" cy="256032"/>
          </a:xfrm>
          <a:prstGeom prst="rect">
            <a:avLst/>
          </a:prstGeom>
          <a:noFill/>
          <a:ln/>
        </p:spPr>
        <p:txBody>
          <a:bodyPr wrap="square" lIns="0" tIns="0" rIns="0" bIns="0" rtlCol="0" anchor="t"/>
          <a:lstStyle/>
          <a:p>
            <a:pPr marL="0" indent="0">
              <a:buNone/>
            </a:pPr>
            <a:r>
              <a:rPr lang="en-US" sz="1320" b="1" dirty="0">
                <a:solidFill>
                  <a:srgbClr val="36312D"/>
                </a:solidFill>
                <a:latin typeface="Arial" pitchFamily="34" charset="0"/>
                <a:ea typeface="Arial" pitchFamily="34" charset="-122"/>
                <a:cs typeface="Arial" pitchFamily="34" charset="-120"/>
              </a:rPr>
              <a:t>Smart re-routing</a:t>
            </a:r>
            <a:endParaRPr lang="en-US" sz="1500" dirty="0"/>
          </a:p>
        </p:txBody>
      </p:sp>
      <p:sp>
        <p:nvSpPr>
          <p:cNvPr id="18" name="Text 12"/>
          <p:cNvSpPr txBox="1"/>
          <p:nvPr/>
        </p:nvSpPr>
        <p:spPr>
          <a:xfrm>
            <a:off x="1097280" y="3593592"/>
            <a:ext cx="3474720" cy="411480"/>
          </a:xfrm>
          <a:prstGeom prst="rect">
            <a:avLst/>
          </a:prstGeom>
          <a:noFill/>
          <a:ln/>
        </p:spPr>
        <p:txBody>
          <a:bodyPr wrap="square" lIns="0" tIns="0" rIns="0" bIns="0" rtlCol="0" anchor="t"/>
          <a:lstStyle/>
          <a:p>
            <a:pPr marL="0" indent="0">
              <a:buNone/>
            </a:pPr>
            <a:r>
              <a:rPr lang="en-US" sz="1140" dirty="0">
                <a:solidFill>
                  <a:srgbClr val="79736E"/>
                </a:solidFill>
                <a:latin typeface="Arial" pitchFamily="34" charset="0"/>
                <a:ea typeface="Arial" pitchFamily="34" charset="-122"/>
                <a:cs typeface="Arial" pitchFamily="34" charset="-120"/>
              </a:rPr>
              <a:t>Routes avoid blocked lanes; alternate path shown.</a:t>
            </a:r>
            <a:endParaRPr lang="en-US" sz="1300" dirty="0"/>
          </a:p>
        </p:txBody>
      </p:sp>
      <p:sp>
        <p:nvSpPr>
          <p:cNvPr id="19" name="Shape 13"/>
          <p:cNvSpPr/>
          <p:nvPr/>
        </p:nvSpPr>
        <p:spPr>
          <a:xfrm>
            <a:off x="457200" y="4069080"/>
            <a:ext cx="4114800" cy="548640"/>
          </a:xfrm>
          <a:prstGeom prst="roundRect">
            <a:avLst>
              <a:gd name="adj" fmla="val 13333"/>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20" name="Text 14"/>
          <p:cNvSpPr txBox="1"/>
          <p:nvPr/>
        </p:nvSpPr>
        <p:spPr>
          <a:xfrm>
            <a:off x="594360" y="4069080"/>
            <a:ext cx="3886200" cy="548640"/>
          </a:xfrm>
          <a:prstGeom prst="rect">
            <a:avLst/>
          </a:prstGeom>
          <a:noFill/>
          <a:ln/>
        </p:spPr>
        <p:txBody>
          <a:bodyPr wrap="square" lIns="0" tIns="0" rIns="0" bIns="0" rtlCol="0" anchor="ctr"/>
          <a:lstStyle/>
          <a:p>
            <a:pPr marL="0" indent="0">
              <a:buNone/>
            </a:pPr>
            <a:r>
              <a:rPr lang="en-US" sz="960" b="1" dirty="0">
                <a:solidFill>
                  <a:srgbClr val="C93A3F"/>
                </a:solidFill>
                <a:latin typeface="Arial" pitchFamily="34" charset="0"/>
                <a:ea typeface="Arial" pitchFamily="34" charset="-122"/>
                <a:cs typeface="Arial" pitchFamily="34" charset="-120"/>
              </a:rPr>
              <a:t>Real-world rule: </a:t>
            </a:r>
            <a:r>
              <a:rPr lang="en-US" sz="960" dirty="0">
                <a:solidFill>
                  <a:srgbClr val="36312D"/>
                </a:solidFill>
                <a:latin typeface="Arial" pitchFamily="34" charset="0"/>
                <a:ea typeface="Arial" pitchFamily="34" charset="-122"/>
                <a:cs typeface="Arial" pitchFamily="34" charset="-120"/>
              </a:rPr>
              <a:t>fire lanes are commonly kept at least 20 ft (about 6 m) wide and clear. Confirm your local fire code.</a:t>
            </a:r>
            <a:endParaRPr lang="en-US" sz="1100" dirty="0"/>
          </a:p>
        </p:txBody>
      </p:sp>
      <p:sp>
        <p:nvSpPr>
          <p:cNvPr id="21" name="Shape 15"/>
          <p:cNvSpPr/>
          <p:nvPr/>
        </p:nvSpPr>
        <p:spPr>
          <a:xfrm>
            <a:off x="4754880" y="1188720"/>
            <a:ext cx="3931920" cy="3429000"/>
          </a:xfrm>
          <a:prstGeom prst="roundRect">
            <a:avLst>
              <a:gd name="adj" fmla="val 2667"/>
            </a:avLst>
          </a:prstGeom>
          <a:solidFill>
            <a:srgbClr val="26211E"/>
          </a:solidFill>
          <a:ln/>
        </p:spPr>
        <p:txBody>
          <a:bodyPr/>
          <a:lstStyle/>
          <a:p>
            <a:endParaRPr lang="en-IN"/>
          </a:p>
        </p:txBody>
      </p:sp>
      <p:sp>
        <p:nvSpPr>
          <p:cNvPr id="22" name="Shape 16"/>
          <p:cNvSpPr/>
          <p:nvPr/>
        </p:nvSpPr>
        <p:spPr>
          <a:xfrm>
            <a:off x="5029200" y="1371600"/>
            <a:ext cx="457200" cy="777240"/>
          </a:xfrm>
          <a:prstGeom prst="roundRect">
            <a:avLst>
              <a:gd name="adj" fmla="val 12000"/>
            </a:avLst>
          </a:prstGeom>
          <a:solidFill>
            <a:srgbClr val="E5484D">
              <a:alpha val="20000"/>
            </a:srgbClr>
          </a:solidFill>
          <a:ln w="19050">
            <a:solidFill>
              <a:srgbClr val="E5484D"/>
            </a:solidFill>
            <a:prstDash val="solid"/>
          </a:ln>
        </p:spPr>
        <p:txBody>
          <a:bodyPr/>
          <a:lstStyle/>
          <a:p>
            <a:endParaRPr lang="en-IN"/>
          </a:p>
        </p:txBody>
      </p:sp>
      <p:pic>
        <p:nvPicPr>
          <p:cNvPr id="23" name="Image 4" descr="preencoded.png"/>
          <p:cNvPicPr>
            <a:picLocks noChangeAspect="1"/>
          </p:cNvPicPr>
          <p:nvPr/>
        </p:nvPicPr>
        <p:blipFill>
          <a:blip r:embed="rId7"/>
          <a:stretch>
            <a:fillRect/>
          </a:stretch>
        </p:blipFill>
        <p:spPr>
          <a:xfrm>
            <a:off x="5143500" y="1645920"/>
            <a:ext cx="228600" cy="228600"/>
          </a:xfrm>
          <a:prstGeom prst="rect">
            <a:avLst/>
          </a:prstGeom>
        </p:spPr>
      </p:pic>
      <p:sp>
        <p:nvSpPr>
          <p:cNvPr id="24" name="Shape 17"/>
          <p:cNvSpPr/>
          <p:nvPr/>
        </p:nvSpPr>
        <p:spPr>
          <a:xfrm>
            <a:off x="5029200" y="3337560"/>
            <a:ext cx="457200" cy="777240"/>
          </a:xfrm>
          <a:prstGeom prst="roundRect">
            <a:avLst>
              <a:gd name="adj" fmla="val 12000"/>
            </a:avLst>
          </a:prstGeom>
          <a:solidFill>
            <a:srgbClr val="E5484D">
              <a:alpha val="20000"/>
            </a:srgbClr>
          </a:solidFill>
          <a:ln w="19050">
            <a:solidFill>
              <a:srgbClr val="E5484D"/>
            </a:solidFill>
            <a:prstDash val="solid"/>
          </a:ln>
        </p:spPr>
        <p:txBody>
          <a:bodyPr/>
          <a:lstStyle/>
          <a:p>
            <a:endParaRPr lang="en-IN"/>
          </a:p>
        </p:txBody>
      </p:sp>
      <p:pic>
        <p:nvPicPr>
          <p:cNvPr id="25" name="Image 5" descr="preencoded.png"/>
          <p:cNvPicPr>
            <a:picLocks noChangeAspect="1"/>
          </p:cNvPicPr>
          <p:nvPr/>
        </p:nvPicPr>
        <p:blipFill>
          <a:blip r:embed="rId7"/>
          <a:stretch>
            <a:fillRect/>
          </a:stretch>
        </p:blipFill>
        <p:spPr>
          <a:xfrm>
            <a:off x="5143500" y="3611880"/>
            <a:ext cx="228600" cy="228600"/>
          </a:xfrm>
          <a:prstGeom prst="rect">
            <a:avLst/>
          </a:prstGeom>
        </p:spPr>
      </p:pic>
      <p:sp>
        <p:nvSpPr>
          <p:cNvPr id="26" name="Text 18"/>
          <p:cNvSpPr txBox="1"/>
          <p:nvPr/>
        </p:nvSpPr>
        <p:spPr>
          <a:xfrm>
            <a:off x="5577840" y="1371600"/>
            <a:ext cx="457200" cy="777240"/>
          </a:xfrm>
          <a:prstGeom prst="roundRect">
            <a:avLst>
              <a:gd name="adj" fmla="val 12000"/>
            </a:avLst>
          </a:prstGeom>
          <a:solidFill>
            <a:srgbClr val="1FBF75">
              <a:alpha val="12000"/>
            </a:srgbClr>
          </a:solidFill>
          <a:ln w="19050">
            <a:solidFill>
              <a:srgbClr val="1FBF75"/>
            </a:solidFill>
          </a:ln>
        </p:spPr>
        <p:txBody>
          <a:bodyPr wrap="square" lIns="0" tIns="0" rIns="0" bIns="0" rtlCol="0" anchor="ctr"/>
          <a:lstStyle/>
          <a:p>
            <a:pPr marL="0" indent="0" algn="ctr">
              <a:buNone/>
            </a:pPr>
            <a:r>
              <a:rPr lang="en-US" sz="1400" b="1" dirty="0">
                <a:solidFill>
                  <a:srgbClr val="1FBF75"/>
                </a:solidFill>
                <a:latin typeface="Arial" pitchFamily="34" charset="0"/>
                <a:ea typeface="Arial" pitchFamily="34" charset="-122"/>
                <a:cs typeface="Arial" pitchFamily="34" charset="-120"/>
              </a:rPr>
              <a:t>P</a:t>
            </a:r>
            <a:endParaRPr lang="en-US" sz="1600" dirty="0"/>
          </a:p>
        </p:txBody>
      </p:sp>
      <p:sp>
        <p:nvSpPr>
          <p:cNvPr id="27" name="Shape 19"/>
          <p:cNvSpPr/>
          <p:nvPr/>
        </p:nvSpPr>
        <p:spPr>
          <a:xfrm>
            <a:off x="5577840" y="3337560"/>
            <a:ext cx="457200" cy="777240"/>
          </a:xfrm>
          <a:prstGeom prst="roundRect">
            <a:avLst>
              <a:gd name="adj" fmla="val 12000"/>
            </a:avLst>
          </a:prstGeom>
          <a:solidFill>
            <a:srgbClr val="E5484D">
              <a:alpha val="20000"/>
            </a:srgbClr>
          </a:solidFill>
          <a:ln w="19050">
            <a:solidFill>
              <a:srgbClr val="E5484D"/>
            </a:solidFill>
            <a:prstDash val="solid"/>
          </a:ln>
        </p:spPr>
        <p:txBody>
          <a:bodyPr/>
          <a:lstStyle/>
          <a:p>
            <a:endParaRPr lang="en-IN"/>
          </a:p>
        </p:txBody>
      </p:sp>
      <p:pic>
        <p:nvPicPr>
          <p:cNvPr id="28" name="Image 6" descr="preencoded.png"/>
          <p:cNvPicPr>
            <a:picLocks noChangeAspect="1"/>
          </p:cNvPicPr>
          <p:nvPr/>
        </p:nvPicPr>
        <p:blipFill>
          <a:blip r:embed="rId7"/>
          <a:stretch>
            <a:fillRect/>
          </a:stretch>
        </p:blipFill>
        <p:spPr>
          <a:xfrm>
            <a:off x="5692140" y="3611880"/>
            <a:ext cx="228600" cy="228600"/>
          </a:xfrm>
          <a:prstGeom prst="rect">
            <a:avLst/>
          </a:prstGeom>
        </p:spPr>
      </p:pic>
      <p:sp>
        <p:nvSpPr>
          <p:cNvPr id="29" name="Shape 20"/>
          <p:cNvSpPr/>
          <p:nvPr/>
        </p:nvSpPr>
        <p:spPr>
          <a:xfrm>
            <a:off x="6126480" y="1371600"/>
            <a:ext cx="457200" cy="777240"/>
          </a:xfrm>
          <a:prstGeom prst="roundRect">
            <a:avLst>
              <a:gd name="adj" fmla="val 12000"/>
            </a:avLst>
          </a:prstGeom>
          <a:solidFill>
            <a:srgbClr val="E5484D">
              <a:alpha val="20000"/>
            </a:srgbClr>
          </a:solidFill>
          <a:ln w="19050">
            <a:solidFill>
              <a:srgbClr val="E5484D"/>
            </a:solidFill>
            <a:prstDash val="solid"/>
          </a:ln>
        </p:spPr>
        <p:txBody>
          <a:bodyPr/>
          <a:lstStyle/>
          <a:p>
            <a:endParaRPr lang="en-IN"/>
          </a:p>
        </p:txBody>
      </p:sp>
      <p:pic>
        <p:nvPicPr>
          <p:cNvPr id="30" name="Image 7" descr="preencoded.png"/>
          <p:cNvPicPr>
            <a:picLocks noChangeAspect="1"/>
          </p:cNvPicPr>
          <p:nvPr/>
        </p:nvPicPr>
        <p:blipFill>
          <a:blip r:embed="rId7"/>
          <a:stretch>
            <a:fillRect/>
          </a:stretch>
        </p:blipFill>
        <p:spPr>
          <a:xfrm>
            <a:off x="6240780" y="1645920"/>
            <a:ext cx="228600" cy="228600"/>
          </a:xfrm>
          <a:prstGeom prst="rect">
            <a:avLst/>
          </a:prstGeom>
        </p:spPr>
      </p:pic>
      <p:sp>
        <p:nvSpPr>
          <p:cNvPr id="31" name="Text 21"/>
          <p:cNvSpPr txBox="1"/>
          <p:nvPr/>
        </p:nvSpPr>
        <p:spPr>
          <a:xfrm>
            <a:off x="6126480" y="3337560"/>
            <a:ext cx="457200" cy="777240"/>
          </a:xfrm>
          <a:prstGeom prst="roundRect">
            <a:avLst>
              <a:gd name="adj" fmla="val 12000"/>
            </a:avLst>
          </a:prstGeom>
          <a:solidFill>
            <a:srgbClr val="1FBF75">
              <a:alpha val="12000"/>
            </a:srgbClr>
          </a:solidFill>
          <a:ln w="19050">
            <a:solidFill>
              <a:srgbClr val="1FBF75"/>
            </a:solidFill>
          </a:ln>
        </p:spPr>
        <p:txBody>
          <a:bodyPr wrap="square" lIns="0" tIns="0" rIns="0" bIns="0" rtlCol="0" anchor="ctr"/>
          <a:lstStyle/>
          <a:p>
            <a:pPr marL="0" indent="0" algn="ctr">
              <a:buNone/>
            </a:pPr>
            <a:r>
              <a:rPr lang="en-US" sz="1400" b="1" dirty="0">
                <a:solidFill>
                  <a:srgbClr val="1FBF75"/>
                </a:solidFill>
                <a:latin typeface="Arial" pitchFamily="34" charset="0"/>
                <a:ea typeface="Arial" pitchFamily="34" charset="-122"/>
                <a:cs typeface="Arial" pitchFamily="34" charset="-120"/>
              </a:rPr>
              <a:t>P</a:t>
            </a:r>
            <a:endParaRPr lang="en-US" sz="1600" dirty="0"/>
          </a:p>
        </p:txBody>
      </p:sp>
      <p:sp>
        <p:nvSpPr>
          <p:cNvPr id="32" name="Shape 22"/>
          <p:cNvSpPr/>
          <p:nvPr/>
        </p:nvSpPr>
        <p:spPr>
          <a:xfrm>
            <a:off x="6675120" y="1371600"/>
            <a:ext cx="457200" cy="777240"/>
          </a:xfrm>
          <a:prstGeom prst="roundRect">
            <a:avLst>
              <a:gd name="adj" fmla="val 12000"/>
            </a:avLst>
          </a:prstGeom>
          <a:solidFill>
            <a:srgbClr val="E5484D">
              <a:alpha val="20000"/>
            </a:srgbClr>
          </a:solidFill>
          <a:ln w="19050">
            <a:solidFill>
              <a:srgbClr val="E5484D"/>
            </a:solidFill>
            <a:prstDash val="solid"/>
          </a:ln>
        </p:spPr>
        <p:txBody>
          <a:bodyPr/>
          <a:lstStyle/>
          <a:p>
            <a:endParaRPr lang="en-IN"/>
          </a:p>
        </p:txBody>
      </p:sp>
      <p:pic>
        <p:nvPicPr>
          <p:cNvPr id="33" name="Image 8" descr="preencoded.png"/>
          <p:cNvPicPr>
            <a:picLocks noChangeAspect="1"/>
          </p:cNvPicPr>
          <p:nvPr/>
        </p:nvPicPr>
        <p:blipFill>
          <a:blip r:embed="rId7"/>
          <a:stretch>
            <a:fillRect/>
          </a:stretch>
        </p:blipFill>
        <p:spPr>
          <a:xfrm>
            <a:off x="6789420" y="1645920"/>
            <a:ext cx="228600" cy="228600"/>
          </a:xfrm>
          <a:prstGeom prst="rect">
            <a:avLst/>
          </a:prstGeom>
        </p:spPr>
      </p:pic>
      <p:sp>
        <p:nvSpPr>
          <p:cNvPr id="34" name="Shape 23"/>
          <p:cNvSpPr/>
          <p:nvPr/>
        </p:nvSpPr>
        <p:spPr>
          <a:xfrm>
            <a:off x="6675120" y="3337560"/>
            <a:ext cx="457200" cy="777240"/>
          </a:xfrm>
          <a:prstGeom prst="roundRect">
            <a:avLst>
              <a:gd name="adj" fmla="val 12000"/>
            </a:avLst>
          </a:prstGeom>
          <a:solidFill>
            <a:srgbClr val="E5484D">
              <a:alpha val="20000"/>
            </a:srgbClr>
          </a:solidFill>
          <a:ln w="19050">
            <a:solidFill>
              <a:srgbClr val="E5484D"/>
            </a:solidFill>
            <a:prstDash val="solid"/>
          </a:ln>
        </p:spPr>
        <p:txBody>
          <a:bodyPr/>
          <a:lstStyle/>
          <a:p>
            <a:endParaRPr lang="en-IN"/>
          </a:p>
        </p:txBody>
      </p:sp>
      <p:pic>
        <p:nvPicPr>
          <p:cNvPr id="35" name="Image 9" descr="preencoded.png"/>
          <p:cNvPicPr>
            <a:picLocks noChangeAspect="1"/>
          </p:cNvPicPr>
          <p:nvPr/>
        </p:nvPicPr>
        <p:blipFill>
          <a:blip r:embed="rId7"/>
          <a:stretch>
            <a:fillRect/>
          </a:stretch>
        </p:blipFill>
        <p:spPr>
          <a:xfrm>
            <a:off x="6789420" y="3611880"/>
            <a:ext cx="228600" cy="228600"/>
          </a:xfrm>
          <a:prstGeom prst="rect">
            <a:avLst/>
          </a:prstGeom>
        </p:spPr>
      </p:pic>
      <p:sp>
        <p:nvSpPr>
          <p:cNvPr id="36" name="Text 24"/>
          <p:cNvSpPr txBox="1"/>
          <p:nvPr/>
        </p:nvSpPr>
        <p:spPr>
          <a:xfrm>
            <a:off x="7223760" y="1371600"/>
            <a:ext cx="457200" cy="777240"/>
          </a:xfrm>
          <a:prstGeom prst="roundRect">
            <a:avLst>
              <a:gd name="adj" fmla="val 12000"/>
            </a:avLst>
          </a:prstGeom>
          <a:solidFill>
            <a:srgbClr val="1FBF75">
              <a:alpha val="12000"/>
            </a:srgbClr>
          </a:solidFill>
          <a:ln w="19050">
            <a:solidFill>
              <a:srgbClr val="1FBF75"/>
            </a:solidFill>
          </a:ln>
        </p:spPr>
        <p:txBody>
          <a:bodyPr wrap="square" lIns="0" tIns="0" rIns="0" bIns="0" rtlCol="0" anchor="ctr"/>
          <a:lstStyle/>
          <a:p>
            <a:pPr marL="0" indent="0" algn="ctr">
              <a:buNone/>
            </a:pPr>
            <a:r>
              <a:rPr lang="en-US" sz="1400" b="1" dirty="0">
                <a:solidFill>
                  <a:srgbClr val="1FBF75"/>
                </a:solidFill>
                <a:latin typeface="Arial" pitchFamily="34" charset="0"/>
                <a:ea typeface="Arial" pitchFamily="34" charset="-122"/>
                <a:cs typeface="Arial" pitchFamily="34" charset="-120"/>
              </a:rPr>
              <a:t>P</a:t>
            </a:r>
            <a:endParaRPr lang="en-US" sz="1600" dirty="0"/>
          </a:p>
        </p:txBody>
      </p:sp>
      <p:sp>
        <p:nvSpPr>
          <p:cNvPr id="37" name="Shape 25"/>
          <p:cNvSpPr/>
          <p:nvPr/>
        </p:nvSpPr>
        <p:spPr>
          <a:xfrm>
            <a:off x="7223760" y="3337560"/>
            <a:ext cx="457200" cy="777240"/>
          </a:xfrm>
          <a:prstGeom prst="roundRect">
            <a:avLst>
              <a:gd name="adj" fmla="val 12000"/>
            </a:avLst>
          </a:prstGeom>
          <a:solidFill>
            <a:srgbClr val="E5484D">
              <a:alpha val="20000"/>
            </a:srgbClr>
          </a:solidFill>
          <a:ln w="19050">
            <a:solidFill>
              <a:srgbClr val="E5484D"/>
            </a:solidFill>
            <a:prstDash val="solid"/>
          </a:ln>
        </p:spPr>
        <p:txBody>
          <a:bodyPr/>
          <a:lstStyle/>
          <a:p>
            <a:endParaRPr lang="en-IN"/>
          </a:p>
        </p:txBody>
      </p:sp>
      <p:pic>
        <p:nvPicPr>
          <p:cNvPr id="38" name="Image 10" descr="preencoded.png"/>
          <p:cNvPicPr>
            <a:picLocks noChangeAspect="1"/>
          </p:cNvPicPr>
          <p:nvPr/>
        </p:nvPicPr>
        <p:blipFill>
          <a:blip r:embed="rId7"/>
          <a:stretch>
            <a:fillRect/>
          </a:stretch>
        </p:blipFill>
        <p:spPr>
          <a:xfrm>
            <a:off x="7338060" y="3611880"/>
            <a:ext cx="228600" cy="228600"/>
          </a:xfrm>
          <a:prstGeom prst="rect">
            <a:avLst/>
          </a:prstGeom>
        </p:spPr>
      </p:pic>
      <p:sp>
        <p:nvSpPr>
          <p:cNvPr id="39" name="Shape 26"/>
          <p:cNvSpPr/>
          <p:nvPr/>
        </p:nvSpPr>
        <p:spPr>
          <a:xfrm>
            <a:off x="7772400" y="1371600"/>
            <a:ext cx="457200" cy="777240"/>
          </a:xfrm>
          <a:prstGeom prst="roundRect">
            <a:avLst>
              <a:gd name="adj" fmla="val 12000"/>
            </a:avLst>
          </a:prstGeom>
          <a:solidFill>
            <a:srgbClr val="E5484D">
              <a:alpha val="20000"/>
            </a:srgbClr>
          </a:solidFill>
          <a:ln w="19050">
            <a:solidFill>
              <a:srgbClr val="E5484D"/>
            </a:solidFill>
            <a:prstDash val="solid"/>
          </a:ln>
        </p:spPr>
        <p:txBody>
          <a:bodyPr/>
          <a:lstStyle/>
          <a:p>
            <a:endParaRPr lang="en-IN"/>
          </a:p>
        </p:txBody>
      </p:sp>
      <p:pic>
        <p:nvPicPr>
          <p:cNvPr id="40" name="Image 11" descr="preencoded.png"/>
          <p:cNvPicPr>
            <a:picLocks noChangeAspect="1"/>
          </p:cNvPicPr>
          <p:nvPr/>
        </p:nvPicPr>
        <p:blipFill>
          <a:blip r:embed="rId7"/>
          <a:stretch>
            <a:fillRect/>
          </a:stretch>
        </p:blipFill>
        <p:spPr>
          <a:xfrm>
            <a:off x="7886700" y="1645920"/>
            <a:ext cx="228600" cy="228600"/>
          </a:xfrm>
          <a:prstGeom prst="rect">
            <a:avLst/>
          </a:prstGeom>
        </p:spPr>
      </p:pic>
      <p:sp>
        <p:nvSpPr>
          <p:cNvPr id="41" name="Shape 27"/>
          <p:cNvSpPr/>
          <p:nvPr/>
        </p:nvSpPr>
        <p:spPr>
          <a:xfrm>
            <a:off x="7772400" y="3337560"/>
            <a:ext cx="457200" cy="777240"/>
          </a:xfrm>
          <a:prstGeom prst="roundRect">
            <a:avLst>
              <a:gd name="adj" fmla="val 12000"/>
            </a:avLst>
          </a:prstGeom>
          <a:solidFill>
            <a:srgbClr val="E5484D">
              <a:alpha val="20000"/>
            </a:srgbClr>
          </a:solidFill>
          <a:ln w="19050">
            <a:solidFill>
              <a:srgbClr val="E5484D"/>
            </a:solidFill>
            <a:prstDash val="solid"/>
          </a:ln>
        </p:spPr>
        <p:txBody>
          <a:bodyPr/>
          <a:lstStyle/>
          <a:p>
            <a:endParaRPr lang="en-IN"/>
          </a:p>
        </p:txBody>
      </p:sp>
      <p:pic>
        <p:nvPicPr>
          <p:cNvPr id="42" name="Image 12" descr="preencoded.png"/>
          <p:cNvPicPr>
            <a:picLocks noChangeAspect="1"/>
          </p:cNvPicPr>
          <p:nvPr/>
        </p:nvPicPr>
        <p:blipFill>
          <a:blip r:embed="rId7"/>
          <a:stretch>
            <a:fillRect/>
          </a:stretch>
        </p:blipFill>
        <p:spPr>
          <a:xfrm>
            <a:off x="7886700" y="3611880"/>
            <a:ext cx="228600" cy="228600"/>
          </a:xfrm>
          <a:prstGeom prst="rect">
            <a:avLst/>
          </a:prstGeom>
        </p:spPr>
      </p:pic>
      <p:sp>
        <p:nvSpPr>
          <p:cNvPr id="43" name="Shape 28"/>
          <p:cNvSpPr/>
          <p:nvPr/>
        </p:nvSpPr>
        <p:spPr>
          <a:xfrm>
            <a:off x="4846320" y="2240280"/>
            <a:ext cx="3749040" cy="1005840"/>
          </a:xfrm>
          <a:prstGeom prst="rect">
            <a:avLst/>
          </a:prstGeom>
          <a:solidFill>
            <a:srgbClr val="E5484D">
              <a:alpha val="15000"/>
            </a:srgbClr>
          </a:solidFill>
          <a:ln w="19050">
            <a:solidFill>
              <a:srgbClr val="E5484D"/>
            </a:solidFill>
            <a:prstDash val="dash"/>
          </a:ln>
        </p:spPr>
        <p:txBody>
          <a:bodyPr/>
          <a:lstStyle/>
          <a:p>
            <a:endParaRPr lang="en-IN"/>
          </a:p>
        </p:txBody>
      </p:sp>
      <p:sp>
        <p:nvSpPr>
          <p:cNvPr id="44" name="Text 29"/>
          <p:cNvSpPr txBox="1"/>
          <p:nvPr/>
        </p:nvSpPr>
        <p:spPr>
          <a:xfrm>
            <a:off x="4846320" y="2286000"/>
            <a:ext cx="3749040" cy="201168"/>
          </a:xfrm>
          <a:prstGeom prst="rect">
            <a:avLst/>
          </a:prstGeom>
          <a:noFill/>
          <a:ln/>
        </p:spPr>
        <p:txBody>
          <a:bodyPr wrap="square" lIns="0" tIns="0" rIns="0" bIns="0" rtlCol="0" anchor="t"/>
          <a:lstStyle/>
          <a:p>
            <a:pPr marL="0" indent="0" algn="ctr">
              <a:buNone/>
            </a:pPr>
            <a:r>
              <a:rPr lang="en-US" sz="880" b="1" kern="0" spc="100" dirty="0">
                <a:solidFill>
                  <a:srgbClr val="FF8A8E"/>
                </a:solidFill>
                <a:latin typeface="Arial" pitchFamily="34" charset="0"/>
                <a:ea typeface="Arial" pitchFamily="34" charset="-122"/>
                <a:cs typeface="Arial" pitchFamily="34" charset="-120"/>
              </a:rPr>
              <a:t>EMERGENCY LANE  ·  KEEP CLEAR</a:t>
            </a:r>
            <a:endParaRPr lang="en-US" sz="1000" dirty="0"/>
          </a:p>
        </p:txBody>
      </p:sp>
      <p:sp>
        <p:nvSpPr>
          <p:cNvPr id="45" name="Shape 30"/>
          <p:cNvSpPr/>
          <p:nvPr/>
        </p:nvSpPr>
        <p:spPr>
          <a:xfrm>
            <a:off x="4983480" y="2606040"/>
            <a:ext cx="502920" cy="502920"/>
          </a:xfrm>
          <a:prstGeom prst="ellipse">
            <a:avLst/>
          </a:prstGeom>
          <a:solidFill>
            <a:srgbClr val="E5484D"/>
          </a:solidFill>
          <a:ln/>
        </p:spPr>
        <p:txBody>
          <a:bodyPr/>
          <a:lstStyle/>
          <a:p>
            <a:endParaRPr lang="en-IN"/>
          </a:p>
        </p:txBody>
      </p:sp>
      <p:pic>
        <p:nvPicPr>
          <p:cNvPr id="46" name="Image 13" descr="preencoded.png"/>
          <p:cNvPicPr>
            <a:picLocks noChangeAspect="1"/>
          </p:cNvPicPr>
          <p:nvPr/>
        </p:nvPicPr>
        <p:blipFill>
          <a:blip r:embed="rId8"/>
          <a:stretch>
            <a:fillRect/>
          </a:stretch>
        </p:blipFill>
        <p:spPr>
          <a:xfrm>
            <a:off x="5109210" y="2731770"/>
            <a:ext cx="251460" cy="251460"/>
          </a:xfrm>
          <a:prstGeom prst="rect">
            <a:avLst/>
          </a:prstGeom>
        </p:spPr>
      </p:pic>
      <p:sp>
        <p:nvSpPr>
          <p:cNvPr id="47" name="Shape 31"/>
          <p:cNvSpPr/>
          <p:nvPr/>
        </p:nvSpPr>
        <p:spPr>
          <a:xfrm>
            <a:off x="5577840" y="2857500"/>
            <a:ext cx="1325880" cy="0"/>
          </a:xfrm>
          <a:prstGeom prst="line">
            <a:avLst/>
          </a:prstGeom>
          <a:noFill/>
          <a:ln w="38100">
            <a:solidFill>
              <a:srgbClr val="FFFFFF"/>
            </a:solidFill>
            <a:prstDash val="solid"/>
            <a:tailEnd type="triangle"/>
          </a:ln>
        </p:spPr>
        <p:txBody>
          <a:bodyPr/>
          <a:lstStyle/>
          <a:p>
            <a:endParaRPr lang="en-IN"/>
          </a:p>
        </p:txBody>
      </p:sp>
      <p:sp>
        <p:nvSpPr>
          <p:cNvPr id="48" name="Shape 32"/>
          <p:cNvSpPr/>
          <p:nvPr/>
        </p:nvSpPr>
        <p:spPr>
          <a:xfrm>
            <a:off x="6995160" y="2651760"/>
            <a:ext cx="640080" cy="457200"/>
          </a:xfrm>
          <a:prstGeom prst="roundRect">
            <a:avLst>
              <a:gd name="adj" fmla="val 12000"/>
            </a:avLst>
          </a:prstGeom>
          <a:solidFill>
            <a:srgbClr val="F5A524">
              <a:alpha val="25000"/>
            </a:srgbClr>
          </a:solidFill>
          <a:ln w="25400">
            <a:solidFill>
              <a:srgbClr val="F5A524"/>
            </a:solidFill>
            <a:prstDash val="solid"/>
          </a:ln>
        </p:spPr>
        <p:txBody>
          <a:bodyPr/>
          <a:lstStyle/>
          <a:p>
            <a:endParaRPr lang="en-IN"/>
          </a:p>
        </p:txBody>
      </p:sp>
      <p:pic>
        <p:nvPicPr>
          <p:cNvPr id="49" name="Image 14" descr="preencoded.png"/>
          <p:cNvPicPr>
            <a:picLocks noChangeAspect="1"/>
          </p:cNvPicPr>
          <p:nvPr/>
        </p:nvPicPr>
        <p:blipFill>
          <a:blip r:embed="rId7"/>
          <a:stretch>
            <a:fillRect/>
          </a:stretch>
        </p:blipFill>
        <p:spPr>
          <a:xfrm>
            <a:off x="7178040" y="2715768"/>
            <a:ext cx="274320" cy="274320"/>
          </a:xfrm>
          <a:prstGeom prst="rect">
            <a:avLst/>
          </a:prstGeom>
        </p:spPr>
      </p:pic>
      <p:pic>
        <p:nvPicPr>
          <p:cNvPr id="50" name="Image 15" descr="preencoded.png"/>
          <p:cNvPicPr>
            <a:picLocks noChangeAspect="1"/>
          </p:cNvPicPr>
          <p:nvPr/>
        </p:nvPicPr>
        <p:blipFill>
          <a:blip r:embed="rId4"/>
          <a:stretch>
            <a:fillRect/>
          </a:stretch>
        </p:blipFill>
        <p:spPr>
          <a:xfrm>
            <a:off x="7863840" y="2651760"/>
            <a:ext cx="457200" cy="457200"/>
          </a:xfrm>
          <a:prstGeom prst="rect">
            <a:avLst/>
          </a:prstGeom>
        </p:spPr>
      </p:pic>
      <p:sp>
        <p:nvSpPr>
          <p:cNvPr id="51" name="Shape 33"/>
          <p:cNvSpPr/>
          <p:nvPr/>
        </p:nvSpPr>
        <p:spPr>
          <a:xfrm>
            <a:off x="4937760" y="4279392"/>
            <a:ext cx="128016" cy="128016"/>
          </a:xfrm>
          <a:prstGeom prst="rect">
            <a:avLst/>
          </a:prstGeom>
          <a:solidFill>
            <a:srgbClr val="E5484D"/>
          </a:solidFill>
          <a:ln/>
        </p:spPr>
        <p:txBody>
          <a:bodyPr/>
          <a:lstStyle/>
          <a:p>
            <a:endParaRPr lang="en-IN"/>
          </a:p>
        </p:txBody>
      </p:sp>
      <p:sp>
        <p:nvSpPr>
          <p:cNvPr id="52" name="Text 34"/>
          <p:cNvSpPr txBox="1"/>
          <p:nvPr/>
        </p:nvSpPr>
        <p:spPr>
          <a:xfrm>
            <a:off x="5120640" y="4233672"/>
            <a:ext cx="1280160" cy="219456"/>
          </a:xfrm>
          <a:prstGeom prst="rect">
            <a:avLst/>
          </a:prstGeom>
          <a:noFill/>
          <a:ln/>
        </p:spPr>
        <p:txBody>
          <a:bodyPr wrap="square" lIns="0" tIns="0" rIns="0" bIns="0" rtlCol="0" anchor="ctr"/>
          <a:lstStyle/>
          <a:p>
            <a:pPr marL="0" indent="0">
              <a:buNone/>
            </a:pPr>
            <a:r>
              <a:rPr lang="en-US" sz="880" dirty="0">
                <a:solidFill>
                  <a:srgbClr val="E1DDD9"/>
                </a:solidFill>
                <a:latin typeface="Arial" pitchFamily="34" charset="0"/>
                <a:ea typeface="Arial" pitchFamily="34" charset="-122"/>
                <a:cs typeface="Arial" pitchFamily="34" charset="-120"/>
              </a:rPr>
              <a:t>Emergency lane</a:t>
            </a:r>
            <a:endParaRPr lang="en-US" sz="1000" dirty="0"/>
          </a:p>
        </p:txBody>
      </p:sp>
      <p:sp>
        <p:nvSpPr>
          <p:cNvPr id="53" name="Shape 35"/>
          <p:cNvSpPr/>
          <p:nvPr/>
        </p:nvSpPr>
        <p:spPr>
          <a:xfrm>
            <a:off x="6355080" y="4279392"/>
            <a:ext cx="128016" cy="128016"/>
          </a:xfrm>
          <a:prstGeom prst="rect">
            <a:avLst/>
          </a:prstGeom>
          <a:solidFill>
            <a:srgbClr val="F5A524"/>
          </a:solidFill>
          <a:ln/>
        </p:spPr>
        <p:txBody>
          <a:bodyPr/>
          <a:lstStyle/>
          <a:p>
            <a:endParaRPr lang="en-IN"/>
          </a:p>
        </p:txBody>
      </p:sp>
      <p:sp>
        <p:nvSpPr>
          <p:cNvPr id="54" name="Text 36"/>
          <p:cNvSpPr txBox="1"/>
          <p:nvPr/>
        </p:nvSpPr>
        <p:spPr>
          <a:xfrm>
            <a:off x="6537960" y="4233672"/>
            <a:ext cx="1280160" cy="219456"/>
          </a:xfrm>
          <a:prstGeom prst="rect">
            <a:avLst/>
          </a:prstGeom>
          <a:noFill/>
          <a:ln/>
        </p:spPr>
        <p:txBody>
          <a:bodyPr wrap="square" lIns="0" tIns="0" rIns="0" bIns="0" rtlCol="0" anchor="ctr"/>
          <a:lstStyle/>
          <a:p>
            <a:pPr marL="0" indent="0">
              <a:buNone/>
            </a:pPr>
            <a:r>
              <a:rPr lang="en-US" sz="880" dirty="0">
                <a:solidFill>
                  <a:srgbClr val="E1DDD9"/>
                </a:solidFill>
                <a:latin typeface="Arial" pitchFamily="34" charset="0"/>
                <a:ea typeface="Arial" pitchFamily="34" charset="-122"/>
                <a:cs typeface="Arial" pitchFamily="34" charset="-120"/>
              </a:rPr>
              <a:t>Blocker detected</a:t>
            </a:r>
            <a:endParaRPr lang="en-US" sz="1000" dirty="0"/>
          </a:p>
        </p:txBody>
      </p:sp>
      <p:sp>
        <p:nvSpPr>
          <p:cNvPr id="55" name="Shape 37"/>
          <p:cNvSpPr/>
          <p:nvPr/>
        </p:nvSpPr>
        <p:spPr>
          <a:xfrm>
            <a:off x="7818120" y="4279392"/>
            <a:ext cx="128016" cy="128016"/>
          </a:xfrm>
          <a:prstGeom prst="rect">
            <a:avLst/>
          </a:prstGeom>
          <a:solidFill>
            <a:srgbClr val="FFFFFF"/>
          </a:solidFill>
          <a:ln/>
        </p:spPr>
        <p:txBody>
          <a:bodyPr/>
          <a:lstStyle/>
          <a:p>
            <a:endParaRPr lang="en-IN"/>
          </a:p>
        </p:txBody>
      </p:sp>
      <p:sp>
        <p:nvSpPr>
          <p:cNvPr id="56" name="Text 38"/>
          <p:cNvSpPr txBox="1"/>
          <p:nvPr/>
        </p:nvSpPr>
        <p:spPr>
          <a:xfrm>
            <a:off x="8001000" y="4233672"/>
            <a:ext cx="1280160" cy="219456"/>
          </a:xfrm>
          <a:prstGeom prst="rect">
            <a:avLst/>
          </a:prstGeom>
          <a:noFill/>
          <a:ln/>
        </p:spPr>
        <p:txBody>
          <a:bodyPr wrap="square" lIns="0" tIns="0" rIns="0" bIns="0" rtlCol="0" anchor="ctr"/>
          <a:lstStyle/>
          <a:p>
            <a:pPr marL="0" indent="0">
              <a:buNone/>
            </a:pPr>
            <a:r>
              <a:rPr lang="en-US" sz="880" dirty="0">
                <a:solidFill>
                  <a:srgbClr val="E1DDD9"/>
                </a:solidFill>
                <a:latin typeface="Arial" pitchFamily="34" charset="0"/>
                <a:ea typeface="Arial" pitchFamily="34" charset="-122"/>
                <a:cs typeface="Arial" pitchFamily="34" charset="-120"/>
              </a:rPr>
              <a:t>Clear route</a:t>
            </a:r>
            <a:endParaRPr lang="en-US" sz="1000" dirty="0"/>
          </a:p>
        </p:txBody>
      </p:sp>
      <p:sp>
        <p:nvSpPr>
          <p:cNvPr id="57" name="Text 39"/>
          <p:cNvSpPr txBox="1"/>
          <p:nvPr/>
        </p:nvSpPr>
        <p:spPr>
          <a:xfrm>
            <a:off x="457200" y="4846320"/>
            <a:ext cx="5486400" cy="201168"/>
          </a:xfrm>
          <a:prstGeom prst="rect">
            <a:avLst/>
          </a:prstGeom>
          <a:noFill/>
          <a:ln/>
        </p:spPr>
        <p:txBody>
          <a:bodyPr wrap="square" lIns="0" tIns="0" rIns="0" bIns="0" rtlCol="0" anchor="t"/>
          <a:lstStyle/>
          <a:p>
            <a:r>
              <a:rPr lang="en-US" sz="900" dirty="0" err="1">
                <a:solidFill>
                  <a:srgbClr val="79736E"/>
                </a:solidFill>
                <a:latin typeface="Arial" pitchFamily="34" charset="0"/>
                <a:ea typeface="Arial" pitchFamily="34" charset="-122"/>
                <a:cs typeface="Arial" pitchFamily="34" charset="-120"/>
              </a:rPr>
              <a:t>ParkSense</a:t>
            </a:r>
            <a:r>
              <a:rPr lang="en-US" sz="900" dirty="0">
                <a:solidFill>
                  <a:srgbClr val="79736E"/>
                </a:solidFill>
                <a:latin typeface="Arial" pitchFamily="34" charset="0"/>
                <a:ea typeface="Arial" pitchFamily="34" charset="-122"/>
                <a:cs typeface="Arial" pitchFamily="34" charset="-120"/>
              </a:rPr>
              <a:t>   ·  Final Review</a:t>
            </a:r>
            <a:endParaRPr lang="en-US" sz="900" dirty="0"/>
          </a:p>
        </p:txBody>
      </p:sp>
      <p:sp>
        <p:nvSpPr>
          <p:cNvPr id="58" name="Text 40"/>
          <p:cNvSpPr txBox="1"/>
          <p:nvPr/>
        </p:nvSpPr>
        <p:spPr>
          <a:xfrm>
            <a:off x="8229600" y="4846320"/>
            <a:ext cx="457200" cy="201168"/>
          </a:xfrm>
          <a:prstGeom prst="rect">
            <a:avLst/>
          </a:prstGeom>
          <a:noFill/>
          <a:ln/>
        </p:spPr>
        <p:txBody>
          <a:bodyPr wrap="square" lIns="0" tIns="0" rIns="0" bIns="0" rtlCol="0" anchor="t"/>
          <a:lstStyle/>
          <a:p>
            <a:pPr marL="0" indent="0" algn="r">
              <a:buNone/>
            </a:pPr>
            <a:r>
              <a:rPr lang="en-US" sz="880" dirty="0">
                <a:solidFill>
                  <a:srgbClr val="79736E"/>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02823"/>
        </a:solidFill>
        <a:effectLst/>
      </p:bgPr>
    </p:bg>
    <p:spTree>
      <p:nvGrpSpPr>
        <p:cNvPr id="1" name=""/>
        <p:cNvGrpSpPr/>
        <p:nvPr/>
      </p:nvGrpSpPr>
      <p:grpSpPr>
        <a:xfrm>
          <a:off x="0" y="0"/>
          <a:ext cx="0" cy="0"/>
          <a:chOff x="0" y="0"/>
          <a:chExt cx="0" cy="0"/>
        </a:xfrm>
      </p:grpSpPr>
      <p:sp>
        <p:nvSpPr>
          <p:cNvPr id="2" name="Text 0"/>
          <p:cNvSpPr txBox="1"/>
          <p:nvPr/>
        </p:nvSpPr>
        <p:spPr>
          <a:xfrm>
            <a:off x="8229600" y="4846320"/>
            <a:ext cx="457200" cy="201168"/>
          </a:xfrm>
          <a:prstGeom prst="rect">
            <a:avLst/>
          </a:prstGeom>
          <a:noFill/>
          <a:ln/>
        </p:spPr>
        <p:txBody>
          <a:bodyPr wrap="square" lIns="0" tIns="0" rIns="0" bIns="0" rtlCol="0" anchor="t"/>
          <a:lstStyle/>
          <a:p>
            <a:pPr marL="0" indent="0" algn="r">
              <a:buNone/>
            </a:pPr>
            <a:r>
              <a:rPr lang="en-US" sz="880" dirty="0">
                <a:solidFill>
                  <a:srgbClr val="E0D8D2"/>
                </a:solidFill>
                <a:latin typeface="Arial" pitchFamily="34" charset="0"/>
                <a:ea typeface="Arial" pitchFamily="34" charset="-122"/>
                <a:cs typeface="Arial" pitchFamily="34" charset="-120"/>
              </a:rPr>
              <a:t>11</a:t>
            </a:r>
            <a:endParaRPr lang="en-US" sz="1000" dirty="0"/>
          </a:p>
        </p:txBody>
      </p:sp>
      <p:sp>
        <p:nvSpPr>
          <p:cNvPr id="3" name="Text 1"/>
          <p:cNvSpPr txBox="1"/>
          <p:nvPr/>
        </p:nvSpPr>
        <p:spPr>
          <a:xfrm>
            <a:off x="457200" y="219456"/>
            <a:ext cx="8229600" cy="329184"/>
          </a:xfrm>
          <a:prstGeom prst="rect">
            <a:avLst/>
          </a:prstGeom>
          <a:noFill/>
          <a:ln/>
        </p:spPr>
        <p:txBody>
          <a:bodyPr wrap="square" lIns="0" tIns="0" rIns="0" bIns="0" rtlCol="0" anchor="ctr"/>
          <a:lstStyle/>
          <a:p>
            <a:pPr marL="0" indent="0">
              <a:buNone/>
            </a:pPr>
            <a:r>
              <a:rPr lang="en-US" sz="1670" b="1" dirty="0">
                <a:solidFill>
                  <a:srgbClr val="FFFFFF"/>
                </a:solidFill>
                <a:latin typeface="Arial" pitchFamily="34" charset="0"/>
                <a:ea typeface="Arial" pitchFamily="34" charset="-122"/>
                <a:cs typeface="Arial" pitchFamily="34" charset="-120"/>
              </a:rPr>
              <a:t>VISION-BASED SMART PARKING &amp; SAFETY DETECTION SYSTEM</a:t>
            </a:r>
            <a:endParaRPr lang="en-US" sz="1900" dirty="0"/>
          </a:p>
        </p:txBody>
      </p:sp>
      <p:sp>
        <p:nvSpPr>
          <p:cNvPr id="4" name="Text 2"/>
          <p:cNvSpPr txBox="1"/>
          <p:nvPr/>
        </p:nvSpPr>
        <p:spPr>
          <a:xfrm>
            <a:off x="457200" y="566928"/>
            <a:ext cx="6035040" cy="237744"/>
          </a:xfrm>
          <a:prstGeom prst="rect">
            <a:avLst/>
          </a:prstGeom>
          <a:noFill/>
          <a:ln/>
        </p:spPr>
        <p:txBody>
          <a:bodyPr wrap="square" lIns="0" tIns="0" rIns="0" bIns="0" rtlCol="0" anchor="ctr"/>
          <a:lstStyle/>
          <a:p>
            <a:pPr marL="0" indent="0">
              <a:buNone/>
            </a:pPr>
            <a:r>
              <a:rPr lang="en-US" sz="1050" dirty="0">
                <a:solidFill>
                  <a:srgbClr val="F86425"/>
                </a:solidFill>
                <a:latin typeface="Arial" pitchFamily="34" charset="0"/>
                <a:ea typeface="Arial" pitchFamily="34" charset="-122"/>
                <a:cs typeface="Arial" pitchFamily="34" charset="-120"/>
              </a:rPr>
              <a:t>Key Workflows: Wrong Parking, Emergency-Lane Protection &amp; Smart Navigation</a:t>
            </a:r>
            <a:endParaRPr lang="en-US" sz="1200" dirty="0"/>
          </a:p>
        </p:txBody>
      </p:sp>
      <p:sp>
        <p:nvSpPr>
          <p:cNvPr id="5" name="Text 3"/>
          <p:cNvSpPr txBox="1"/>
          <p:nvPr/>
        </p:nvSpPr>
        <p:spPr>
          <a:xfrm>
            <a:off x="6492240" y="566928"/>
            <a:ext cx="2194560" cy="237744"/>
          </a:xfrm>
          <a:prstGeom prst="rect">
            <a:avLst/>
          </a:prstGeom>
          <a:noFill/>
          <a:ln/>
        </p:spPr>
        <p:txBody>
          <a:bodyPr wrap="square" lIns="0" tIns="0" rIns="0" bIns="0" rtlCol="0" anchor="ctr"/>
          <a:lstStyle/>
          <a:p>
            <a:pPr marL="0" indent="0" algn="r">
              <a:buNone/>
            </a:pPr>
            <a:r>
              <a:rPr lang="en-US" sz="880" kern="0" spc="200" dirty="0">
                <a:solidFill>
                  <a:srgbClr val="E0D8D2"/>
                </a:solidFill>
                <a:latin typeface="Arial" pitchFamily="34" charset="0"/>
                <a:ea typeface="Arial" pitchFamily="34" charset="-122"/>
                <a:cs typeface="Arial" pitchFamily="34" charset="-120"/>
              </a:rPr>
              <a:t>PRISMTECH HACKATHON</a:t>
            </a:r>
            <a:endParaRPr lang="en-US" sz="1000" dirty="0"/>
          </a:p>
        </p:txBody>
      </p:sp>
      <p:sp>
        <p:nvSpPr>
          <p:cNvPr id="6" name="Shape 4"/>
          <p:cNvSpPr/>
          <p:nvPr/>
        </p:nvSpPr>
        <p:spPr>
          <a:xfrm>
            <a:off x="457200" y="960120"/>
            <a:ext cx="8229600" cy="841248"/>
          </a:xfrm>
          <a:prstGeom prst="roundRect">
            <a:avLst>
              <a:gd name="adj" fmla="val 10870"/>
            </a:avLst>
          </a:prstGeom>
          <a:solidFill>
            <a:srgbClr val="FFFFFF"/>
          </a:solidFill>
          <a:ln/>
          <a:effectLst>
            <a:outerShdw blurRad="127000" dist="38100" dir="5400000" algn="bl" rotWithShape="0">
              <a:srgbClr val="000000">
                <a:alpha val="35000"/>
              </a:srgbClr>
            </a:outerShdw>
          </a:effectLst>
        </p:spPr>
        <p:txBody>
          <a:bodyPr/>
          <a:lstStyle/>
          <a:p>
            <a:endParaRPr lang="en-IN"/>
          </a:p>
        </p:txBody>
      </p:sp>
      <p:sp>
        <p:nvSpPr>
          <p:cNvPr id="7" name="Shape 5"/>
          <p:cNvSpPr/>
          <p:nvPr/>
        </p:nvSpPr>
        <p:spPr>
          <a:xfrm>
            <a:off x="457200" y="960120"/>
            <a:ext cx="1965960" cy="841248"/>
          </a:xfrm>
          <a:prstGeom prst="roundRect">
            <a:avLst>
              <a:gd name="adj" fmla="val 10870"/>
            </a:avLst>
          </a:prstGeom>
          <a:solidFill>
            <a:srgbClr val="4F433A"/>
          </a:solidFill>
          <a:ln/>
        </p:spPr>
        <p:txBody>
          <a:bodyPr/>
          <a:lstStyle/>
          <a:p>
            <a:endParaRPr lang="en-IN"/>
          </a:p>
        </p:txBody>
      </p:sp>
      <p:sp>
        <p:nvSpPr>
          <p:cNvPr id="8" name="Shape 6"/>
          <p:cNvSpPr/>
          <p:nvPr/>
        </p:nvSpPr>
        <p:spPr>
          <a:xfrm>
            <a:off x="594360" y="1152144"/>
            <a:ext cx="457200" cy="457200"/>
          </a:xfrm>
          <a:prstGeom prst="ellipse">
            <a:avLst/>
          </a:prstGeom>
          <a:solidFill>
            <a:srgbClr val="F5A524"/>
          </a:solidFill>
          <a:ln/>
        </p:spPr>
        <p:txBody>
          <a:bodyPr/>
          <a:lstStyle/>
          <a:p>
            <a:endParaRPr lang="en-IN"/>
          </a:p>
        </p:txBody>
      </p:sp>
      <p:pic>
        <p:nvPicPr>
          <p:cNvPr id="9" name="Image 0" descr="preencoded.png"/>
          <p:cNvPicPr>
            <a:picLocks noChangeAspect="1"/>
          </p:cNvPicPr>
          <p:nvPr/>
        </p:nvPicPr>
        <p:blipFill>
          <a:blip r:embed="rId3"/>
          <a:stretch>
            <a:fillRect/>
          </a:stretch>
        </p:blipFill>
        <p:spPr>
          <a:xfrm>
            <a:off x="708660" y="1266444"/>
            <a:ext cx="228600" cy="228600"/>
          </a:xfrm>
          <a:prstGeom prst="rect">
            <a:avLst/>
          </a:prstGeom>
        </p:spPr>
      </p:pic>
      <p:sp>
        <p:nvSpPr>
          <p:cNvPr id="10" name="Text 7"/>
          <p:cNvSpPr txBox="1"/>
          <p:nvPr/>
        </p:nvSpPr>
        <p:spPr>
          <a:xfrm>
            <a:off x="1170432" y="960120"/>
            <a:ext cx="1207008" cy="841248"/>
          </a:xfrm>
          <a:prstGeom prst="rect">
            <a:avLst/>
          </a:prstGeom>
          <a:noFill/>
          <a:ln/>
        </p:spPr>
        <p:txBody>
          <a:bodyPr wrap="square" lIns="0" tIns="0" rIns="0" bIns="0" rtlCol="0" anchor="ctr"/>
          <a:lstStyle/>
          <a:p>
            <a:pPr marL="0" indent="0">
              <a:buNone/>
            </a:pPr>
            <a:r>
              <a:rPr lang="en-US" sz="920" b="1" dirty="0">
                <a:solidFill>
                  <a:srgbClr val="FFFFFF"/>
                </a:solidFill>
                <a:latin typeface="Arial" pitchFamily="34" charset="0"/>
                <a:ea typeface="Arial" pitchFamily="34" charset="-122"/>
                <a:cs typeface="Arial" pitchFamily="34" charset="-120"/>
              </a:rPr>
              <a:t>A  WRONG PARKING DETECTION</a:t>
            </a:r>
            <a:endParaRPr lang="en-US" sz="1050" dirty="0"/>
          </a:p>
        </p:txBody>
      </p:sp>
      <p:sp>
        <p:nvSpPr>
          <p:cNvPr id="11" name="Text 8"/>
          <p:cNvSpPr txBox="1"/>
          <p:nvPr/>
        </p:nvSpPr>
        <p:spPr>
          <a:xfrm>
            <a:off x="2606040" y="1106424"/>
            <a:ext cx="1042416" cy="548640"/>
          </a:xfrm>
          <a:prstGeom prst="roundRect">
            <a:avLst>
              <a:gd name="adj" fmla="val 13333"/>
            </a:avLst>
          </a:prstGeom>
          <a:solidFill>
            <a:srgbClr val="FBF8F5"/>
          </a:solidFill>
          <a:ln/>
        </p:spPr>
        <p:txBody>
          <a:bodyPr wrap="square" lIns="508" tIns="508" rIns="508" bIns="508" rtlCol="0" anchor="ctr"/>
          <a:lstStyle/>
          <a:p>
            <a:pPr marL="0" indent="0" algn="ctr">
              <a:buNone/>
            </a:pPr>
            <a:r>
              <a:rPr lang="en-US" sz="920" dirty="0">
                <a:solidFill>
                  <a:srgbClr val="3D342D"/>
                </a:solidFill>
                <a:latin typeface="Arial" pitchFamily="34" charset="0"/>
                <a:ea typeface="Arial" pitchFamily="34" charset="-122"/>
                <a:cs typeface="Arial" pitchFamily="34" charset="-120"/>
              </a:rPr>
              <a:t>Camera feed</a:t>
            </a:r>
            <a:endParaRPr lang="en-US" sz="1050" dirty="0"/>
          </a:p>
        </p:txBody>
      </p:sp>
      <p:sp>
        <p:nvSpPr>
          <p:cNvPr id="12" name="Shape 9"/>
          <p:cNvSpPr/>
          <p:nvPr/>
        </p:nvSpPr>
        <p:spPr>
          <a:xfrm>
            <a:off x="3666744" y="1289304"/>
            <a:ext cx="146304" cy="182880"/>
          </a:xfrm>
          <a:prstGeom prst="rightArrow">
            <a:avLst/>
          </a:prstGeom>
          <a:solidFill>
            <a:srgbClr val="ED6024"/>
          </a:solidFill>
          <a:ln/>
        </p:spPr>
        <p:txBody>
          <a:bodyPr/>
          <a:lstStyle/>
          <a:p>
            <a:endParaRPr lang="en-IN"/>
          </a:p>
        </p:txBody>
      </p:sp>
      <p:sp>
        <p:nvSpPr>
          <p:cNvPr id="13" name="Text 10"/>
          <p:cNvSpPr txBox="1"/>
          <p:nvPr/>
        </p:nvSpPr>
        <p:spPr>
          <a:xfrm>
            <a:off x="3831336" y="1106424"/>
            <a:ext cx="1042416" cy="548640"/>
          </a:xfrm>
          <a:prstGeom prst="roundRect">
            <a:avLst>
              <a:gd name="adj" fmla="val 13333"/>
            </a:avLst>
          </a:prstGeom>
          <a:solidFill>
            <a:srgbClr val="FBF8F5"/>
          </a:solidFill>
          <a:ln/>
        </p:spPr>
        <p:txBody>
          <a:bodyPr wrap="square" lIns="508" tIns="508" rIns="508" bIns="508" rtlCol="0" anchor="ctr"/>
          <a:lstStyle/>
          <a:p>
            <a:pPr marL="0" indent="0" algn="ctr">
              <a:buNone/>
            </a:pPr>
            <a:r>
              <a:rPr lang="en-US" sz="920" dirty="0">
                <a:solidFill>
                  <a:srgbClr val="3D342D"/>
                </a:solidFill>
                <a:latin typeface="Arial" pitchFamily="34" charset="0"/>
                <a:ea typeface="Arial" pitchFamily="34" charset="-122"/>
                <a:cs typeface="Arial" pitchFamily="34" charset="-120"/>
              </a:rPr>
              <a:t>AI detects vehicle</a:t>
            </a:r>
            <a:endParaRPr lang="en-US" sz="1050" dirty="0"/>
          </a:p>
        </p:txBody>
      </p:sp>
      <p:sp>
        <p:nvSpPr>
          <p:cNvPr id="14" name="Shape 11"/>
          <p:cNvSpPr/>
          <p:nvPr/>
        </p:nvSpPr>
        <p:spPr>
          <a:xfrm>
            <a:off x="4892040" y="1289304"/>
            <a:ext cx="146304" cy="182880"/>
          </a:xfrm>
          <a:prstGeom prst="rightArrow">
            <a:avLst/>
          </a:prstGeom>
          <a:solidFill>
            <a:srgbClr val="ED6024"/>
          </a:solidFill>
          <a:ln/>
        </p:spPr>
        <p:txBody>
          <a:bodyPr/>
          <a:lstStyle/>
          <a:p>
            <a:endParaRPr lang="en-IN"/>
          </a:p>
        </p:txBody>
      </p:sp>
      <p:sp>
        <p:nvSpPr>
          <p:cNvPr id="15" name="Text 12"/>
          <p:cNvSpPr txBox="1"/>
          <p:nvPr/>
        </p:nvSpPr>
        <p:spPr>
          <a:xfrm>
            <a:off x="5056632" y="1106424"/>
            <a:ext cx="1042416" cy="548640"/>
          </a:xfrm>
          <a:prstGeom prst="roundRect">
            <a:avLst>
              <a:gd name="adj" fmla="val 13333"/>
            </a:avLst>
          </a:prstGeom>
          <a:solidFill>
            <a:srgbClr val="FBF8F5"/>
          </a:solidFill>
          <a:ln/>
        </p:spPr>
        <p:txBody>
          <a:bodyPr wrap="square" lIns="508" tIns="508" rIns="508" bIns="508" rtlCol="0" anchor="ctr"/>
          <a:lstStyle/>
          <a:p>
            <a:pPr marL="0" indent="0" algn="ctr">
              <a:buNone/>
            </a:pPr>
            <a:r>
              <a:rPr lang="en-US" sz="920" dirty="0">
                <a:solidFill>
                  <a:srgbClr val="3D342D"/>
                </a:solidFill>
                <a:latin typeface="Arial" pitchFamily="34" charset="0"/>
                <a:ea typeface="Arial" pitchFamily="34" charset="-122"/>
                <a:cs typeface="Arial" pitchFamily="34" charset="-120"/>
              </a:rPr>
              <a:t>Checks restricted zone</a:t>
            </a:r>
            <a:endParaRPr lang="en-US" sz="1050" dirty="0"/>
          </a:p>
        </p:txBody>
      </p:sp>
      <p:sp>
        <p:nvSpPr>
          <p:cNvPr id="16" name="Shape 13"/>
          <p:cNvSpPr/>
          <p:nvPr/>
        </p:nvSpPr>
        <p:spPr>
          <a:xfrm>
            <a:off x="6117336" y="1289304"/>
            <a:ext cx="146304" cy="182880"/>
          </a:xfrm>
          <a:prstGeom prst="rightArrow">
            <a:avLst/>
          </a:prstGeom>
          <a:solidFill>
            <a:srgbClr val="ED6024"/>
          </a:solidFill>
          <a:ln/>
        </p:spPr>
        <p:txBody>
          <a:bodyPr/>
          <a:lstStyle/>
          <a:p>
            <a:endParaRPr lang="en-IN"/>
          </a:p>
        </p:txBody>
      </p:sp>
      <p:sp>
        <p:nvSpPr>
          <p:cNvPr id="17" name="Text 14"/>
          <p:cNvSpPr txBox="1"/>
          <p:nvPr/>
        </p:nvSpPr>
        <p:spPr>
          <a:xfrm>
            <a:off x="6281928" y="1106424"/>
            <a:ext cx="1042416" cy="548640"/>
          </a:xfrm>
          <a:prstGeom prst="roundRect">
            <a:avLst>
              <a:gd name="adj" fmla="val 13333"/>
            </a:avLst>
          </a:prstGeom>
          <a:solidFill>
            <a:srgbClr val="FBF8F5"/>
          </a:solidFill>
          <a:ln/>
        </p:spPr>
        <p:txBody>
          <a:bodyPr wrap="square" lIns="508" tIns="508" rIns="508" bIns="508" rtlCol="0" anchor="ctr"/>
          <a:lstStyle/>
          <a:p>
            <a:pPr marL="0" indent="0" algn="ctr">
              <a:buNone/>
            </a:pPr>
            <a:r>
              <a:rPr lang="en-US" sz="920" dirty="0">
                <a:solidFill>
                  <a:srgbClr val="3D342D"/>
                </a:solidFill>
                <a:latin typeface="Arial" pitchFamily="34" charset="0"/>
                <a:ea typeface="Arial" pitchFamily="34" charset="-122"/>
                <a:cs typeface="Arial" pitchFamily="34" charset="-120"/>
              </a:rPr>
              <a:t>Violation detected</a:t>
            </a:r>
            <a:endParaRPr lang="en-US" sz="1050" dirty="0"/>
          </a:p>
        </p:txBody>
      </p:sp>
      <p:sp>
        <p:nvSpPr>
          <p:cNvPr id="18" name="Shape 15"/>
          <p:cNvSpPr/>
          <p:nvPr/>
        </p:nvSpPr>
        <p:spPr>
          <a:xfrm>
            <a:off x="7342632" y="1289304"/>
            <a:ext cx="146304" cy="182880"/>
          </a:xfrm>
          <a:prstGeom prst="rightArrow">
            <a:avLst/>
          </a:prstGeom>
          <a:solidFill>
            <a:srgbClr val="ED6024"/>
          </a:solidFill>
          <a:ln/>
        </p:spPr>
        <p:txBody>
          <a:bodyPr/>
          <a:lstStyle/>
          <a:p>
            <a:endParaRPr lang="en-IN"/>
          </a:p>
        </p:txBody>
      </p:sp>
      <p:sp>
        <p:nvSpPr>
          <p:cNvPr id="19" name="Text 16"/>
          <p:cNvSpPr txBox="1"/>
          <p:nvPr/>
        </p:nvSpPr>
        <p:spPr>
          <a:xfrm>
            <a:off x="7507224" y="1106424"/>
            <a:ext cx="1042416" cy="548640"/>
          </a:xfrm>
          <a:prstGeom prst="roundRect">
            <a:avLst>
              <a:gd name="adj" fmla="val 13333"/>
            </a:avLst>
          </a:prstGeom>
          <a:solidFill>
            <a:srgbClr val="F5A524"/>
          </a:solidFill>
          <a:ln/>
        </p:spPr>
        <p:txBody>
          <a:bodyPr wrap="square" lIns="508" tIns="508" rIns="508" bIns="508" rtlCol="0" anchor="ctr"/>
          <a:lstStyle/>
          <a:p>
            <a:pPr marL="0" indent="0" algn="ctr">
              <a:buNone/>
            </a:pPr>
            <a:r>
              <a:rPr lang="en-US" sz="920" b="1" dirty="0">
                <a:solidFill>
                  <a:srgbClr val="302823"/>
                </a:solidFill>
                <a:latin typeface="Arial" pitchFamily="34" charset="0"/>
                <a:ea typeface="Arial" pitchFamily="34" charset="-122"/>
                <a:cs typeface="Arial" pitchFamily="34" charset="-120"/>
              </a:rPr>
              <a:t>Dashboard alert</a:t>
            </a:r>
            <a:endParaRPr lang="en-US" sz="1050" dirty="0"/>
          </a:p>
        </p:txBody>
      </p:sp>
      <p:sp>
        <p:nvSpPr>
          <p:cNvPr id="20" name="Shape 17"/>
          <p:cNvSpPr/>
          <p:nvPr/>
        </p:nvSpPr>
        <p:spPr>
          <a:xfrm>
            <a:off x="457200" y="1892808"/>
            <a:ext cx="8229600" cy="841248"/>
          </a:xfrm>
          <a:prstGeom prst="roundRect">
            <a:avLst>
              <a:gd name="adj" fmla="val 10870"/>
            </a:avLst>
          </a:prstGeom>
          <a:solidFill>
            <a:srgbClr val="FFFFFF"/>
          </a:solidFill>
          <a:ln/>
          <a:effectLst>
            <a:outerShdw blurRad="127000" dist="38100" dir="5400000" algn="bl" rotWithShape="0">
              <a:srgbClr val="000000">
                <a:alpha val="35000"/>
              </a:srgbClr>
            </a:outerShdw>
          </a:effectLst>
        </p:spPr>
        <p:txBody>
          <a:bodyPr/>
          <a:lstStyle/>
          <a:p>
            <a:endParaRPr lang="en-IN"/>
          </a:p>
        </p:txBody>
      </p:sp>
      <p:sp>
        <p:nvSpPr>
          <p:cNvPr id="21" name="Shape 18"/>
          <p:cNvSpPr/>
          <p:nvPr/>
        </p:nvSpPr>
        <p:spPr>
          <a:xfrm>
            <a:off x="457200" y="1892808"/>
            <a:ext cx="1965960" cy="841248"/>
          </a:xfrm>
          <a:prstGeom prst="roundRect">
            <a:avLst>
              <a:gd name="adj" fmla="val 10870"/>
            </a:avLst>
          </a:prstGeom>
          <a:solidFill>
            <a:srgbClr val="4F433A"/>
          </a:solidFill>
          <a:ln/>
        </p:spPr>
        <p:txBody>
          <a:bodyPr/>
          <a:lstStyle/>
          <a:p>
            <a:endParaRPr lang="en-IN"/>
          </a:p>
        </p:txBody>
      </p:sp>
      <p:sp>
        <p:nvSpPr>
          <p:cNvPr id="22" name="Shape 19"/>
          <p:cNvSpPr/>
          <p:nvPr/>
        </p:nvSpPr>
        <p:spPr>
          <a:xfrm>
            <a:off x="594360" y="2084832"/>
            <a:ext cx="457200" cy="457200"/>
          </a:xfrm>
          <a:prstGeom prst="ellipse">
            <a:avLst/>
          </a:prstGeom>
          <a:solidFill>
            <a:srgbClr val="E5484D"/>
          </a:solidFill>
          <a:ln/>
        </p:spPr>
        <p:txBody>
          <a:bodyPr/>
          <a:lstStyle/>
          <a:p>
            <a:endParaRPr lang="en-IN"/>
          </a:p>
        </p:txBody>
      </p:sp>
      <p:pic>
        <p:nvPicPr>
          <p:cNvPr id="23" name="Image 1" descr="preencoded.png"/>
          <p:cNvPicPr>
            <a:picLocks noChangeAspect="1"/>
          </p:cNvPicPr>
          <p:nvPr/>
        </p:nvPicPr>
        <p:blipFill>
          <a:blip r:embed="rId4"/>
          <a:stretch>
            <a:fillRect/>
          </a:stretch>
        </p:blipFill>
        <p:spPr>
          <a:xfrm>
            <a:off x="708660" y="2199132"/>
            <a:ext cx="228600" cy="228600"/>
          </a:xfrm>
          <a:prstGeom prst="rect">
            <a:avLst/>
          </a:prstGeom>
        </p:spPr>
      </p:pic>
      <p:sp>
        <p:nvSpPr>
          <p:cNvPr id="24" name="Text 20"/>
          <p:cNvSpPr txBox="1"/>
          <p:nvPr/>
        </p:nvSpPr>
        <p:spPr>
          <a:xfrm>
            <a:off x="1170432" y="1892808"/>
            <a:ext cx="1207008" cy="841248"/>
          </a:xfrm>
          <a:prstGeom prst="rect">
            <a:avLst/>
          </a:prstGeom>
          <a:noFill/>
          <a:ln/>
        </p:spPr>
        <p:txBody>
          <a:bodyPr wrap="square" lIns="0" tIns="0" rIns="0" bIns="0" rtlCol="0" anchor="ctr"/>
          <a:lstStyle/>
          <a:p>
            <a:pPr marL="0" indent="0">
              <a:buNone/>
            </a:pPr>
            <a:r>
              <a:rPr lang="en-US" sz="920" b="1" dirty="0">
                <a:solidFill>
                  <a:srgbClr val="FFFFFF"/>
                </a:solidFill>
                <a:latin typeface="Arial" pitchFamily="34" charset="0"/>
                <a:ea typeface="Arial" pitchFamily="34" charset="-122"/>
                <a:cs typeface="Arial" pitchFamily="34" charset="-120"/>
              </a:rPr>
              <a:t>B  EMERGENCY LANE BLOCKING</a:t>
            </a:r>
            <a:endParaRPr lang="en-US" sz="1050" dirty="0"/>
          </a:p>
        </p:txBody>
      </p:sp>
      <p:sp>
        <p:nvSpPr>
          <p:cNvPr id="25" name="Text 21"/>
          <p:cNvSpPr txBox="1"/>
          <p:nvPr/>
        </p:nvSpPr>
        <p:spPr>
          <a:xfrm>
            <a:off x="2606040" y="2039112"/>
            <a:ext cx="838200" cy="548640"/>
          </a:xfrm>
          <a:prstGeom prst="roundRect">
            <a:avLst>
              <a:gd name="adj" fmla="val 13333"/>
            </a:avLst>
          </a:prstGeom>
          <a:solidFill>
            <a:srgbClr val="FBF8F5"/>
          </a:solidFill>
          <a:ln/>
        </p:spPr>
        <p:txBody>
          <a:bodyPr wrap="square" lIns="508" tIns="508" rIns="508" bIns="508" rtlCol="0" anchor="ctr"/>
          <a:lstStyle/>
          <a:p>
            <a:pPr marL="0" indent="0" algn="ctr">
              <a:buNone/>
            </a:pPr>
            <a:r>
              <a:rPr lang="en-US" sz="920" dirty="0">
                <a:solidFill>
                  <a:srgbClr val="3D342D"/>
                </a:solidFill>
                <a:latin typeface="Arial" pitchFamily="34" charset="0"/>
                <a:ea typeface="Arial" pitchFamily="34" charset="-122"/>
                <a:cs typeface="Arial" pitchFamily="34" charset="-120"/>
              </a:rPr>
              <a:t>Camera monitors lane</a:t>
            </a:r>
            <a:endParaRPr lang="en-US" sz="1050" dirty="0"/>
          </a:p>
        </p:txBody>
      </p:sp>
      <p:sp>
        <p:nvSpPr>
          <p:cNvPr id="26" name="Shape 22"/>
          <p:cNvSpPr/>
          <p:nvPr/>
        </p:nvSpPr>
        <p:spPr>
          <a:xfrm>
            <a:off x="3462528" y="2221992"/>
            <a:ext cx="146304" cy="182880"/>
          </a:xfrm>
          <a:prstGeom prst="rightArrow">
            <a:avLst/>
          </a:prstGeom>
          <a:solidFill>
            <a:srgbClr val="ED6024"/>
          </a:solidFill>
          <a:ln/>
        </p:spPr>
        <p:txBody>
          <a:bodyPr/>
          <a:lstStyle/>
          <a:p>
            <a:endParaRPr lang="en-IN"/>
          </a:p>
        </p:txBody>
      </p:sp>
      <p:sp>
        <p:nvSpPr>
          <p:cNvPr id="27" name="Text 23"/>
          <p:cNvSpPr txBox="1"/>
          <p:nvPr/>
        </p:nvSpPr>
        <p:spPr>
          <a:xfrm>
            <a:off x="3627120" y="2039112"/>
            <a:ext cx="838200" cy="548640"/>
          </a:xfrm>
          <a:prstGeom prst="roundRect">
            <a:avLst>
              <a:gd name="adj" fmla="val 13333"/>
            </a:avLst>
          </a:prstGeom>
          <a:solidFill>
            <a:srgbClr val="FBF8F5"/>
          </a:solidFill>
          <a:ln/>
        </p:spPr>
        <p:txBody>
          <a:bodyPr wrap="square" lIns="508" tIns="508" rIns="508" bIns="508" rtlCol="0" anchor="ctr"/>
          <a:lstStyle/>
          <a:p>
            <a:pPr marL="0" indent="0" algn="ctr">
              <a:buNone/>
            </a:pPr>
            <a:r>
              <a:rPr lang="en-US" sz="920" dirty="0">
                <a:solidFill>
                  <a:srgbClr val="3D342D"/>
                </a:solidFill>
                <a:latin typeface="Arial" pitchFamily="34" charset="0"/>
                <a:ea typeface="Arial" pitchFamily="34" charset="-122"/>
                <a:cs typeface="Arial" pitchFamily="34" charset="-120"/>
              </a:rPr>
              <a:t>AI detects vehicle</a:t>
            </a:r>
            <a:endParaRPr lang="en-US" sz="1050" dirty="0"/>
          </a:p>
        </p:txBody>
      </p:sp>
      <p:sp>
        <p:nvSpPr>
          <p:cNvPr id="28" name="Shape 24"/>
          <p:cNvSpPr/>
          <p:nvPr/>
        </p:nvSpPr>
        <p:spPr>
          <a:xfrm>
            <a:off x="4483608" y="2221992"/>
            <a:ext cx="146304" cy="182880"/>
          </a:xfrm>
          <a:prstGeom prst="rightArrow">
            <a:avLst/>
          </a:prstGeom>
          <a:solidFill>
            <a:srgbClr val="ED6024"/>
          </a:solidFill>
          <a:ln/>
        </p:spPr>
        <p:txBody>
          <a:bodyPr/>
          <a:lstStyle/>
          <a:p>
            <a:endParaRPr lang="en-IN"/>
          </a:p>
        </p:txBody>
      </p:sp>
      <p:sp>
        <p:nvSpPr>
          <p:cNvPr id="29" name="Text 25"/>
          <p:cNvSpPr txBox="1"/>
          <p:nvPr/>
        </p:nvSpPr>
        <p:spPr>
          <a:xfrm>
            <a:off x="4648200" y="2039112"/>
            <a:ext cx="838200" cy="548640"/>
          </a:xfrm>
          <a:prstGeom prst="roundRect">
            <a:avLst>
              <a:gd name="adj" fmla="val 13333"/>
            </a:avLst>
          </a:prstGeom>
          <a:solidFill>
            <a:srgbClr val="FBF8F5"/>
          </a:solidFill>
          <a:ln/>
        </p:spPr>
        <p:txBody>
          <a:bodyPr wrap="square" lIns="508" tIns="508" rIns="508" bIns="508" rtlCol="0" anchor="ctr"/>
          <a:lstStyle/>
          <a:p>
            <a:pPr marL="0" indent="0" algn="ctr">
              <a:buNone/>
            </a:pPr>
            <a:r>
              <a:rPr lang="en-US" sz="920" dirty="0">
                <a:solidFill>
                  <a:srgbClr val="3D342D"/>
                </a:solidFill>
                <a:latin typeface="Arial" pitchFamily="34" charset="0"/>
                <a:ea typeface="Arial" pitchFamily="34" charset="-122"/>
                <a:cs typeface="Arial" pitchFamily="34" charset="-120"/>
              </a:rPr>
              <a:t>Verifies emergency lane</a:t>
            </a:r>
            <a:endParaRPr lang="en-US" sz="1050" dirty="0"/>
          </a:p>
        </p:txBody>
      </p:sp>
      <p:sp>
        <p:nvSpPr>
          <p:cNvPr id="30" name="Shape 26"/>
          <p:cNvSpPr/>
          <p:nvPr/>
        </p:nvSpPr>
        <p:spPr>
          <a:xfrm>
            <a:off x="5504688" y="2221992"/>
            <a:ext cx="146304" cy="182880"/>
          </a:xfrm>
          <a:prstGeom prst="rightArrow">
            <a:avLst/>
          </a:prstGeom>
          <a:solidFill>
            <a:srgbClr val="ED6024"/>
          </a:solidFill>
          <a:ln/>
        </p:spPr>
        <p:txBody>
          <a:bodyPr/>
          <a:lstStyle/>
          <a:p>
            <a:endParaRPr lang="en-IN"/>
          </a:p>
        </p:txBody>
      </p:sp>
      <p:sp>
        <p:nvSpPr>
          <p:cNvPr id="31" name="Text 27"/>
          <p:cNvSpPr txBox="1"/>
          <p:nvPr/>
        </p:nvSpPr>
        <p:spPr>
          <a:xfrm>
            <a:off x="5669280" y="2039112"/>
            <a:ext cx="838200" cy="548640"/>
          </a:xfrm>
          <a:prstGeom prst="roundRect">
            <a:avLst>
              <a:gd name="adj" fmla="val 13333"/>
            </a:avLst>
          </a:prstGeom>
          <a:solidFill>
            <a:srgbClr val="FDEFD0"/>
          </a:solidFill>
          <a:ln/>
        </p:spPr>
        <p:txBody>
          <a:bodyPr wrap="square" lIns="508" tIns="508" rIns="508" bIns="508" rtlCol="0" anchor="ctr"/>
          <a:lstStyle/>
          <a:p>
            <a:pPr marL="0" indent="0" algn="ctr">
              <a:buNone/>
            </a:pPr>
            <a:r>
              <a:rPr lang="en-US" sz="920" dirty="0">
                <a:solidFill>
                  <a:srgbClr val="3D342D"/>
                </a:solidFill>
                <a:latin typeface="Arial" pitchFamily="34" charset="0"/>
                <a:ea typeface="Arial" pitchFamily="34" charset="-122"/>
                <a:cs typeface="Arial" pitchFamily="34" charset="-120"/>
              </a:rPr>
              <a:t>Starts timer</a:t>
            </a:r>
            <a:endParaRPr lang="en-US" sz="1050" dirty="0"/>
          </a:p>
        </p:txBody>
      </p:sp>
      <p:sp>
        <p:nvSpPr>
          <p:cNvPr id="32" name="Shape 28"/>
          <p:cNvSpPr/>
          <p:nvPr/>
        </p:nvSpPr>
        <p:spPr>
          <a:xfrm>
            <a:off x="6525768" y="2221992"/>
            <a:ext cx="146304" cy="182880"/>
          </a:xfrm>
          <a:prstGeom prst="rightArrow">
            <a:avLst/>
          </a:prstGeom>
          <a:solidFill>
            <a:srgbClr val="ED6024"/>
          </a:solidFill>
          <a:ln/>
        </p:spPr>
        <p:txBody>
          <a:bodyPr/>
          <a:lstStyle/>
          <a:p>
            <a:endParaRPr lang="en-IN"/>
          </a:p>
        </p:txBody>
      </p:sp>
      <p:sp>
        <p:nvSpPr>
          <p:cNvPr id="33" name="Text 29"/>
          <p:cNvSpPr txBox="1"/>
          <p:nvPr/>
        </p:nvSpPr>
        <p:spPr>
          <a:xfrm>
            <a:off x="6690360" y="2039112"/>
            <a:ext cx="838200" cy="548640"/>
          </a:xfrm>
          <a:prstGeom prst="roundRect">
            <a:avLst>
              <a:gd name="adj" fmla="val 13333"/>
            </a:avLst>
          </a:prstGeom>
          <a:solidFill>
            <a:srgbClr val="FBF8F5"/>
          </a:solidFill>
          <a:ln w="25400">
            <a:solidFill>
              <a:srgbClr val="F5A524"/>
            </a:solidFill>
          </a:ln>
        </p:spPr>
        <p:txBody>
          <a:bodyPr wrap="square" lIns="508" tIns="508" rIns="508" bIns="508" rtlCol="0" anchor="ctr"/>
          <a:lstStyle/>
          <a:p>
            <a:pPr marL="0" indent="0" algn="ctr">
              <a:buNone/>
            </a:pPr>
            <a:r>
              <a:rPr lang="en-US" sz="920" dirty="0">
                <a:solidFill>
                  <a:srgbClr val="3D342D"/>
                </a:solidFill>
                <a:latin typeface="Arial" pitchFamily="34" charset="0"/>
                <a:ea typeface="Arial" pitchFamily="34" charset="-122"/>
                <a:cs typeface="Arial" pitchFamily="34" charset="-120"/>
              </a:rPr>
              <a:t>Stays past limit?</a:t>
            </a:r>
            <a:endParaRPr lang="en-US" sz="1050" dirty="0"/>
          </a:p>
        </p:txBody>
      </p:sp>
      <p:sp>
        <p:nvSpPr>
          <p:cNvPr id="34" name="Shape 30"/>
          <p:cNvSpPr/>
          <p:nvPr/>
        </p:nvSpPr>
        <p:spPr>
          <a:xfrm>
            <a:off x="7546848" y="2221992"/>
            <a:ext cx="146304" cy="182880"/>
          </a:xfrm>
          <a:prstGeom prst="rightArrow">
            <a:avLst/>
          </a:prstGeom>
          <a:solidFill>
            <a:srgbClr val="ED6024"/>
          </a:solidFill>
          <a:ln/>
        </p:spPr>
        <p:txBody>
          <a:bodyPr/>
          <a:lstStyle/>
          <a:p>
            <a:endParaRPr lang="en-IN"/>
          </a:p>
        </p:txBody>
      </p:sp>
      <p:sp>
        <p:nvSpPr>
          <p:cNvPr id="35" name="Text 31"/>
          <p:cNvSpPr txBox="1"/>
          <p:nvPr/>
        </p:nvSpPr>
        <p:spPr>
          <a:xfrm>
            <a:off x="7711440" y="2039112"/>
            <a:ext cx="838200" cy="548640"/>
          </a:xfrm>
          <a:prstGeom prst="roundRect">
            <a:avLst>
              <a:gd name="adj" fmla="val 13333"/>
            </a:avLst>
          </a:prstGeom>
          <a:solidFill>
            <a:srgbClr val="E5484D"/>
          </a:solidFill>
          <a:ln/>
        </p:spPr>
        <p:txBody>
          <a:bodyPr wrap="square" lIns="508" tIns="508" rIns="508" bIns="508" rtlCol="0" anchor="ctr"/>
          <a:lstStyle/>
          <a:p>
            <a:pPr marL="0" indent="0" algn="ctr">
              <a:buNone/>
            </a:pPr>
            <a:r>
              <a:rPr lang="en-US" sz="920" b="1" dirty="0">
                <a:solidFill>
                  <a:srgbClr val="FFFFFF"/>
                </a:solidFill>
                <a:latin typeface="Arial" pitchFamily="34" charset="0"/>
                <a:ea typeface="Arial" pitchFamily="34" charset="-122"/>
                <a:cs typeface="Arial" pitchFamily="34" charset="-120"/>
              </a:rPr>
              <a:t>Alert generated</a:t>
            </a:r>
            <a:endParaRPr lang="en-US" sz="1050" dirty="0"/>
          </a:p>
        </p:txBody>
      </p:sp>
      <p:sp>
        <p:nvSpPr>
          <p:cNvPr id="36" name="Shape 32"/>
          <p:cNvSpPr/>
          <p:nvPr/>
        </p:nvSpPr>
        <p:spPr>
          <a:xfrm>
            <a:off x="457200" y="2825496"/>
            <a:ext cx="8229600" cy="841248"/>
          </a:xfrm>
          <a:prstGeom prst="roundRect">
            <a:avLst>
              <a:gd name="adj" fmla="val 10870"/>
            </a:avLst>
          </a:prstGeom>
          <a:solidFill>
            <a:srgbClr val="FFFFFF"/>
          </a:solidFill>
          <a:ln/>
          <a:effectLst>
            <a:outerShdw blurRad="127000" dist="38100" dir="5400000" algn="bl" rotWithShape="0">
              <a:srgbClr val="000000">
                <a:alpha val="35000"/>
              </a:srgbClr>
            </a:outerShdw>
          </a:effectLst>
        </p:spPr>
        <p:txBody>
          <a:bodyPr/>
          <a:lstStyle/>
          <a:p>
            <a:endParaRPr lang="en-IN"/>
          </a:p>
        </p:txBody>
      </p:sp>
      <p:sp>
        <p:nvSpPr>
          <p:cNvPr id="37" name="Shape 33"/>
          <p:cNvSpPr/>
          <p:nvPr/>
        </p:nvSpPr>
        <p:spPr>
          <a:xfrm>
            <a:off x="457200" y="2825496"/>
            <a:ext cx="1965960" cy="841248"/>
          </a:xfrm>
          <a:prstGeom prst="roundRect">
            <a:avLst>
              <a:gd name="adj" fmla="val 10870"/>
            </a:avLst>
          </a:prstGeom>
          <a:solidFill>
            <a:srgbClr val="4F433A"/>
          </a:solidFill>
          <a:ln/>
        </p:spPr>
        <p:txBody>
          <a:bodyPr/>
          <a:lstStyle/>
          <a:p>
            <a:endParaRPr lang="en-IN"/>
          </a:p>
        </p:txBody>
      </p:sp>
      <p:sp>
        <p:nvSpPr>
          <p:cNvPr id="38" name="Shape 34"/>
          <p:cNvSpPr/>
          <p:nvPr/>
        </p:nvSpPr>
        <p:spPr>
          <a:xfrm>
            <a:off x="594360" y="3017520"/>
            <a:ext cx="457200" cy="457200"/>
          </a:xfrm>
          <a:prstGeom prst="ellipse">
            <a:avLst/>
          </a:prstGeom>
          <a:solidFill>
            <a:srgbClr val="1FBF75"/>
          </a:solidFill>
          <a:ln/>
        </p:spPr>
        <p:txBody>
          <a:bodyPr/>
          <a:lstStyle/>
          <a:p>
            <a:endParaRPr lang="en-IN"/>
          </a:p>
        </p:txBody>
      </p:sp>
      <p:pic>
        <p:nvPicPr>
          <p:cNvPr id="39" name="Image 2" descr="preencoded.png"/>
          <p:cNvPicPr>
            <a:picLocks noChangeAspect="1"/>
          </p:cNvPicPr>
          <p:nvPr/>
        </p:nvPicPr>
        <p:blipFill>
          <a:blip r:embed="rId5"/>
          <a:stretch>
            <a:fillRect/>
          </a:stretch>
        </p:blipFill>
        <p:spPr>
          <a:xfrm>
            <a:off x="708660" y="3131820"/>
            <a:ext cx="228600" cy="228600"/>
          </a:xfrm>
          <a:prstGeom prst="rect">
            <a:avLst/>
          </a:prstGeom>
        </p:spPr>
      </p:pic>
      <p:sp>
        <p:nvSpPr>
          <p:cNvPr id="40" name="Text 35"/>
          <p:cNvSpPr txBox="1"/>
          <p:nvPr/>
        </p:nvSpPr>
        <p:spPr>
          <a:xfrm>
            <a:off x="1170432" y="2825496"/>
            <a:ext cx="1207008" cy="841248"/>
          </a:xfrm>
          <a:prstGeom prst="rect">
            <a:avLst/>
          </a:prstGeom>
          <a:noFill/>
          <a:ln/>
        </p:spPr>
        <p:txBody>
          <a:bodyPr wrap="square" lIns="0" tIns="0" rIns="0" bIns="0" rtlCol="0" anchor="ctr"/>
          <a:lstStyle/>
          <a:p>
            <a:pPr marL="0" indent="0">
              <a:buNone/>
            </a:pPr>
            <a:r>
              <a:rPr lang="en-US" sz="920" b="1" dirty="0">
                <a:solidFill>
                  <a:srgbClr val="FFFFFF"/>
                </a:solidFill>
                <a:latin typeface="Arial" pitchFamily="34" charset="0"/>
                <a:ea typeface="Arial" pitchFamily="34" charset="-122"/>
                <a:cs typeface="Arial" pitchFamily="34" charset="-120"/>
              </a:rPr>
              <a:t>C  SMART PARKING NAVIGATION</a:t>
            </a:r>
            <a:endParaRPr lang="en-US" sz="1050" dirty="0"/>
          </a:p>
        </p:txBody>
      </p:sp>
      <p:sp>
        <p:nvSpPr>
          <p:cNvPr id="41" name="Text 36"/>
          <p:cNvSpPr txBox="1"/>
          <p:nvPr/>
        </p:nvSpPr>
        <p:spPr>
          <a:xfrm>
            <a:off x="2606040" y="2971800"/>
            <a:ext cx="1348740" cy="548640"/>
          </a:xfrm>
          <a:prstGeom prst="roundRect">
            <a:avLst>
              <a:gd name="adj" fmla="val 13333"/>
            </a:avLst>
          </a:prstGeom>
          <a:solidFill>
            <a:srgbClr val="FBF8F5"/>
          </a:solidFill>
          <a:ln/>
        </p:spPr>
        <p:txBody>
          <a:bodyPr wrap="square" lIns="508" tIns="508" rIns="508" bIns="508" rtlCol="0" anchor="ctr"/>
          <a:lstStyle/>
          <a:p>
            <a:pPr marL="0" indent="0" algn="ctr">
              <a:buNone/>
            </a:pPr>
            <a:r>
              <a:rPr lang="en-US" sz="920" dirty="0">
                <a:solidFill>
                  <a:srgbClr val="3D342D"/>
                </a:solidFill>
                <a:latin typeface="Arial" pitchFamily="34" charset="0"/>
                <a:ea typeface="Arial" pitchFamily="34" charset="-122"/>
                <a:cs typeface="Arial" pitchFamily="34" charset="-120"/>
              </a:rPr>
              <a:t>AI finds free slots</a:t>
            </a:r>
            <a:endParaRPr lang="en-US" sz="1050" dirty="0"/>
          </a:p>
        </p:txBody>
      </p:sp>
      <p:sp>
        <p:nvSpPr>
          <p:cNvPr id="42" name="Shape 37"/>
          <p:cNvSpPr/>
          <p:nvPr/>
        </p:nvSpPr>
        <p:spPr>
          <a:xfrm>
            <a:off x="3973068" y="3154680"/>
            <a:ext cx="146304" cy="182880"/>
          </a:xfrm>
          <a:prstGeom prst="rightArrow">
            <a:avLst/>
          </a:prstGeom>
          <a:solidFill>
            <a:srgbClr val="ED6024"/>
          </a:solidFill>
          <a:ln/>
        </p:spPr>
        <p:txBody>
          <a:bodyPr/>
          <a:lstStyle/>
          <a:p>
            <a:endParaRPr lang="en-IN"/>
          </a:p>
        </p:txBody>
      </p:sp>
      <p:sp>
        <p:nvSpPr>
          <p:cNvPr id="43" name="Text 38"/>
          <p:cNvSpPr txBox="1"/>
          <p:nvPr/>
        </p:nvSpPr>
        <p:spPr>
          <a:xfrm>
            <a:off x="4137660" y="2971800"/>
            <a:ext cx="1348740" cy="548640"/>
          </a:xfrm>
          <a:prstGeom prst="roundRect">
            <a:avLst>
              <a:gd name="adj" fmla="val 13333"/>
            </a:avLst>
          </a:prstGeom>
          <a:solidFill>
            <a:srgbClr val="FBF8F5"/>
          </a:solidFill>
          <a:ln/>
        </p:spPr>
        <p:txBody>
          <a:bodyPr wrap="square" lIns="508" tIns="508" rIns="508" bIns="508" rtlCol="0" anchor="ctr"/>
          <a:lstStyle/>
          <a:p>
            <a:pPr marL="0" indent="0" algn="ctr">
              <a:buNone/>
            </a:pPr>
            <a:r>
              <a:rPr lang="en-US" sz="920" dirty="0">
                <a:solidFill>
                  <a:srgbClr val="3D342D"/>
                </a:solidFill>
                <a:latin typeface="Arial" pitchFamily="34" charset="0"/>
                <a:ea typeface="Arial" pitchFamily="34" charset="-122"/>
                <a:cs typeface="Arial" pitchFamily="34" charset="-120"/>
              </a:rPr>
              <a:t>Backend picks best / nearest</a:t>
            </a:r>
            <a:endParaRPr lang="en-US" sz="1050" dirty="0"/>
          </a:p>
        </p:txBody>
      </p:sp>
      <p:sp>
        <p:nvSpPr>
          <p:cNvPr id="44" name="Shape 39"/>
          <p:cNvSpPr/>
          <p:nvPr/>
        </p:nvSpPr>
        <p:spPr>
          <a:xfrm>
            <a:off x="5504688" y="3154680"/>
            <a:ext cx="146304" cy="182880"/>
          </a:xfrm>
          <a:prstGeom prst="rightArrow">
            <a:avLst/>
          </a:prstGeom>
          <a:solidFill>
            <a:srgbClr val="ED6024"/>
          </a:solidFill>
          <a:ln/>
        </p:spPr>
        <p:txBody>
          <a:bodyPr/>
          <a:lstStyle/>
          <a:p>
            <a:endParaRPr lang="en-IN"/>
          </a:p>
        </p:txBody>
      </p:sp>
      <p:sp>
        <p:nvSpPr>
          <p:cNvPr id="45" name="Text 40"/>
          <p:cNvSpPr txBox="1"/>
          <p:nvPr/>
        </p:nvSpPr>
        <p:spPr>
          <a:xfrm>
            <a:off x="5669280" y="2971800"/>
            <a:ext cx="1348740" cy="548640"/>
          </a:xfrm>
          <a:prstGeom prst="roundRect">
            <a:avLst>
              <a:gd name="adj" fmla="val 13333"/>
            </a:avLst>
          </a:prstGeom>
          <a:solidFill>
            <a:srgbClr val="FBF8F5"/>
          </a:solidFill>
          <a:ln/>
        </p:spPr>
        <p:txBody>
          <a:bodyPr wrap="square" lIns="508" tIns="508" rIns="508" bIns="508" rtlCol="0" anchor="ctr"/>
          <a:lstStyle/>
          <a:p>
            <a:pPr marL="0" indent="0" algn="ctr">
              <a:buNone/>
            </a:pPr>
            <a:r>
              <a:rPr lang="en-US" sz="920" dirty="0">
                <a:solidFill>
                  <a:srgbClr val="3D342D"/>
                </a:solidFill>
                <a:latin typeface="Arial" pitchFamily="34" charset="0"/>
                <a:ea typeface="Arial" pitchFamily="34" charset="-122"/>
                <a:cs typeface="Arial" pitchFamily="34" charset="-120"/>
              </a:rPr>
              <a:t>Dashboard shows the slot</a:t>
            </a:r>
            <a:endParaRPr lang="en-US" sz="1050" dirty="0"/>
          </a:p>
        </p:txBody>
      </p:sp>
      <p:sp>
        <p:nvSpPr>
          <p:cNvPr id="46" name="Shape 41"/>
          <p:cNvSpPr/>
          <p:nvPr/>
        </p:nvSpPr>
        <p:spPr>
          <a:xfrm>
            <a:off x="7036308" y="3154680"/>
            <a:ext cx="146304" cy="182880"/>
          </a:xfrm>
          <a:prstGeom prst="rightArrow">
            <a:avLst/>
          </a:prstGeom>
          <a:solidFill>
            <a:srgbClr val="ED6024"/>
          </a:solidFill>
          <a:ln/>
        </p:spPr>
        <p:txBody>
          <a:bodyPr/>
          <a:lstStyle/>
          <a:p>
            <a:endParaRPr lang="en-IN"/>
          </a:p>
        </p:txBody>
      </p:sp>
      <p:sp>
        <p:nvSpPr>
          <p:cNvPr id="47" name="Text 42"/>
          <p:cNvSpPr txBox="1"/>
          <p:nvPr/>
        </p:nvSpPr>
        <p:spPr>
          <a:xfrm>
            <a:off x="7200900" y="2971800"/>
            <a:ext cx="1348740" cy="548640"/>
          </a:xfrm>
          <a:prstGeom prst="roundRect">
            <a:avLst>
              <a:gd name="adj" fmla="val 13333"/>
            </a:avLst>
          </a:prstGeom>
          <a:solidFill>
            <a:srgbClr val="1FBF75"/>
          </a:solidFill>
          <a:ln/>
        </p:spPr>
        <p:txBody>
          <a:bodyPr wrap="square" lIns="508" tIns="508" rIns="508" bIns="508" rtlCol="0" anchor="ctr"/>
          <a:lstStyle/>
          <a:p>
            <a:pPr marL="0" indent="0" algn="ctr">
              <a:buNone/>
            </a:pPr>
            <a:r>
              <a:rPr lang="en-US" sz="920" b="1" dirty="0">
                <a:solidFill>
                  <a:srgbClr val="302823"/>
                </a:solidFill>
                <a:latin typeface="Arial" pitchFamily="34" charset="0"/>
                <a:ea typeface="Arial" pitchFamily="34" charset="-122"/>
                <a:cs typeface="Arial" pitchFamily="34" charset="-120"/>
              </a:rPr>
              <a:t>Driver guided to slot</a:t>
            </a:r>
            <a:endParaRPr lang="en-US" sz="1050" dirty="0"/>
          </a:p>
        </p:txBody>
      </p:sp>
      <p:sp>
        <p:nvSpPr>
          <p:cNvPr id="48" name="Text 43"/>
          <p:cNvSpPr txBox="1"/>
          <p:nvPr/>
        </p:nvSpPr>
        <p:spPr>
          <a:xfrm>
            <a:off x="457200" y="3749040"/>
            <a:ext cx="4572000" cy="201168"/>
          </a:xfrm>
          <a:prstGeom prst="rect">
            <a:avLst/>
          </a:prstGeom>
          <a:noFill/>
          <a:ln/>
        </p:spPr>
        <p:txBody>
          <a:bodyPr wrap="square" lIns="0" tIns="0" rIns="0" bIns="0" rtlCol="0" anchor="ctr"/>
          <a:lstStyle/>
          <a:p>
            <a:pPr marL="0" indent="0">
              <a:buNone/>
            </a:pPr>
            <a:r>
              <a:rPr lang="en-US" sz="880" b="1" kern="0" spc="200" dirty="0">
                <a:solidFill>
                  <a:srgbClr val="F86425"/>
                </a:solidFill>
                <a:latin typeface="Arial" pitchFamily="34" charset="0"/>
                <a:ea typeface="Arial" pitchFamily="34" charset="-122"/>
                <a:cs typeface="Arial" pitchFamily="34" charset="-120"/>
              </a:rPr>
              <a:t>DASHBOARD ALERTS (EXAMPLES)</a:t>
            </a:r>
            <a:endParaRPr lang="en-US" sz="1000" dirty="0"/>
          </a:p>
        </p:txBody>
      </p:sp>
      <p:sp>
        <p:nvSpPr>
          <p:cNvPr id="49" name="Shape 44"/>
          <p:cNvSpPr/>
          <p:nvPr/>
        </p:nvSpPr>
        <p:spPr>
          <a:xfrm>
            <a:off x="457200" y="4005072"/>
            <a:ext cx="2651760" cy="713232"/>
          </a:xfrm>
          <a:prstGeom prst="roundRect">
            <a:avLst>
              <a:gd name="adj" fmla="val 12821"/>
            </a:avLst>
          </a:prstGeom>
          <a:solidFill>
            <a:srgbClr val="FFFFFF"/>
          </a:solidFill>
          <a:ln/>
          <a:effectLst>
            <a:outerShdw blurRad="127000" dist="38100" dir="5400000" algn="bl" rotWithShape="0">
              <a:srgbClr val="000000">
                <a:alpha val="35000"/>
              </a:srgbClr>
            </a:outerShdw>
          </a:effectLst>
        </p:spPr>
        <p:txBody>
          <a:bodyPr/>
          <a:lstStyle/>
          <a:p>
            <a:endParaRPr lang="en-IN"/>
          </a:p>
        </p:txBody>
      </p:sp>
      <p:sp>
        <p:nvSpPr>
          <p:cNvPr id="50" name="Shape 45"/>
          <p:cNvSpPr/>
          <p:nvPr/>
        </p:nvSpPr>
        <p:spPr>
          <a:xfrm>
            <a:off x="585216" y="4151376"/>
            <a:ext cx="420624" cy="420624"/>
          </a:xfrm>
          <a:prstGeom prst="ellipse">
            <a:avLst/>
          </a:prstGeom>
          <a:solidFill>
            <a:srgbClr val="E5484D"/>
          </a:solidFill>
          <a:ln/>
        </p:spPr>
        <p:txBody>
          <a:bodyPr/>
          <a:lstStyle/>
          <a:p>
            <a:endParaRPr lang="en-IN"/>
          </a:p>
        </p:txBody>
      </p:sp>
      <p:pic>
        <p:nvPicPr>
          <p:cNvPr id="51" name="Image 3" descr="preencoded.png"/>
          <p:cNvPicPr>
            <a:picLocks noChangeAspect="1"/>
          </p:cNvPicPr>
          <p:nvPr/>
        </p:nvPicPr>
        <p:blipFill>
          <a:blip r:embed="rId6"/>
          <a:stretch>
            <a:fillRect/>
          </a:stretch>
        </p:blipFill>
        <p:spPr>
          <a:xfrm>
            <a:off x="690372" y="4256532"/>
            <a:ext cx="210312" cy="210312"/>
          </a:xfrm>
          <a:prstGeom prst="rect">
            <a:avLst/>
          </a:prstGeom>
        </p:spPr>
      </p:pic>
      <p:sp>
        <p:nvSpPr>
          <p:cNvPr id="52" name="Text 46"/>
          <p:cNvSpPr txBox="1"/>
          <p:nvPr/>
        </p:nvSpPr>
        <p:spPr>
          <a:xfrm>
            <a:off x="1115568" y="4078224"/>
            <a:ext cx="1920240" cy="201168"/>
          </a:xfrm>
          <a:prstGeom prst="rect">
            <a:avLst/>
          </a:prstGeom>
          <a:noFill/>
          <a:ln/>
        </p:spPr>
        <p:txBody>
          <a:bodyPr wrap="square" lIns="0" tIns="0" rIns="0" bIns="0" rtlCol="0" anchor="ctr"/>
          <a:lstStyle/>
          <a:p>
            <a:pPr marL="0" indent="0">
              <a:buNone/>
            </a:pPr>
            <a:r>
              <a:rPr lang="en-US" sz="920" b="1" dirty="0">
                <a:solidFill>
                  <a:srgbClr val="E5484D"/>
                </a:solidFill>
                <a:latin typeface="Arial" pitchFamily="34" charset="0"/>
                <a:ea typeface="Arial" pitchFamily="34" charset="-122"/>
                <a:cs typeface="Arial" pitchFamily="34" charset="-120"/>
              </a:rPr>
              <a:t>EMERGENCY LANE – BLOCKED</a:t>
            </a:r>
            <a:endParaRPr lang="en-US" sz="1050" dirty="0"/>
          </a:p>
        </p:txBody>
      </p:sp>
      <p:sp>
        <p:nvSpPr>
          <p:cNvPr id="53" name="Text 47"/>
          <p:cNvSpPr txBox="1"/>
          <p:nvPr/>
        </p:nvSpPr>
        <p:spPr>
          <a:xfrm>
            <a:off x="1115568" y="4288536"/>
            <a:ext cx="1920240" cy="182880"/>
          </a:xfrm>
          <a:prstGeom prst="rect">
            <a:avLst/>
          </a:prstGeom>
          <a:noFill/>
          <a:ln/>
        </p:spPr>
        <p:txBody>
          <a:bodyPr wrap="square" lIns="0" tIns="0" rIns="0" bIns="0" rtlCol="0" anchor="ctr"/>
          <a:lstStyle/>
          <a:p>
            <a:pPr marL="0" indent="0">
              <a:buNone/>
            </a:pPr>
            <a:r>
              <a:rPr lang="en-US" sz="920" dirty="0">
                <a:solidFill>
                  <a:srgbClr val="3D342D"/>
                </a:solidFill>
                <a:latin typeface="Arial" pitchFamily="34" charset="0"/>
                <a:ea typeface="Arial" pitchFamily="34" charset="-122"/>
                <a:cs typeface="Arial" pitchFamily="34" charset="-120"/>
              </a:rPr>
              <a:t>Vehicle Detected</a:t>
            </a:r>
            <a:endParaRPr lang="en-US" sz="1050" dirty="0"/>
          </a:p>
        </p:txBody>
      </p:sp>
      <p:sp>
        <p:nvSpPr>
          <p:cNvPr id="54" name="Text 48"/>
          <p:cNvSpPr txBox="1"/>
          <p:nvPr/>
        </p:nvSpPr>
        <p:spPr>
          <a:xfrm>
            <a:off x="1115568" y="4471416"/>
            <a:ext cx="1920240" cy="182880"/>
          </a:xfrm>
          <a:prstGeom prst="rect">
            <a:avLst/>
          </a:prstGeom>
          <a:noFill/>
          <a:ln/>
        </p:spPr>
        <p:txBody>
          <a:bodyPr wrap="square" lIns="0" tIns="0" rIns="0" bIns="0" rtlCol="0" anchor="ctr"/>
          <a:lstStyle/>
          <a:p>
            <a:pPr marL="0" indent="0">
              <a:buNone/>
            </a:pPr>
            <a:r>
              <a:rPr lang="en-US" sz="920" dirty="0">
                <a:solidFill>
                  <a:srgbClr val="847C76"/>
                </a:solidFill>
                <a:latin typeface="Arial" pitchFamily="34" charset="0"/>
                <a:ea typeface="Arial" pitchFamily="34" charset="-122"/>
                <a:cs typeface="Arial" pitchFamily="34" charset="-120"/>
              </a:rPr>
              <a:t>Location: Zone A2</a:t>
            </a:r>
            <a:endParaRPr lang="en-US" sz="1050" dirty="0"/>
          </a:p>
        </p:txBody>
      </p:sp>
      <p:sp>
        <p:nvSpPr>
          <p:cNvPr id="55" name="Shape 49"/>
          <p:cNvSpPr/>
          <p:nvPr/>
        </p:nvSpPr>
        <p:spPr>
          <a:xfrm>
            <a:off x="3246120" y="4005072"/>
            <a:ext cx="2651760" cy="713232"/>
          </a:xfrm>
          <a:prstGeom prst="roundRect">
            <a:avLst>
              <a:gd name="adj" fmla="val 12821"/>
            </a:avLst>
          </a:prstGeom>
          <a:solidFill>
            <a:srgbClr val="FFFFFF"/>
          </a:solidFill>
          <a:ln/>
          <a:effectLst>
            <a:outerShdw blurRad="127000" dist="38100" dir="5400000" algn="bl" rotWithShape="0">
              <a:srgbClr val="000000">
                <a:alpha val="35000"/>
              </a:srgbClr>
            </a:outerShdw>
          </a:effectLst>
        </p:spPr>
        <p:txBody>
          <a:bodyPr/>
          <a:lstStyle/>
          <a:p>
            <a:endParaRPr lang="en-IN"/>
          </a:p>
        </p:txBody>
      </p:sp>
      <p:sp>
        <p:nvSpPr>
          <p:cNvPr id="56" name="Shape 50"/>
          <p:cNvSpPr/>
          <p:nvPr/>
        </p:nvSpPr>
        <p:spPr>
          <a:xfrm>
            <a:off x="3374136" y="4151376"/>
            <a:ext cx="420624" cy="420624"/>
          </a:xfrm>
          <a:prstGeom prst="ellipse">
            <a:avLst/>
          </a:prstGeom>
          <a:solidFill>
            <a:srgbClr val="F5A524"/>
          </a:solidFill>
          <a:ln/>
        </p:spPr>
        <p:txBody>
          <a:bodyPr/>
          <a:lstStyle/>
          <a:p>
            <a:endParaRPr lang="en-IN"/>
          </a:p>
        </p:txBody>
      </p:sp>
      <p:pic>
        <p:nvPicPr>
          <p:cNvPr id="57" name="Image 4" descr="preencoded.png"/>
          <p:cNvPicPr>
            <a:picLocks noChangeAspect="1"/>
          </p:cNvPicPr>
          <p:nvPr/>
        </p:nvPicPr>
        <p:blipFill>
          <a:blip r:embed="rId3"/>
          <a:stretch>
            <a:fillRect/>
          </a:stretch>
        </p:blipFill>
        <p:spPr>
          <a:xfrm>
            <a:off x="3479292" y="4256532"/>
            <a:ext cx="210312" cy="210312"/>
          </a:xfrm>
          <a:prstGeom prst="rect">
            <a:avLst/>
          </a:prstGeom>
        </p:spPr>
      </p:pic>
      <p:sp>
        <p:nvSpPr>
          <p:cNvPr id="58" name="Text 51"/>
          <p:cNvSpPr txBox="1"/>
          <p:nvPr/>
        </p:nvSpPr>
        <p:spPr>
          <a:xfrm>
            <a:off x="3904488" y="4078224"/>
            <a:ext cx="1920240" cy="201168"/>
          </a:xfrm>
          <a:prstGeom prst="rect">
            <a:avLst/>
          </a:prstGeom>
          <a:noFill/>
          <a:ln/>
        </p:spPr>
        <p:txBody>
          <a:bodyPr wrap="square" lIns="0" tIns="0" rIns="0" bIns="0" rtlCol="0" anchor="ctr"/>
          <a:lstStyle/>
          <a:p>
            <a:pPr marL="0" indent="0">
              <a:buNone/>
            </a:pPr>
            <a:r>
              <a:rPr lang="en-US" sz="920" b="1" dirty="0">
                <a:solidFill>
                  <a:srgbClr val="C77800"/>
                </a:solidFill>
                <a:latin typeface="Arial" pitchFamily="34" charset="0"/>
                <a:ea typeface="Arial" pitchFamily="34" charset="-122"/>
                <a:cs typeface="Arial" pitchFamily="34" charset="-120"/>
              </a:rPr>
              <a:t>WRONG PARKING</a:t>
            </a:r>
            <a:endParaRPr lang="en-US" sz="1050" dirty="0"/>
          </a:p>
        </p:txBody>
      </p:sp>
      <p:sp>
        <p:nvSpPr>
          <p:cNvPr id="59" name="Text 52"/>
          <p:cNvSpPr txBox="1"/>
          <p:nvPr/>
        </p:nvSpPr>
        <p:spPr>
          <a:xfrm>
            <a:off x="3904488" y="4288536"/>
            <a:ext cx="1920240" cy="182880"/>
          </a:xfrm>
          <a:prstGeom prst="rect">
            <a:avLst/>
          </a:prstGeom>
          <a:noFill/>
          <a:ln/>
        </p:spPr>
        <p:txBody>
          <a:bodyPr wrap="square" lIns="0" tIns="0" rIns="0" bIns="0" rtlCol="0" anchor="ctr"/>
          <a:lstStyle/>
          <a:p>
            <a:pPr marL="0" indent="0">
              <a:buNone/>
            </a:pPr>
            <a:r>
              <a:rPr lang="en-US" sz="920" dirty="0">
                <a:solidFill>
                  <a:srgbClr val="3D342D"/>
                </a:solidFill>
                <a:latin typeface="Arial" pitchFamily="34" charset="0"/>
                <a:ea typeface="Arial" pitchFamily="34" charset="-122"/>
                <a:cs typeface="Arial" pitchFamily="34" charset="-120"/>
              </a:rPr>
              <a:t>Vehicle in no-parking zone</a:t>
            </a:r>
            <a:endParaRPr lang="en-US" sz="1050" dirty="0"/>
          </a:p>
        </p:txBody>
      </p:sp>
      <p:sp>
        <p:nvSpPr>
          <p:cNvPr id="60" name="Text 53"/>
          <p:cNvSpPr txBox="1"/>
          <p:nvPr/>
        </p:nvSpPr>
        <p:spPr>
          <a:xfrm>
            <a:off x="3904488" y="4471416"/>
            <a:ext cx="1920240" cy="182880"/>
          </a:xfrm>
          <a:prstGeom prst="rect">
            <a:avLst/>
          </a:prstGeom>
          <a:noFill/>
          <a:ln/>
        </p:spPr>
        <p:txBody>
          <a:bodyPr wrap="square" lIns="0" tIns="0" rIns="0" bIns="0" rtlCol="0" anchor="ctr"/>
          <a:lstStyle/>
          <a:p>
            <a:pPr marL="0" indent="0">
              <a:buNone/>
            </a:pPr>
            <a:r>
              <a:rPr lang="en-US" sz="920" dirty="0">
                <a:solidFill>
                  <a:srgbClr val="847C76"/>
                </a:solidFill>
                <a:latin typeface="Arial" pitchFamily="34" charset="0"/>
                <a:ea typeface="Arial" pitchFamily="34" charset="-122"/>
                <a:cs typeface="Arial" pitchFamily="34" charset="-120"/>
              </a:rPr>
              <a:t>Location: Zone B1</a:t>
            </a:r>
            <a:endParaRPr lang="en-US" sz="1050" dirty="0"/>
          </a:p>
        </p:txBody>
      </p:sp>
      <p:sp>
        <p:nvSpPr>
          <p:cNvPr id="61" name="Shape 54"/>
          <p:cNvSpPr/>
          <p:nvPr/>
        </p:nvSpPr>
        <p:spPr>
          <a:xfrm>
            <a:off x="6035040" y="4005072"/>
            <a:ext cx="2651760" cy="713232"/>
          </a:xfrm>
          <a:prstGeom prst="roundRect">
            <a:avLst>
              <a:gd name="adj" fmla="val 12821"/>
            </a:avLst>
          </a:prstGeom>
          <a:solidFill>
            <a:srgbClr val="FFFFFF"/>
          </a:solidFill>
          <a:ln/>
          <a:effectLst>
            <a:outerShdw blurRad="127000" dist="38100" dir="5400000" algn="bl" rotWithShape="0">
              <a:srgbClr val="000000">
                <a:alpha val="35000"/>
              </a:srgbClr>
            </a:outerShdw>
          </a:effectLst>
        </p:spPr>
        <p:txBody>
          <a:bodyPr/>
          <a:lstStyle/>
          <a:p>
            <a:endParaRPr lang="en-IN"/>
          </a:p>
        </p:txBody>
      </p:sp>
      <p:sp>
        <p:nvSpPr>
          <p:cNvPr id="62" name="Shape 55"/>
          <p:cNvSpPr/>
          <p:nvPr/>
        </p:nvSpPr>
        <p:spPr>
          <a:xfrm>
            <a:off x="6163056" y="4151376"/>
            <a:ext cx="420624" cy="420624"/>
          </a:xfrm>
          <a:prstGeom prst="ellipse">
            <a:avLst/>
          </a:prstGeom>
          <a:solidFill>
            <a:srgbClr val="1FBF75"/>
          </a:solidFill>
          <a:ln/>
        </p:spPr>
        <p:txBody>
          <a:bodyPr/>
          <a:lstStyle/>
          <a:p>
            <a:endParaRPr lang="en-IN"/>
          </a:p>
        </p:txBody>
      </p:sp>
      <p:pic>
        <p:nvPicPr>
          <p:cNvPr id="63" name="Image 5" descr="preencoded.png"/>
          <p:cNvPicPr>
            <a:picLocks noChangeAspect="1"/>
          </p:cNvPicPr>
          <p:nvPr/>
        </p:nvPicPr>
        <p:blipFill>
          <a:blip r:embed="rId7"/>
          <a:stretch>
            <a:fillRect/>
          </a:stretch>
        </p:blipFill>
        <p:spPr>
          <a:xfrm>
            <a:off x="6268212" y="4256532"/>
            <a:ext cx="210312" cy="210312"/>
          </a:xfrm>
          <a:prstGeom prst="rect">
            <a:avLst/>
          </a:prstGeom>
        </p:spPr>
      </p:pic>
      <p:sp>
        <p:nvSpPr>
          <p:cNvPr id="64" name="Text 56"/>
          <p:cNvSpPr txBox="1"/>
          <p:nvPr/>
        </p:nvSpPr>
        <p:spPr>
          <a:xfrm>
            <a:off x="6693408" y="4078224"/>
            <a:ext cx="1920240" cy="201168"/>
          </a:xfrm>
          <a:prstGeom prst="rect">
            <a:avLst/>
          </a:prstGeom>
          <a:noFill/>
          <a:ln/>
        </p:spPr>
        <p:txBody>
          <a:bodyPr wrap="square" lIns="0" tIns="0" rIns="0" bIns="0" rtlCol="0" anchor="ctr"/>
          <a:lstStyle/>
          <a:p>
            <a:pPr marL="0" indent="0">
              <a:buNone/>
            </a:pPr>
            <a:r>
              <a:rPr lang="en-US" sz="920" b="1" dirty="0">
                <a:solidFill>
                  <a:srgbClr val="138A52"/>
                </a:solidFill>
                <a:latin typeface="Arial" pitchFamily="34" charset="0"/>
                <a:ea typeface="Arial" pitchFamily="34" charset="-122"/>
                <a:cs typeface="Arial" pitchFamily="34" charset="-120"/>
              </a:rPr>
              <a:t>BEST SLOT: A-07</a:t>
            </a:r>
            <a:endParaRPr lang="en-US" sz="1050" dirty="0"/>
          </a:p>
        </p:txBody>
      </p:sp>
      <p:sp>
        <p:nvSpPr>
          <p:cNvPr id="65" name="Text 57"/>
          <p:cNvSpPr txBox="1"/>
          <p:nvPr/>
        </p:nvSpPr>
        <p:spPr>
          <a:xfrm>
            <a:off x="6693408" y="4288536"/>
            <a:ext cx="1920240" cy="182880"/>
          </a:xfrm>
          <a:prstGeom prst="rect">
            <a:avLst/>
          </a:prstGeom>
          <a:noFill/>
          <a:ln/>
        </p:spPr>
        <p:txBody>
          <a:bodyPr wrap="square" lIns="0" tIns="0" rIns="0" bIns="0" rtlCol="0" anchor="ctr"/>
          <a:lstStyle/>
          <a:p>
            <a:pPr marL="0" indent="0">
              <a:buNone/>
            </a:pPr>
            <a:r>
              <a:rPr lang="en-US" sz="920" dirty="0">
                <a:solidFill>
                  <a:srgbClr val="3D342D"/>
                </a:solidFill>
                <a:latin typeface="Arial" pitchFamily="34" charset="0"/>
                <a:ea typeface="Arial" pitchFamily="34" charset="-122"/>
                <a:cs typeface="Arial" pitchFamily="34" charset="-120"/>
              </a:rPr>
              <a:t>Nearest available slot</a:t>
            </a:r>
            <a:endParaRPr lang="en-US" sz="1050" dirty="0"/>
          </a:p>
        </p:txBody>
      </p:sp>
      <p:sp>
        <p:nvSpPr>
          <p:cNvPr id="66" name="Text 58"/>
          <p:cNvSpPr txBox="1"/>
          <p:nvPr/>
        </p:nvSpPr>
        <p:spPr>
          <a:xfrm>
            <a:off x="6693408" y="4471416"/>
            <a:ext cx="1920240" cy="182880"/>
          </a:xfrm>
          <a:prstGeom prst="rect">
            <a:avLst/>
          </a:prstGeom>
          <a:noFill/>
          <a:ln/>
        </p:spPr>
        <p:txBody>
          <a:bodyPr wrap="square" lIns="0" tIns="0" rIns="0" bIns="0" rtlCol="0" anchor="ctr"/>
          <a:lstStyle/>
          <a:p>
            <a:pPr marL="0" indent="0">
              <a:buNone/>
            </a:pPr>
            <a:r>
              <a:rPr lang="en-US" sz="920" dirty="0">
                <a:solidFill>
                  <a:srgbClr val="847C76"/>
                </a:solidFill>
                <a:latin typeface="Arial" pitchFamily="34" charset="0"/>
                <a:ea typeface="Arial" pitchFamily="34" charset="-122"/>
                <a:cs typeface="Arial" pitchFamily="34" charset="-120"/>
              </a:rPr>
              <a:t>Route ready for driver</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9F8F7"/>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ctr"/>
          <a:lstStyle/>
          <a:p>
            <a:pPr marL="0" indent="0">
              <a:buNone/>
            </a:pPr>
            <a:r>
              <a:rPr lang="en-US" sz="3400" b="1" dirty="0">
                <a:solidFill>
                  <a:srgbClr val="36312D"/>
                </a:solidFill>
                <a:latin typeface="Cambria" pitchFamily="34" charset="0"/>
                <a:ea typeface="Cambria" pitchFamily="34" charset="-122"/>
                <a:cs typeface="Cambria" pitchFamily="34" charset="-120"/>
              </a:rPr>
              <a:t>The web dashboard</a:t>
            </a:r>
            <a:endParaRPr lang="en-US" sz="3400" dirty="0"/>
          </a:p>
        </p:txBody>
      </p:sp>
      <p:sp>
        <p:nvSpPr>
          <p:cNvPr id="3" name="Shape 1"/>
          <p:cNvSpPr/>
          <p:nvPr/>
        </p:nvSpPr>
        <p:spPr>
          <a:xfrm>
            <a:off x="457200" y="1234440"/>
            <a:ext cx="548640" cy="548640"/>
          </a:xfrm>
          <a:prstGeom prst="ellipse">
            <a:avLst/>
          </a:prstGeom>
          <a:solidFill>
            <a:srgbClr val="3A332E"/>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594360" y="1371600"/>
            <a:ext cx="274320" cy="274320"/>
          </a:xfrm>
          <a:prstGeom prst="rect">
            <a:avLst/>
          </a:prstGeom>
        </p:spPr>
      </p:pic>
      <p:sp>
        <p:nvSpPr>
          <p:cNvPr id="5" name="Text 2"/>
          <p:cNvSpPr txBox="1"/>
          <p:nvPr/>
        </p:nvSpPr>
        <p:spPr>
          <a:xfrm>
            <a:off x="1188720" y="1188720"/>
            <a:ext cx="3017520" cy="274320"/>
          </a:xfrm>
          <a:prstGeom prst="rect">
            <a:avLst/>
          </a:prstGeom>
          <a:noFill/>
          <a:ln/>
        </p:spPr>
        <p:txBody>
          <a:bodyPr wrap="square" lIns="0" tIns="0" rIns="0" bIns="0" rtlCol="0" anchor="t"/>
          <a:lstStyle/>
          <a:p>
            <a:pPr marL="0" indent="0">
              <a:buNone/>
            </a:pPr>
            <a:r>
              <a:rPr lang="en-US" sz="1600" b="1" dirty="0">
                <a:solidFill>
                  <a:srgbClr val="36312D"/>
                </a:solidFill>
                <a:latin typeface="Arial" pitchFamily="34" charset="0"/>
                <a:ea typeface="Arial" pitchFamily="34" charset="-122"/>
                <a:cs typeface="Arial" pitchFamily="34" charset="-120"/>
              </a:rPr>
              <a:t>Live availability</a:t>
            </a:r>
            <a:endParaRPr lang="en-US" sz="1600" dirty="0"/>
          </a:p>
        </p:txBody>
      </p:sp>
      <p:sp>
        <p:nvSpPr>
          <p:cNvPr id="6" name="Text 3"/>
          <p:cNvSpPr txBox="1"/>
          <p:nvPr/>
        </p:nvSpPr>
        <p:spPr>
          <a:xfrm>
            <a:off x="1188720" y="1490472"/>
            <a:ext cx="3017520" cy="502920"/>
          </a:xfrm>
          <a:prstGeom prst="rect">
            <a:avLst/>
          </a:prstGeom>
          <a:noFill/>
          <a:ln/>
        </p:spPr>
        <p:txBody>
          <a:bodyPr wrap="square" lIns="0" tIns="0" rIns="0" bIns="0" rtlCol="0" anchor="t"/>
          <a:lstStyle/>
          <a:p>
            <a:pPr marL="0" indent="0">
              <a:buNone/>
            </a:pPr>
            <a:r>
              <a:rPr lang="en-US" sz="1400" dirty="0">
                <a:solidFill>
                  <a:srgbClr val="79736E"/>
                </a:solidFill>
                <a:latin typeface="Arial" pitchFamily="34" charset="0"/>
                <a:ea typeface="Arial" pitchFamily="34" charset="-122"/>
                <a:cs typeface="Arial" pitchFamily="34" charset="-120"/>
              </a:rPr>
              <a:t>Free and total count for each lot and zone.</a:t>
            </a:r>
            <a:endParaRPr lang="en-US" sz="1400" dirty="0"/>
          </a:p>
        </p:txBody>
      </p:sp>
      <p:sp>
        <p:nvSpPr>
          <p:cNvPr id="7" name="Shape 4"/>
          <p:cNvSpPr/>
          <p:nvPr/>
        </p:nvSpPr>
        <p:spPr>
          <a:xfrm>
            <a:off x="457200" y="2103120"/>
            <a:ext cx="548640" cy="548640"/>
          </a:xfrm>
          <a:prstGeom prst="ellipse">
            <a:avLst/>
          </a:prstGeom>
          <a:solidFill>
            <a:srgbClr val="3A332E"/>
          </a:solidFill>
          <a:ln/>
        </p:spPr>
        <p:txBody>
          <a:bodyPr/>
          <a:lstStyle/>
          <a:p>
            <a:endParaRPr lang="en-IN"/>
          </a:p>
        </p:txBody>
      </p:sp>
      <p:pic>
        <p:nvPicPr>
          <p:cNvPr id="8" name="Image 1" descr="preencoded.png"/>
          <p:cNvPicPr>
            <a:picLocks noChangeAspect="1"/>
          </p:cNvPicPr>
          <p:nvPr/>
        </p:nvPicPr>
        <p:blipFill>
          <a:blip r:embed="rId4"/>
          <a:stretch>
            <a:fillRect/>
          </a:stretch>
        </p:blipFill>
        <p:spPr>
          <a:xfrm>
            <a:off x="594360" y="2240280"/>
            <a:ext cx="274320" cy="274320"/>
          </a:xfrm>
          <a:prstGeom prst="rect">
            <a:avLst/>
          </a:prstGeom>
        </p:spPr>
      </p:pic>
      <p:sp>
        <p:nvSpPr>
          <p:cNvPr id="9" name="Text 5"/>
          <p:cNvSpPr txBox="1"/>
          <p:nvPr/>
        </p:nvSpPr>
        <p:spPr>
          <a:xfrm>
            <a:off x="1188720" y="2057400"/>
            <a:ext cx="3017520" cy="274320"/>
          </a:xfrm>
          <a:prstGeom prst="rect">
            <a:avLst/>
          </a:prstGeom>
          <a:noFill/>
          <a:ln/>
        </p:spPr>
        <p:txBody>
          <a:bodyPr wrap="square" lIns="0" tIns="0" rIns="0" bIns="0" rtlCol="0" anchor="t"/>
          <a:lstStyle/>
          <a:p>
            <a:pPr marL="0" indent="0">
              <a:buNone/>
            </a:pPr>
            <a:r>
              <a:rPr lang="en-US" sz="1600" b="1" dirty="0">
                <a:solidFill>
                  <a:srgbClr val="36312D"/>
                </a:solidFill>
                <a:latin typeface="Arial" pitchFamily="34" charset="0"/>
                <a:ea typeface="Arial" pitchFamily="34" charset="-122"/>
                <a:cs typeface="Arial" pitchFamily="34" charset="-120"/>
              </a:rPr>
              <a:t>Slot-level map</a:t>
            </a:r>
            <a:endParaRPr lang="en-US" sz="1600" dirty="0"/>
          </a:p>
        </p:txBody>
      </p:sp>
      <p:sp>
        <p:nvSpPr>
          <p:cNvPr id="10" name="Text 6"/>
          <p:cNvSpPr txBox="1"/>
          <p:nvPr/>
        </p:nvSpPr>
        <p:spPr>
          <a:xfrm>
            <a:off x="1188720" y="2359152"/>
            <a:ext cx="3017520" cy="502920"/>
          </a:xfrm>
          <a:prstGeom prst="rect">
            <a:avLst/>
          </a:prstGeom>
          <a:noFill/>
          <a:ln/>
        </p:spPr>
        <p:txBody>
          <a:bodyPr wrap="square" lIns="0" tIns="0" rIns="0" bIns="0" rtlCol="0" anchor="t"/>
          <a:lstStyle/>
          <a:p>
            <a:pPr marL="0" indent="0">
              <a:buNone/>
            </a:pPr>
            <a:r>
              <a:rPr lang="en-US" sz="1400" dirty="0">
                <a:solidFill>
                  <a:srgbClr val="79736E"/>
                </a:solidFill>
                <a:latin typeface="Arial" pitchFamily="34" charset="0"/>
                <a:ea typeface="Arial" pitchFamily="34" charset="-122"/>
                <a:cs typeface="Arial" pitchFamily="34" charset="-120"/>
              </a:rPr>
              <a:t>See exactly which bays are free right now.</a:t>
            </a:r>
            <a:endParaRPr lang="en-US" sz="1400" dirty="0"/>
          </a:p>
        </p:txBody>
      </p:sp>
      <p:sp>
        <p:nvSpPr>
          <p:cNvPr id="11" name="Shape 7"/>
          <p:cNvSpPr/>
          <p:nvPr/>
        </p:nvSpPr>
        <p:spPr>
          <a:xfrm>
            <a:off x="457200" y="2971800"/>
            <a:ext cx="548640" cy="548640"/>
          </a:xfrm>
          <a:prstGeom prst="ellipse">
            <a:avLst/>
          </a:prstGeom>
          <a:solidFill>
            <a:srgbClr val="3A332E"/>
          </a:solidFill>
          <a:ln/>
        </p:spPr>
        <p:txBody>
          <a:bodyPr/>
          <a:lstStyle/>
          <a:p>
            <a:endParaRPr lang="en-IN"/>
          </a:p>
        </p:txBody>
      </p:sp>
      <p:pic>
        <p:nvPicPr>
          <p:cNvPr id="12" name="Image 2" descr="preencoded.png"/>
          <p:cNvPicPr>
            <a:picLocks noChangeAspect="1"/>
          </p:cNvPicPr>
          <p:nvPr/>
        </p:nvPicPr>
        <p:blipFill>
          <a:blip r:embed="rId5"/>
          <a:stretch>
            <a:fillRect/>
          </a:stretch>
        </p:blipFill>
        <p:spPr>
          <a:xfrm>
            <a:off x="594360" y="3108960"/>
            <a:ext cx="274320" cy="274320"/>
          </a:xfrm>
          <a:prstGeom prst="rect">
            <a:avLst/>
          </a:prstGeom>
        </p:spPr>
      </p:pic>
      <p:sp>
        <p:nvSpPr>
          <p:cNvPr id="13" name="Text 8"/>
          <p:cNvSpPr txBox="1"/>
          <p:nvPr/>
        </p:nvSpPr>
        <p:spPr>
          <a:xfrm>
            <a:off x="1188720" y="2926080"/>
            <a:ext cx="3017520" cy="274320"/>
          </a:xfrm>
          <a:prstGeom prst="rect">
            <a:avLst/>
          </a:prstGeom>
          <a:noFill/>
          <a:ln/>
        </p:spPr>
        <p:txBody>
          <a:bodyPr wrap="square" lIns="0" tIns="0" rIns="0" bIns="0" rtlCol="0" anchor="t"/>
          <a:lstStyle/>
          <a:p>
            <a:pPr marL="0" indent="0">
              <a:buNone/>
            </a:pPr>
            <a:r>
              <a:rPr lang="en-US" sz="1600" b="1" dirty="0">
                <a:solidFill>
                  <a:srgbClr val="36312D"/>
                </a:solidFill>
                <a:latin typeface="Arial" pitchFamily="34" charset="0"/>
                <a:ea typeface="Arial" pitchFamily="34" charset="-122"/>
                <a:cs typeface="Arial" pitchFamily="34" charset="-120"/>
              </a:rPr>
              <a:t>One-click route</a:t>
            </a:r>
            <a:endParaRPr lang="en-US" sz="1600" dirty="0"/>
          </a:p>
        </p:txBody>
      </p:sp>
      <p:sp>
        <p:nvSpPr>
          <p:cNvPr id="14" name="Text 9"/>
          <p:cNvSpPr txBox="1"/>
          <p:nvPr/>
        </p:nvSpPr>
        <p:spPr>
          <a:xfrm>
            <a:off x="1188720" y="3227832"/>
            <a:ext cx="3017520" cy="502920"/>
          </a:xfrm>
          <a:prstGeom prst="rect">
            <a:avLst/>
          </a:prstGeom>
          <a:noFill/>
          <a:ln/>
        </p:spPr>
        <p:txBody>
          <a:bodyPr wrap="square" lIns="0" tIns="0" rIns="0" bIns="0" rtlCol="0" anchor="t"/>
          <a:lstStyle/>
          <a:p>
            <a:pPr marL="0" indent="0">
              <a:buNone/>
            </a:pPr>
            <a:r>
              <a:rPr lang="en-US" sz="1400" dirty="0">
                <a:solidFill>
                  <a:srgbClr val="79736E"/>
                </a:solidFill>
                <a:latin typeface="Arial" pitchFamily="34" charset="0"/>
                <a:ea typeface="Arial" pitchFamily="34" charset="-122"/>
                <a:cs typeface="Arial" pitchFamily="34" charset="-120"/>
              </a:rPr>
              <a:t>Recommended bay with a path from the entry.</a:t>
            </a:r>
            <a:endParaRPr lang="en-US" sz="1400" dirty="0"/>
          </a:p>
        </p:txBody>
      </p:sp>
      <p:sp>
        <p:nvSpPr>
          <p:cNvPr id="15" name="Shape 10"/>
          <p:cNvSpPr/>
          <p:nvPr/>
        </p:nvSpPr>
        <p:spPr>
          <a:xfrm>
            <a:off x="457200" y="3840480"/>
            <a:ext cx="548640" cy="548640"/>
          </a:xfrm>
          <a:prstGeom prst="ellipse">
            <a:avLst/>
          </a:prstGeom>
          <a:solidFill>
            <a:srgbClr val="3A332E"/>
          </a:solidFill>
          <a:ln/>
        </p:spPr>
        <p:txBody>
          <a:bodyPr/>
          <a:lstStyle/>
          <a:p>
            <a:endParaRPr lang="en-IN"/>
          </a:p>
        </p:txBody>
      </p:sp>
      <p:pic>
        <p:nvPicPr>
          <p:cNvPr id="16" name="Image 3" descr="preencoded.png"/>
          <p:cNvPicPr>
            <a:picLocks noChangeAspect="1"/>
          </p:cNvPicPr>
          <p:nvPr/>
        </p:nvPicPr>
        <p:blipFill>
          <a:blip r:embed="rId6"/>
          <a:stretch>
            <a:fillRect/>
          </a:stretch>
        </p:blipFill>
        <p:spPr>
          <a:xfrm>
            <a:off x="594360" y="3977640"/>
            <a:ext cx="274320" cy="274320"/>
          </a:xfrm>
          <a:prstGeom prst="rect">
            <a:avLst/>
          </a:prstGeom>
        </p:spPr>
      </p:pic>
      <p:sp>
        <p:nvSpPr>
          <p:cNvPr id="17" name="Text 11"/>
          <p:cNvSpPr txBox="1"/>
          <p:nvPr/>
        </p:nvSpPr>
        <p:spPr>
          <a:xfrm>
            <a:off x="1188720" y="3794760"/>
            <a:ext cx="3017520" cy="274320"/>
          </a:xfrm>
          <a:prstGeom prst="rect">
            <a:avLst/>
          </a:prstGeom>
          <a:noFill/>
          <a:ln/>
        </p:spPr>
        <p:txBody>
          <a:bodyPr wrap="square" lIns="0" tIns="0" rIns="0" bIns="0" rtlCol="0" anchor="t"/>
          <a:lstStyle/>
          <a:p>
            <a:pPr marL="0" indent="0">
              <a:buNone/>
            </a:pPr>
            <a:r>
              <a:rPr lang="en-US" sz="1600" b="1" dirty="0">
                <a:solidFill>
                  <a:srgbClr val="36312D"/>
                </a:solidFill>
                <a:latin typeface="Arial" pitchFamily="34" charset="0"/>
                <a:ea typeface="Arial" pitchFamily="34" charset="-122"/>
                <a:cs typeface="Arial" pitchFamily="34" charset="-120"/>
              </a:rPr>
              <a:t>Admin view</a:t>
            </a:r>
            <a:endParaRPr lang="en-US" sz="1600" dirty="0"/>
          </a:p>
        </p:txBody>
      </p:sp>
      <p:sp>
        <p:nvSpPr>
          <p:cNvPr id="18" name="Text 12"/>
          <p:cNvSpPr txBox="1"/>
          <p:nvPr/>
        </p:nvSpPr>
        <p:spPr>
          <a:xfrm>
            <a:off x="1188720" y="4096512"/>
            <a:ext cx="3017520" cy="502920"/>
          </a:xfrm>
          <a:prstGeom prst="rect">
            <a:avLst/>
          </a:prstGeom>
          <a:noFill/>
          <a:ln/>
        </p:spPr>
        <p:txBody>
          <a:bodyPr wrap="square" lIns="0" tIns="0" rIns="0" bIns="0" rtlCol="0" anchor="t"/>
          <a:lstStyle/>
          <a:p>
            <a:pPr marL="0" indent="0">
              <a:buNone/>
            </a:pPr>
            <a:r>
              <a:rPr lang="en-US" sz="1400" dirty="0">
                <a:solidFill>
                  <a:srgbClr val="79736E"/>
                </a:solidFill>
                <a:latin typeface="Arial" pitchFamily="34" charset="0"/>
                <a:ea typeface="Arial" pitchFamily="34" charset="-122"/>
                <a:cs typeface="Arial" pitchFamily="34" charset="-120"/>
              </a:rPr>
              <a:t>Occupancy trends, peak hours and alerts.</a:t>
            </a:r>
            <a:endParaRPr lang="en-US" sz="1400" dirty="0"/>
          </a:p>
        </p:txBody>
      </p:sp>
      <p:sp>
        <p:nvSpPr>
          <p:cNvPr id="19" name="Shape 13"/>
          <p:cNvSpPr/>
          <p:nvPr/>
        </p:nvSpPr>
        <p:spPr>
          <a:xfrm>
            <a:off x="4480560" y="1188720"/>
            <a:ext cx="4206240" cy="3429000"/>
          </a:xfrm>
          <a:prstGeom prst="roundRect">
            <a:avLst>
              <a:gd name="adj" fmla="val 2133"/>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20" name="Shape 14"/>
          <p:cNvSpPr/>
          <p:nvPr/>
        </p:nvSpPr>
        <p:spPr>
          <a:xfrm>
            <a:off x="4480560" y="1188720"/>
            <a:ext cx="4206240" cy="329184"/>
          </a:xfrm>
          <a:prstGeom prst="roundRect">
            <a:avLst>
              <a:gd name="adj" fmla="val 22222"/>
            </a:avLst>
          </a:prstGeom>
          <a:solidFill>
            <a:srgbClr val="F4F2F0"/>
          </a:solidFill>
          <a:ln/>
        </p:spPr>
        <p:txBody>
          <a:bodyPr/>
          <a:lstStyle/>
          <a:p>
            <a:endParaRPr lang="en-IN"/>
          </a:p>
        </p:txBody>
      </p:sp>
      <p:sp>
        <p:nvSpPr>
          <p:cNvPr id="21" name="Shape 15"/>
          <p:cNvSpPr/>
          <p:nvPr/>
        </p:nvSpPr>
        <p:spPr>
          <a:xfrm>
            <a:off x="4617720" y="1307592"/>
            <a:ext cx="91440" cy="91440"/>
          </a:xfrm>
          <a:prstGeom prst="ellipse">
            <a:avLst/>
          </a:prstGeom>
          <a:solidFill>
            <a:srgbClr val="E5484D"/>
          </a:solidFill>
          <a:ln/>
        </p:spPr>
        <p:txBody>
          <a:bodyPr/>
          <a:lstStyle/>
          <a:p>
            <a:endParaRPr lang="en-IN"/>
          </a:p>
        </p:txBody>
      </p:sp>
      <p:sp>
        <p:nvSpPr>
          <p:cNvPr id="22" name="Shape 16"/>
          <p:cNvSpPr/>
          <p:nvPr/>
        </p:nvSpPr>
        <p:spPr>
          <a:xfrm>
            <a:off x="4764024" y="1307592"/>
            <a:ext cx="91440" cy="91440"/>
          </a:xfrm>
          <a:prstGeom prst="ellipse">
            <a:avLst/>
          </a:prstGeom>
          <a:solidFill>
            <a:srgbClr val="F5A524"/>
          </a:solidFill>
          <a:ln/>
        </p:spPr>
        <p:txBody>
          <a:bodyPr/>
          <a:lstStyle/>
          <a:p>
            <a:endParaRPr lang="en-IN"/>
          </a:p>
        </p:txBody>
      </p:sp>
      <p:sp>
        <p:nvSpPr>
          <p:cNvPr id="23" name="Shape 17"/>
          <p:cNvSpPr/>
          <p:nvPr/>
        </p:nvSpPr>
        <p:spPr>
          <a:xfrm>
            <a:off x="4910328" y="1307592"/>
            <a:ext cx="91440" cy="91440"/>
          </a:xfrm>
          <a:prstGeom prst="ellipse">
            <a:avLst/>
          </a:prstGeom>
          <a:solidFill>
            <a:srgbClr val="1FBF75"/>
          </a:solidFill>
          <a:ln/>
        </p:spPr>
        <p:txBody>
          <a:bodyPr/>
          <a:lstStyle/>
          <a:p>
            <a:endParaRPr lang="en-IN"/>
          </a:p>
        </p:txBody>
      </p:sp>
      <p:sp>
        <p:nvSpPr>
          <p:cNvPr id="24" name="Text 18"/>
          <p:cNvSpPr txBox="1"/>
          <p:nvPr/>
        </p:nvSpPr>
        <p:spPr>
          <a:xfrm>
            <a:off x="5257800" y="1243584"/>
            <a:ext cx="3200400" cy="219456"/>
          </a:xfrm>
          <a:prstGeom prst="rect">
            <a:avLst/>
          </a:prstGeom>
          <a:noFill/>
          <a:ln/>
        </p:spPr>
        <p:txBody>
          <a:bodyPr wrap="square" lIns="0" tIns="0" rIns="0" bIns="0" rtlCol="0" anchor="ctr"/>
          <a:lstStyle/>
          <a:p>
            <a:pPr marL="0" indent="0">
              <a:buNone/>
            </a:pPr>
            <a:r>
              <a:rPr lang="en-US" sz="1100" dirty="0">
                <a:solidFill>
                  <a:srgbClr val="79736E"/>
                </a:solidFill>
                <a:latin typeface="Arial" pitchFamily="34" charset="0"/>
                <a:ea typeface="Arial" pitchFamily="34" charset="-122"/>
                <a:cs typeface="Arial" pitchFamily="34" charset="-120"/>
              </a:rPr>
              <a:t>ParkSense  ·  Zone A  ·  live</a:t>
            </a:r>
            <a:endParaRPr lang="en-US" sz="1100" dirty="0"/>
          </a:p>
        </p:txBody>
      </p:sp>
      <p:sp>
        <p:nvSpPr>
          <p:cNvPr id="25" name="Shape 19"/>
          <p:cNvSpPr/>
          <p:nvPr/>
        </p:nvSpPr>
        <p:spPr>
          <a:xfrm>
            <a:off x="4663440" y="1691640"/>
            <a:ext cx="1188720" cy="685800"/>
          </a:xfrm>
          <a:prstGeom prst="roundRect">
            <a:avLst>
              <a:gd name="adj" fmla="val 8000"/>
            </a:avLst>
          </a:prstGeom>
          <a:solidFill>
            <a:srgbClr val="F9F8F7"/>
          </a:solidFill>
          <a:ln/>
        </p:spPr>
        <p:txBody>
          <a:bodyPr/>
          <a:lstStyle/>
          <a:p>
            <a:endParaRPr lang="en-IN"/>
          </a:p>
        </p:txBody>
      </p:sp>
      <p:sp>
        <p:nvSpPr>
          <p:cNvPr id="26" name="Text 20"/>
          <p:cNvSpPr txBox="1"/>
          <p:nvPr/>
        </p:nvSpPr>
        <p:spPr>
          <a:xfrm>
            <a:off x="4663440" y="1719072"/>
            <a:ext cx="1188720" cy="384048"/>
          </a:xfrm>
          <a:prstGeom prst="rect">
            <a:avLst/>
          </a:prstGeom>
          <a:noFill/>
          <a:ln/>
        </p:spPr>
        <p:txBody>
          <a:bodyPr wrap="square" lIns="0" tIns="0" rIns="0" bIns="0" rtlCol="0" anchor="t"/>
          <a:lstStyle/>
          <a:p>
            <a:pPr marL="0" indent="0" algn="ctr">
              <a:buNone/>
            </a:pPr>
            <a:r>
              <a:rPr lang="en-US" sz="2400" b="1" dirty="0">
                <a:solidFill>
                  <a:srgbClr val="36312D"/>
                </a:solidFill>
                <a:latin typeface="Cambria" pitchFamily="34" charset="0"/>
                <a:ea typeface="Cambria" pitchFamily="34" charset="-122"/>
                <a:cs typeface="Cambria" pitchFamily="34" charset="-120"/>
              </a:rPr>
              <a:t>24</a:t>
            </a:r>
            <a:endParaRPr lang="en-US" sz="2400" dirty="0"/>
          </a:p>
        </p:txBody>
      </p:sp>
      <p:sp>
        <p:nvSpPr>
          <p:cNvPr id="27" name="Text 21"/>
          <p:cNvSpPr txBox="1"/>
          <p:nvPr/>
        </p:nvSpPr>
        <p:spPr>
          <a:xfrm>
            <a:off x="4663440" y="2112264"/>
            <a:ext cx="1188720" cy="201168"/>
          </a:xfrm>
          <a:prstGeom prst="rect">
            <a:avLst/>
          </a:prstGeom>
          <a:noFill/>
          <a:ln/>
        </p:spPr>
        <p:txBody>
          <a:bodyPr wrap="square" lIns="0" tIns="0" rIns="0" bIns="0" rtlCol="0" anchor="t"/>
          <a:lstStyle/>
          <a:p>
            <a:pPr marL="0" indent="0" algn="ctr">
              <a:buNone/>
            </a:pPr>
            <a:r>
              <a:rPr lang="en-US" sz="1100" dirty="0">
                <a:solidFill>
                  <a:srgbClr val="79736E"/>
                </a:solidFill>
                <a:latin typeface="Arial" pitchFamily="34" charset="0"/>
                <a:ea typeface="Arial" pitchFamily="34" charset="-122"/>
                <a:cs typeface="Arial" pitchFamily="34" charset="-120"/>
              </a:rPr>
              <a:t>Total</a:t>
            </a:r>
            <a:endParaRPr lang="en-US" sz="1100" dirty="0"/>
          </a:p>
        </p:txBody>
      </p:sp>
      <p:sp>
        <p:nvSpPr>
          <p:cNvPr id="28" name="Shape 22"/>
          <p:cNvSpPr/>
          <p:nvPr/>
        </p:nvSpPr>
        <p:spPr>
          <a:xfrm>
            <a:off x="5943600" y="1691640"/>
            <a:ext cx="1188720" cy="685800"/>
          </a:xfrm>
          <a:prstGeom prst="roundRect">
            <a:avLst>
              <a:gd name="adj" fmla="val 8000"/>
            </a:avLst>
          </a:prstGeom>
          <a:solidFill>
            <a:srgbClr val="F9F8F7"/>
          </a:solidFill>
          <a:ln/>
        </p:spPr>
        <p:txBody>
          <a:bodyPr/>
          <a:lstStyle/>
          <a:p>
            <a:endParaRPr lang="en-IN"/>
          </a:p>
        </p:txBody>
      </p:sp>
      <p:sp>
        <p:nvSpPr>
          <p:cNvPr id="29" name="Text 23"/>
          <p:cNvSpPr txBox="1"/>
          <p:nvPr/>
        </p:nvSpPr>
        <p:spPr>
          <a:xfrm>
            <a:off x="5943600" y="1719072"/>
            <a:ext cx="1188720" cy="384048"/>
          </a:xfrm>
          <a:prstGeom prst="rect">
            <a:avLst/>
          </a:prstGeom>
          <a:noFill/>
          <a:ln/>
        </p:spPr>
        <p:txBody>
          <a:bodyPr wrap="square" lIns="0" tIns="0" rIns="0" bIns="0" rtlCol="0" anchor="t"/>
          <a:lstStyle/>
          <a:p>
            <a:pPr marL="0" indent="0" algn="ctr">
              <a:buNone/>
            </a:pPr>
            <a:r>
              <a:rPr lang="en-US" sz="2400" b="1" dirty="0">
                <a:solidFill>
                  <a:srgbClr val="138A52"/>
                </a:solidFill>
                <a:latin typeface="Cambria" pitchFamily="34" charset="0"/>
                <a:ea typeface="Cambria" pitchFamily="34" charset="-122"/>
                <a:cs typeface="Cambria" pitchFamily="34" charset="-120"/>
              </a:rPr>
              <a:t>7</a:t>
            </a:r>
            <a:endParaRPr lang="en-US" sz="2400" dirty="0"/>
          </a:p>
        </p:txBody>
      </p:sp>
      <p:sp>
        <p:nvSpPr>
          <p:cNvPr id="30" name="Text 24"/>
          <p:cNvSpPr txBox="1"/>
          <p:nvPr/>
        </p:nvSpPr>
        <p:spPr>
          <a:xfrm>
            <a:off x="5943600" y="2112264"/>
            <a:ext cx="1188720" cy="201168"/>
          </a:xfrm>
          <a:prstGeom prst="rect">
            <a:avLst/>
          </a:prstGeom>
          <a:noFill/>
          <a:ln/>
        </p:spPr>
        <p:txBody>
          <a:bodyPr wrap="square" lIns="0" tIns="0" rIns="0" bIns="0" rtlCol="0" anchor="t"/>
          <a:lstStyle/>
          <a:p>
            <a:pPr marL="0" indent="0" algn="ctr">
              <a:buNone/>
            </a:pPr>
            <a:r>
              <a:rPr lang="en-US" sz="1100" dirty="0">
                <a:solidFill>
                  <a:srgbClr val="79736E"/>
                </a:solidFill>
                <a:latin typeface="Arial" pitchFamily="34" charset="0"/>
                <a:ea typeface="Arial" pitchFamily="34" charset="-122"/>
                <a:cs typeface="Arial" pitchFamily="34" charset="-120"/>
              </a:rPr>
              <a:t>Free</a:t>
            </a:r>
            <a:endParaRPr lang="en-US" sz="1100" dirty="0"/>
          </a:p>
        </p:txBody>
      </p:sp>
      <p:sp>
        <p:nvSpPr>
          <p:cNvPr id="31" name="Shape 25"/>
          <p:cNvSpPr/>
          <p:nvPr/>
        </p:nvSpPr>
        <p:spPr>
          <a:xfrm>
            <a:off x="7223760" y="1691640"/>
            <a:ext cx="1188720" cy="685800"/>
          </a:xfrm>
          <a:prstGeom prst="roundRect">
            <a:avLst>
              <a:gd name="adj" fmla="val 8000"/>
            </a:avLst>
          </a:prstGeom>
          <a:solidFill>
            <a:srgbClr val="F9F8F7"/>
          </a:solidFill>
          <a:ln/>
        </p:spPr>
        <p:txBody>
          <a:bodyPr/>
          <a:lstStyle/>
          <a:p>
            <a:endParaRPr lang="en-IN"/>
          </a:p>
        </p:txBody>
      </p:sp>
      <p:sp>
        <p:nvSpPr>
          <p:cNvPr id="32" name="Text 26"/>
          <p:cNvSpPr txBox="1"/>
          <p:nvPr/>
        </p:nvSpPr>
        <p:spPr>
          <a:xfrm>
            <a:off x="7223760" y="1719072"/>
            <a:ext cx="1188720" cy="384048"/>
          </a:xfrm>
          <a:prstGeom prst="rect">
            <a:avLst/>
          </a:prstGeom>
          <a:noFill/>
          <a:ln/>
        </p:spPr>
        <p:txBody>
          <a:bodyPr wrap="square" lIns="0" tIns="0" rIns="0" bIns="0" rtlCol="0" anchor="t"/>
          <a:lstStyle/>
          <a:p>
            <a:pPr marL="0" indent="0" algn="ctr">
              <a:buNone/>
            </a:pPr>
            <a:r>
              <a:rPr lang="en-US" sz="2400" b="1" dirty="0">
                <a:solidFill>
                  <a:srgbClr val="C93A3F"/>
                </a:solidFill>
                <a:latin typeface="Cambria" pitchFamily="34" charset="0"/>
                <a:ea typeface="Cambria" pitchFamily="34" charset="-122"/>
                <a:cs typeface="Cambria" pitchFamily="34" charset="-120"/>
              </a:rPr>
              <a:t>17</a:t>
            </a:r>
            <a:endParaRPr lang="en-US" sz="2400" dirty="0"/>
          </a:p>
        </p:txBody>
      </p:sp>
      <p:sp>
        <p:nvSpPr>
          <p:cNvPr id="33" name="Text 27"/>
          <p:cNvSpPr txBox="1"/>
          <p:nvPr/>
        </p:nvSpPr>
        <p:spPr>
          <a:xfrm>
            <a:off x="7223760" y="2112264"/>
            <a:ext cx="1188720" cy="201168"/>
          </a:xfrm>
          <a:prstGeom prst="rect">
            <a:avLst/>
          </a:prstGeom>
          <a:noFill/>
          <a:ln/>
        </p:spPr>
        <p:txBody>
          <a:bodyPr wrap="square" lIns="0" tIns="0" rIns="0" bIns="0" rtlCol="0" anchor="t"/>
          <a:lstStyle/>
          <a:p>
            <a:pPr marL="0" indent="0" algn="ctr">
              <a:buNone/>
            </a:pPr>
            <a:r>
              <a:rPr lang="en-US" sz="1100" dirty="0">
                <a:solidFill>
                  <a:srgbClr val="79736E"/>
                </a:solidFill>
                <a:latin typeface="Arial" pitchFamily="34" charset="0"/>
                <a:ea typeface="Arial" pitchFamily="34" charset="-122"/>
                <a:cs typeface="Arial" pitchFamily="34" charset="-120"/>
              </a:rPr>
              <a:t>Occupied</a:t>
            </a:r>
            <a:endParaRPr lang="en-US" sz="1100" dirty="0"/>
          </a:p>
        </p:txBody>
      </p:sp>
      <p:sp>
        <p:nvSpPr>
          <p:cNvPr id="34" name="Shape 28"/>
          <p:cNvSpPr/>
          <p:nvPr/>
        </p:nvSpPr>
        <p:spPr>
          <a:xfrm>
            <a:off x="4681728" y="2560320"/>
            <a:ext cx="365760" cy="347472"/>
          </a:xfrm>
          <a:prstGeom prst="roundRect">
            <a:avLst>
              <a:gd name="adj" fmla="val 13158"/>
            </a:avLst>
          </a:prstGeom>
          <a:solidFill>
            <a:srgbClr val="E5484D"/>
          </a:solidFill>
          <a:ln/>
        </p:spPr>
        <p:txBody>
          <a:bodyPr/>
          <a:lstStyle/>
          <a:p>
            <a:endParaRPr lang="en-IN"/>
          </a:p>
        </p:txBody>
      </p:sp>
      <p:sp>
        <p:nvSpPr>
          <p:cNvPr id="35" name="Shape 29"/>
          <p:cNvSpPr/>
          <p:nvPr/>
        </p:nvSpPr>
        <p:spPr>
          <a:xfrm>
            <a:off x="5138928" y="2560320"/>
            <a:ext cx="365760" cy="347472"/>
          </a:xfrm>
          <a:prstGeom prst="roundRect">
            <a:avLst>
              <a:gd name="adj" fmla="val 13158"/>
            </a:avLst>
          </a:prstGeom>
          <a:solidFill>
            <a:srgbClr val="1FBF75"/>
          </a:solidFill>
          <a:ln/>
        </p:spPr>
        <p:txBody>
          <a:bodyPr/>
          <a:lstStyle/>
          <a:p>
            <a:endParaRPr lang="en-IN"/>
          </a:p>
        </p:txBody>
      </p:sp>
      <p:sp>
        <p:nvSpPr>
          <p:cNvPr id="36" name="Shape 30"/>
          <p:cNvSpPr/>
          <p:nvPr/>
        </p:nvSpPr>
        <p:spPr>
          <a:xfrm>
            <a:off x="5596128" y="2560320"/>
            <a:ext cx="365760" cy="347472"/>
          </a:xfrm>
          <a:prstGeom prst="roundRect">
            <a:avLst>
              <a:gd name="adj" fmla="val 13158"/>
            </a:avLst>
          </a:prstGeom>
          <a:solidFill>
            <a:srgbClr val="E5484D"/>
          </a:solidFill>
          <a:ln/>
        </p:spPr>
        <p:txBody>
          <a:bodyPr/>
          <a:lstStyle/>
          <a:p>
            <a:endParaRPr lang="en-IN"/>
          </a:p>
        </p:txBody>
      </p:sp>
      <p:sp>
        <p:nvSpPr>
          <p:cNvPr id="37" name="Shape 31"/>
          <p:cNvSpPr/>
          <p:nvPr/>
        </p:nvSpPr>
        <p:spPr>
          <a:xfrm>
            <a:off x="6053328" y="2560320"/>
            <a:ext cx="365760" cy="347472"/>
          </a:xfrm>
          <a:prstGeom prst="roundRect">
            <a:avLst>
              <a:gd name="adj" fmla="val 13158"/>
            </a:avLst>
          </a:prstGeom>
          <a:solidFill>
            <a:srgbClr val="E5484D"/>
          </a:solidFill>
          <a:ln/>
        </p:spPr>
        <p:txBody>
          <a:bodyPr/>
          <a:lstStyle/>
          <a:p>
            <a:endParaRPr lang="en-IN"/>
          </a:p>
        </p:txBody>
      </p:sp>
      <p:sp>
        <p:nvSpPr>
          <p:cNvPr id="38" name="Shape 32"/>
          <p:cNvSpPr/>
          <p:nvPr/>
        </p:nvSpPr>
        <p:spPr>
          <a:xfrm>
            <a:off x="6510528" y="2560320"/>
            <a:ext cx="365760" cy="347472"/>
          </a:xfrm>
          <a:prstGeom prst="roundRect">
            <a:avLst>
              <a:gd name="adj" fmla="val 13158"/>
            </a:avLst>
          </a:prstGeom>
          <a:solidFill>
            <a:srgbClr val="E5484D"/>
          </a:solidFill>
          <a:ln/>
        </p:spPr>
        <p:txBody>
          <a:bodyPr/>
          <a:lstStyle/>
          <a:p>
            <a:endParaRPr lang="en-IN"/>
          </a:p>
        </p:txBody>
      </p:sp>
      <p:sp>
        <p:nvSpPr>
          <p:cNvPr id="39" name="Shape 33"/>
          <p:cNvSpPr/>
          <p:nvPr/>
        </p:nvSpPr>
        <p:spPr>
          <a:xfrm>
            <a:off x="6967728" y="2560320"/>
            <a:ext cx="365760" cy="347472"/>
          </a:xfrm>
          <a:prstGeom prst="roundRect">
            <a:avLst>
              <a:gd name="adj" fmla="val 13158"/>
            </a:avLst>
          </a:prstGeom>
          <a:solidFill>
            <a:srgbClr val="E5484D"/>
          </a:solidFill>
          <a:ln/>
        </p:spPr>
        <p:txBody>
          <a:bodyPr/>
          <a:lstStyle/>
          <a:p>
            <a:endParaRPr lang="en-IN"/>
          </a:p>
        </p:txBody>
      </p:sp>
      <p:sp>
        <p:nvSpPr>
          <p:cNvPr id="40" name="Shape 34"/>
          <p:cNvSpPr/>
          <p:nvPr/>
        </p:nvSpPr>
        <p:spPr>
          <a:xfrm>
            <a:off x="7424928" y="2560320"/>
            <a:ext cx="365760" cy="347472"/>
          </a:xfrm>
          <a:prstGeom prst="roundRect">
            <a:avLst>
              <a:gd name="adj" fmla="val 13158"/>
            </a:avLst>
          </a:prstGeom>
          <a:solidFill>
            <a:srgbClr val="1FBF75"/>
          </a:solidFill>
          <a:ln w="31750">
            <a:solidFill>
              <a:srgbClr val="F5A524"/>
            </a:solidFill>
            <a:prstDash val="solid"/>
          </a:ln>
        </p:spPr>
        <p:txBody>
          <a:bodyPr/>
          <a:lstStyle/>
          <a:p>
            <a:endParaRPr lang="en-IN"/>
          </a:p>
        </p:txBody>
      </p:sp>
      <p:sp>
        <p:nvSpPr>
          <p:cNvPr id="41" name="Shape 35"/>
          <p:cNvSpPr/>
          <p:nvPr/>
        </p:nvSpPr>
        <p:spPr>
          <a:xfrm>
            <a:off x="7882128" y="2560320"/>
            <a:ext cx="365760" cy="347472"/>
          </a:xfrm>
          <a:prstGeom prst="roundRect">
            <a:avLst>
              <a:gd name="adj" fmla="val 13158"/>
            </a:avLst>
          </a:prstGeom>
          <a:solidFill>
            <a:srgbClr val="E5484D"/>
          </a:solidFill>
          <a:ln/>
        </p:spPr>
        <p:txBody>
          <a:bodyPr/>
          <a:lstStyle/>
          <a:p>
            <a:endParaRPr lang="en-IN"/>
          </a:p>
        </p:txBody>
      </p:sp>
      <p:sp>
        <p:nvSpPr>
          <p:cNvPr id="42" name="Shape 36"/>
          <p:cNvSpPr/>
          <p:nvPr/>
        </p:nvSpPr>
        <p:spPr>
          <a:xfrm>
            <a:off x="4681728" y="2999232"/>
            <a:ext cx="365760" cy="347472"/>
          </a:xfrm>
          <a:prstGeom prst="roundRect">
            <a:avLst>
              <a:gd name="adj" fmla="val 13158"/>
            </a:avLst>
          </a:prstGeom>
          <a:solidFill>
            <a:srgbClr val="E5484D"/>
          </a:solidFill>
          <a:ln/>
        </p:spPr>
        <p:txBody>
          <a:bodyPr/>
          <a:lstStyle/>
          <a:p>
            <a:endParaRPr lang="en-IN"/>
          </a:p>
        </p:txBody>
      </p:sp>
      <p:sp>
        <p:nvSpPr>
          <p:cNvPr id="43" name="Shape 37"/>
          <p:cNvSpPr/>
          <p:nvPr/>
        </p:nvSpPr>
        <p:spPr>
          <a:xfrm>
            <a:off x="5138928" y="2999232"/>
            <a:ext cx="365760" cy="347472"/>
          </a:xfrm>
          <a:prstGeom prst="roundRect">
            <a:avLst>
              <a:gd name="adj" fmla="val 13158"/>
            </a:avLst>
          </a:prstGeom>
          <a:solidFill>
            <a:srgbClr val="1FBF75"/>
          </a:solidFill>
          <a:ln/>
        </p:spPr>
        <p:txBody>
          <a:bodyPr/>
          <a:lstStyle/>
          <a:p>
            <a:endParaRPr lang="en-IN"/>
          </a:p>
        </p:txBody>
      </p:sp>
      <p:sp>
        <p:nvSpPr>
          <p:cNvPr id="44" name="Shape 38"/>
          <p:cNvSpPr/>
          <p:nvPr/>
        </p:nvSpPr>
        <p:spPr>
          <a:xfrm>
            <a:off x="5596128" y="2999232"/>
            <a:ext cx="365760" cy="347472"/>
          </a:xfrm>
          <a:prstGeom prst="roundRect">
            <a:avLst>
              <a:gd name="adj" fmla="val 13158"/>
            </a:avLst>
          </a:prstGeom>
          <a:solidFill>
            <a:srgbClr val="E5484D"/>
          </a:solidFill>
          <a:ln/>
        </p:spPr>
        <p:txBody>
          <a:bodyPr/>
          <a:lstStyle/>
          <a:p>
            <a:endParaRPr lang="en-IN"/>
          </a:p>
        </p:txBody>
      </p:sp>
      <p:sp>
        <p:nvSpPr>
          <p:cNvPr id="45" name="Shape 39"/>
          <p:cNvSpPr/>
          <p:nvPr/>
        </p:nvSpPr>
        <p:spPr>
          <a:xfrm>
            <a:off x="6053328" y="2999232"/>
            <a:ext cx="365760" cy="347472"/>
          </a:xfrm>
          <a:prstGeom prst="roundRect">
            <a:avLst>
              <a:gd name="adj" fmla="val 13158"/>
            </a:avLst>
          </a:prstGeom>
          <a:solidFill>
            <a:srgbClr val="E5484D"/>
          </a:solidFill>
          <a:ln/>
        </p:spPr>
        <p:txBody>
          <a:bodyPr/>
          <a:lstStyle/>
          <a:p>
            <a:endParaRPr lang="en-IN"/>
          </a:p>
        </p:txBody>
      </p:sp>
      <p:sp>
        <p:nvSpPr>
          <p:cNvPr id="46" name="Shape 40"/>
          <p:cNvSpPr/>
          <p:nvPr/>
        </p:nvSpPr>
        <p:spPr>
          <a:xfrm>
            <a:off x="6510528" y="2999232"/>
            <a:ext cx="365760" cy="347472"/>
          </a:xfrm>
          <a:prstGeom prst="roundRect">
            <a:avLst>
              <a:gd name="adj" fmla="val 13158"/>
            </a:avLst>
          </a:prstGeom>
          <a:solidFill>
            <a:srgbClr val="E5484D"/>
          </a:solidFill>
          <a:ln/>
        </p:spPr>
        <p:txBody>
          <a:bodyPr/>
          <a:lstStyle/>
          <a:p>
            <a:endParaRPr lang="en-IN"/>
          </a:p>
        </p:txBody>
      </p:sp>
      <p:sp>
        <p:nvSpPr>
          <p:cNvPr id="47" name="Shape 41"/>
          <p:cNvSpPr/>
          <p:nvPr/>
        </p:nvSpPr>
        <p:spPr>
          <a:xfrm>
            <a:off x="6967728" y="2999232"/>
            <a:ext cx="365760" cy="347472"/>
          </a:xfrm>
          <a:prstGeom prst="roundRect">
            <a:avLst>
              <a:gd name="adj" fmla="val 13158"/>
            </a:avLst>
          </a:prstGeom>
          <a:solidFill>
            <a:srgbClr val="1FBF75"/>
          </a:solidFill>
          <a:ln/>
        </p:spPr>
        <p:txBody>
          <a:bodyPr/>
          <a:lstStyle/>
          <a:p>
            <a:endParaRPr lang="en-IN"/>
          </a:p>
        </p:txBody>
      </p:sp>
      <p:sp>
        <p:nvSpPr>
          <p:cNvPr id="48" name="Shape 42"/>
          <p:cNvSpPr/>
          <p:nvPr/>
        </p:nvSpPr>
        <p:spPr>
          <a:xfrm>
            <a:off x="7424928" y="2999232"/>
            <a:ext cx="365760" cy="347472"/>
          </a:xfrm>
          <a:prstGeom prst="roundRect">
            <a:avLst>
              <a:gd name="adj" fmla="val 13158"/>
            </a:avLst>
          </a:prstGeom>
          <a:solidFill>
            <a:srgbClr val="E5484D"/>
          </a:solidFill>
          <a:ln/>
        </p:spPr>
        <p:txBody>
          <a:bodyPr/>
          <a:lstStyle/>
          <a:p>
            <a:endParaRPr lang="en-IN"/>
          </a:p>
        </p:txBody>
      </p:sp>
      <p:sp>
        <p:nvSpPr>
          <p:cNvPr id="49" name="Shape 43"/>
          <p:cNvSpPr/>
          <p:nvPr/>
        </p:nvSpPr>
        <p:spPr>
          <a:xfrm>
            <a:off x="7882128" y="2999232"/>
            <a:ext cx="365760" cy="347472"/>
          </a:xfrm>
          <a:prstGeom prst="roundRect">
            <a:avLst>
              <a:gd name="adj" fmla="val 13158"/>
            </a:avLst>
          </a:prstGeom>
          <a:solidFill>
            <a:srgbClr val="E5484D"/>
          </a:solidFill>
          <a:ln/>
        </p:spPr>
        <p:txBody>
          <a:bodyPr/>
          <a:lstStyle/>
          <a:p>
            <a:endParaRPr lang="en-IN"/>
          </a:p>
        </p:txBody>
      </p:sp>
      <p:sp>
        <p:nvSpPr>
          <p:cNvPr id="50" name="Shape 44"/>
          <p:cNvSpPr/>
          <p:nvPr/>
        </p:nvSpPr>
        <p:spPr>
          <a:xfrm>
            <a:off x="4681728" y="3438144"/>
            <a:ext cx="365760" cy="347472"/>
          </a:xfrm>
          <a:prstGeom prst="roundRect">
            <a:avLst>
              <a:gd name="adj" fmla="val 13158"/>
            </a:avLst>
          </a:prstGeom>
          <a:solidFill>
            <a:srgbClr val="E5484D"/>
          </a:solidFill>
          <a:ln/>
        </p:spPr>
        <p:txBody>
          <a:bodyPr/>
          <a:lstStyle/>
          <a:p>
            <a:endParaRPr lang="en-IN"/>
          </a:p>
        </p:txBody>
      </p:sp>
      <p:sp>
        <p:nvSpPr>
          <p:cNvPr id="51" name="Shape 45"/>
          <p:cNvSpPr/>
          <p:nvPr/>
        </p:nvSpPr>
        <p:spPr>
          <a:xfrm>
            <a:off x="5138928" y="3438144"/>
            <a:ext cx="365760" cy="347472"/>
          </a:xfrm>
          <a:prstGeom prst="roundRect">
            <a:avLst>
              <a:gd name="adj" fmla="val 13158"/>
            </a:avLst>
          </a:prstGeom>
          <a:solidFill>
            <a:srgbClr val="1FBF75"/>
          </a:solidFill>
          <a:ln/>
        </p:spPr>
        <p:txBody>
          <a:bodyPr/>
          <a:lstStyle/>
          <a:p>
            <a:endParaRPr lang="en-IN"/>
          </a:p>
        </p:txBody>
      </p:sp>
      <p:sp>
        <p:nvSpPr>
          <p:cNvPr id="52" name="Shape 46"/>
          <p:cNvSpPr/>
          <p:nvPr/>
        </p:nvSpPr>
        <p:spPr>
          <a:xfrm>
            <a:off x="5596128" y="3438144"/>
            <a:ext cx="365760" cy="347472"/>
          </a:xfrm>
          <a:prstGeom prst="roundRect">
            <a:avLst>
              <a:gd name="adj" fmla="val 13158"/>
            </a:avLst>
          </a:prstGeom>
          <a:solidFill>
            <a:srgbClr val="E5484D"/>
          </a:solidFill>
          <a:ln/>
        </p:spPr>
        <p:txBody>
          <a:bodyPr/>
          <a:lstStyle/>
          <a:p>
            <a:endParaRPr lang="en-IN"/>
          </a:p>
        </p:txBody>
      </p:sp>
      <p:sp>
        <p:nvSpPr>
          <p:cNvPr id="53" name="Shape 47"/>
          <p:cNvSpPr/>
          <p:nvPr/>
        </p:nvSpPr>
        <p:spPr>
          <a:xfrm>
            <a:off x="6053328" y="3438144"/>
            <a:ext cx="365760" cy="347472"/>
          </a:xfrm>
          <a:prstGeom prst="roundRect">
            <a:avLst>
              <a:gd name="adj" fmla="val 13158"/>
            </a:avLst>
          </a:prstGeom>
          <a:solidFill>
            <a:srgbClr val="E5484D"/>
          </a:solidFill>
          <a:ln/>
        </p:spPr>
        <p:txBody>
          <a:bodyPr/>
          <a:lstStyle/>
          <a:p>
            <a:endParaRPr lang="en-IN"/>
          </a:p>
        </p:txBody>
      </p:sp>
      <p:sp>
        <p:nvSpPr>
          <p:cNvPr id="54" name="Shape 48"/>
          <p:cNvSpPr/>
          <p:nvPr/>
        </p:nvSpPr>
        <p:spPr>
          <a:xfrm>
            <a:off x="6510528" y="3438144"/>
            <a:ext cx="365760" cy="347472"/>
          </a:xfrm>
          <a:prstGeom prst="roundRect">
            <a:avLst>
              <a:gd name="adj" fmla="val 13158"/>
            </a:avLst>
          </a:prstGeom>
          <a:solidFill>
            <a:srgbClr val="1FBF75"/>
          </a:solidFill>
          <a:ln/>
        </p:spPr>
        <p:txBody>
          <a:bodyPr/>
          <a:lstStyle/>
          <a:p>
            <a:endParaRPr lang="en-IN"/>
          </a:p>
        </p:txBody>
      </p:sp>
      <p:sp>
        <p:nvSpPr>
          <p:cNvPr id="55" name="Shape 49"/>
          <p:cNvSpPr/>
          <p:nvPr/>
        </p:nvSpPr>
        <p:spPr>
          <a:xfrm>
            <a:off x="6967728" y="3438144"/>
            <a:ext cx="365760" cy="347472"/>
          </a:xfrm>
          <a:prstGeom prst="roundRect">
            <a:avLst>
              <a:gd name="adj" fmla="val 13158"/>
            </a:avLst>
          </a:prstGeom>
          <a:solidFill>
            <a:srgbClr val="E5484D"/>
          </a:solidFill>
          <a:ln/>
        </p:spPr>
        <p:txBody>
          <a:bodyPr/>
          <a:lstStyle/>
          <a:p>
            <a:endParaRPr lang="en-IN"/>
          </a:p>
        </p:txBody>
      </p:sp>
      <p:sp>
        <p:nvSpPr>
          <p:cNvPr id="56" name="Shape 50"/>
          <p:cNvSpPr/>
          <p:nvPr/>
        </p:nvSpPr>
        <p:spPr>
          <a:xfrm>
            <a:off x="7424928" y="3438144"/>
            <a:ext cx="365760" cy="347472"/>
          </a:xfrm>
          <a:prstGeom prst="roundRect">
            <a:avLst>
              <a:gd name="adj" fmla="val 13158"/>
            </a:avLst>
          </a:prstGeom>
          <a:solidFill>
            <a:srgbClr val="1FBF75"/>
          </a:solidFill>
          <a:ln/>
        </p:spPr>
        <p:txBody>
          <a:bodyPr/>
          <a:lstStyle/>
          <a:p>
            <a:endParaRPr lang="en-IN"/>
          </a:p>
        </p:txBody>
      </p:sp>
      <p:sp>
        <p:nvSpPr>
          <p:cNvPr id="57" name="Shape 51"/>
          <p:cNvSpPr/>
          <p:nvPr/>
        </p:nvSpPr>
        <p:spPr>
          <a:xfrm>
            <a:off x="7882128" y="3438144"/>
            <a:ext cx="365760" cy="347472"/>
          </a:xfrm>
          <a:prstGeom prst="roundRect">
            <a:avLst>
              <a:gd name="adj" fmla="val 13158"/>
            </a:avLst>
          </a:prstGeom>
          <a:solidFill>
            <a:srgbClr val="E5484D"/>
          </a:solidFill>
          <a:ln/>
        </p:spPr>
        <p:txBody>
          <a:bodyPr/>
          <a:lstStyle/>
          <a:p>
            <a:endParaRPr lang="en-IN"/>
          </a:p>
        </p:txBody>
      </p:sp>
      <p:sp>
        <p:nvSpPr>
          <p:cNvPr id="58" name="Shape 52"/>
          <p:cNvSpPr/>
          <p:nvPr/>
        </p:nvSpPr>
        <p:spPr>
          <a:xfrm>
            <a:off x="4663440" y="3931920"/>
            <a:ext cx="3840480" cy="502920"/>
          </a:xfrm>
          <a:prstGeom prst="roundRect">
            <a:avLst>
              <a:gd name="adj" fmla="val 14545"/>
            </a:avLst>
          </a:prstGeom>
          <a:solidFill>
            <a:srgbClr val="E3F7EC"/>
          </a:solidFill>
          <a:ln/>
        </p:spPr>
        <p:txBody>
          <a:bodyPr/>
          <a:lstStyle/>
          <a:p>
            <a:endParaRPr lang="en-IN"/>
          </a:p>
        </p:txBody>
      </p:sp>
      <p:sp>
        <p:nvSpPr>
          <p:cNvPr id="59" name="Text 53"/>
          <p:cNvSpPr txBox="1"/>
          <p:nvPr/>
        </p:nvSpPr>
        <p:spPr>
          <a:xfrm>
            <a:off x="4800600" y="3931920"/>
            <a:ext cx="2194560" cy="502920"/>
          </a:xfrm>
          <a:prstGeom prst="rect">
            <a:avLst/>
          </a:prstGeom>
          <a:noFill/>
          <a:ln/>
        </p:spPr>
        <p:txBody>
          <a:bodyPr wrap="square" lIns="0" tIns="0" rIns="0" bIns="0" rtlCol="0" anchor="ctr"/>
          <a:lstStyle/>
          <a:p>
            <a:pPr marL="0" indent="0">
              <a:buNone/>
            </a:pPr>
            <a:r>
              <a:rPr lang="en-US" sz="1300" b="1" dirty="0">
                <a:solidFill>
                  <a:srgbClr val="36312D"/>
                </a:solidFill>
                <a:latin typeface="Arial" pitchFamily="34" charset="0"/>
                <a:ea typeface="Arial" pitchFamily="34" charset="-122"/>
                <a:cs typeface="Arial" pitchFamily="34" charset="-120"/>
              </a:rPr>
              <a:t>Recommended: slot A-07</a:t>
            </a:r>
            <a:endParaRPr lang="en-US" sz="1300" dirty="0"/>
          </a:p>
        </p:txBody>
      </p:sp>
      <p:sp>
        <p:nvSpPr>
          <p:cNvPr id="60" name="Text 54"/>
          <p:cNvSpPr txBox="1"/>
          <p:nvPr/>
        </p:nvSpPr>
        <p:spPr>
          <a:xfrm>
            <a:off x="7360920" y="4023360"/>
            <a:ext cx="1051560" cy="320040"/>
          </a:xfrm>
          <a:prstGeom prst="roundRect">
            <a:avLst>
              <a:gd name="adj" fmla="val 22857"/>
            </a:avLst>
          </a:prstGeom>
          <a:solidFill>
            <a:srgbClr val="F5A524"/>
          </a:solidFill>
          <a:ln/>
        </p:spPr>
        <p:txBody>
          <a:bodyPr wrap="square" lIns="0" tIns="0" rIns="0" bIns="0" rtlCol="0" anchor="ctr"/>
          <a:lstStyle/>
          <a:p>
            <a:pPr marL="0" indent="0" algn="ctr">
              <a:buNone/>
            </a:pPr>
            <a:r>
              <a:rPr lang="en-US" sz="1200" b="1" dirty="0">
                <a:solidFill>
                  <a:srgbClr val="26211E"/>
                </a:solidFill>
                <a:latin typeface="Arial" pitchFamily="34" charset="0"/>
                <a:ea typeface="Arial" pitchFamily="34" charset="-122"/>
                <a:cs typeface="Arial" pitchFamily="34" charset="-120"/>
              </a:rPr>
              <a:t>Show route</a:t>
            </a:r>
            <a:endParaRPr lang="en-US" sz="1200" dirty="0"/>
          </a:p>
        </p:txBody>
      </p:sp>
      <p:sp>
        <p:nvSpPr>
          <p:cNvPr id="61" name="Text 55"/>
          <p:cNvSpPr txBox="1"/>
          <p:nvPr/>
        </p:nvSpPr>
        <p:spPr>
          <a:xfrm>
            <a:off x="457200" y="4846320"/>
            <a:ext cx="5486400" cy="201168"/>
          </a:xfrm>
          <a:prstGeom prst="rect">
            <a:avLst/>
          </a:prstGeom>
          <a:noFill/>
          <a:ln/>
        </p:spPr>
        <p:txBody>
          <a:bodyPr wrap="square" lIns="0" tIns="0" rIns="0" bIns="0" rtlCol="0" anchor="t"/>
          <a:lstStyle/>
          <a:p>
            <a:r>
              <a:rPr lang="en-US" sz="1000" dirty="0" err="1">
                <a:solidFill>
                  <a:srgbClr val="79736E"/>
                </a:solidFill>
                <a:latin typeface="Arial" pitchFamily="34" charset="0"/>
                <a:ea typeface="Arial" pitchFamily="34" charset="-122"/>
                <a:cs typeface="Arial" pitchFamily="34" charset="-120"/>
              </a:rPr>
              <a:t>ParkSense</a:t>
            </a:r>
            <a:r>
              <a:rPr lang="en-US" sz="1000" dirty="0">
                <a:solidFill>
                  <a:srgbClr val="79736E"/>
                </a:solidFill>
                <a:latin typeface="Arial" pitchFamily="34" charset="0"/>
                <a:ea typeface="Arial" pitchFamily="34" charset="-122"/>
                <a:cs typeface="Arial" pitchFamily="34" charset="-120"/>
              </a:rPr>
              <a:t>   ·  Final Review</a:t>
            </a:r>
            <a:endParaRPr lang="en-US" sz="1000" dirty="0"/>
          </a:p>
        </p:txBody>
      </p:sp>
      <p:sp>
        <p:nvSpPr>
          <p:cNvPr id="62" name="Text 56"/>
          <p:cNvSpPr txBox="1"/>
          <p:nvPr/>
        </p:nvSpPr>
        <p:spPr>
          <a:xfrm>
            <a:off x="8229600" y="4846320"/>
            <a:ext cx="457200" cy="201168"/>
          </a:xfrm>
          <a:prstGeom prst="rect">
            <a:avLst/>
          </a:prstGeom>
          <a:noFill/>
          <a:ln/>
        </p:spPr>
        <p:txBody>
          <a:bodyPr wrap="square" lIns="0" tIns="0" rIns="0" bIns="0" rtlCol="0" anchor="t"/>
          <a:lstStyle/>
          <a:p>
            <a:pPr marL="0" indent="0" algn="r">
              <a:buNone/>
            </a:pPr>
            <a:r>
              <a:rPr lang="en-US" sz="1000" dirty="0">
                <a:solidFill>
                  <a:srgbClr val="79736E"/>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9F8F7"/>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ctr"/>
          <a:lstStyle/>
          <a:p>
            <a:pPr marL="0" indent="0">
              <a:buNone/>
            </a:pPr>
            <a:r>
              <a:rPr lang="en-US" sz="3400" b="1" dirty="0">
                <a:solidFill>
                  <a:srgbClr val="36312D"/>
                </a:solidFill>
                <a:latin typeface="Cambria" pitchFamily="34" charset="0"/>
                <a:ea typeface="Cambria" pitchFamily="34" charset="-122"/>
                <a:cs typeface="Cambria" pitchFamily="34" charset="-120"/>
              </a:rPr>
              <a:t>Technology stack</a:t>
            </a:r>
            <a:endParaRPr lang="en-US" sz="3400" dirty="0"/>
          </a:p>
        </p:txBody>
      </p:sp>
      <p:sp>
        <p:nvSpPr>
          <p:cNvPr id="3" name="Shape 1"/>
          <p:cNvSpPr/>
          <p:nvPr/>
        </p:nvSpPr>
        <p:spPr>
          <a:xfrm>
            <a:off x="457200" y="1188720"/>
            <a:ext cx="2286000" cy="749808"/>
          </a:xfrm>
          <a:prstGeom prst="roundRect">
            <a:avLst>
              <a:gd name="adj" fmla="val 9756"/>
            </a:avLst>
          </a:prstGeom>
          <a:solidFill>
            <a:srgbClr val="3A332E"/>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640080" y="1408176"/>
            <a:ext cx="310896" cy="310896"/>
          </a:xfrm>
          <a:prstGeom prst="rect">
            <a:avLst/>
          </a:prstGeom>
        </p:spPr>
      </p:pic>
      <p:sp>
        <p:nvSpPr>
          <p:cNvPr id="5" name="Text 2"/>
          <p:cNvSpPr txBox="1"/>
          <p:nvPr/>
        </p:nvSpPr>
        <p:spPr>
          <a:xfrm>
            <a:off x="1097280" y="1188720"/>
            <a:ext cx="1600200" cy="749808"/>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Vision and AI</a:t>
            </a:r>
            <a:endParaRPr lang="en-US" sz="1500" dirty="0"/>
          </a:p>
        </p:txBody>
      </p:sp>
      <p:sp>
        <p:nvSpPr>
          <p:cNvPr id="6" name="Shape 3"/>
          <p:cNvSpPr/>
          <p:nvPr/>
        </p:nvSpPr>
        <p:spPr>
          <a:xfrm>
            <a:off x="2834640" y="1188720"/>
            <a:ext cx="5852160" cy="749808"/>
          </a:xfrm>
          <a:prstGeom prst="roundRect">
            <a:avLst>
              <a:gd name="adj" fmla="val 9756"/>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7" name="Text 4"/>
          <p:cNvSpPr txBox="1"/>
          <p:nvPr/>
        </p:nvSpPr>
        <p:spPr>
          <a:xfrm>
            <a:off x="3017520" y="1371600"/>
            <a:ext cx="841248" cy="384048"/>
          </a:xfrm>
          <a:prstGeom prst="roundRect">
            <a:avLst>
              <a:gd name="adj" fmla="val 19048"/>
            </a:avLst>
          </a:prstGeom>
          <a:solidFill>
            <a:srgbClr val="F4F2F0"/>
          </a:solidFill>
          <a:ln/>
        </p:spPr>
        <p:txBody>
          <a:bodyPr wrap="square" lIns="0" tIns="0" rIns="0" bIns="0" rtlCol="0" anchor="ctr"/>
          <a:lstStyle/>
          <a:p>
            <a:pPr marL="0" indent="0" algn="ctr">
              <a:buNone/>
            </a:pPr>
            <a:r>
              <a:rPr lang="en-US" sz="1300" dirty="0">
                <a:solidFill>
                  <a:srgbClr val="36312D"/>
                </a:solidFill>
                <a:latin typeface="Arial" pitchFamily="34" charset="0"/>
                <a:ea typeface="Arial" pitchFamily="34" charset="-122"/>
                <a:cs typeface="Arial" pitchFamily="34" charset="-120"/>
              </a:rPr>
              <a:t>Python</a:t>
            </a:r>
            <a:endParaRPr lang="en-US" sz="1300" dirty="0"/>
          </a:p>
        </p:txBody>
      </p:sp>
      <p:sp>
        <p:nvSpPr>
          <p:cNvPr id="8" name="Text 5"/>
          <p:cNvSpPr txBox="1"/>
          <p:nvPr/>
        </p:nvSpPr>
        <p:spPr>
          <a:xfrm>
            <a:off x="3968496" y="1371600"/>
            <a:ext cx="841248" cy="384048"/>
          </a:xfrm>
          <a:prstGeom prst="roundRect">
            <a:avLst>
              <a:gd name="adj" fmla="val 19048"/>
            </a:avLst>
          </a:prstGeom>
          <a:solidFill>
            <a:srgbClr val="F4F2F0"/>
          </a:solidFill>
          <a:ln/>
        </p:spPr>
        <p:txBody>
          <a:bodyPr wrap="square" lIns="0" tIns="0" rIns="0" bIns="0" rtlCol="0" anchor="ctr"/>
          <a:lstStyle/>
          <a:p>
            <a:pPr marL="0" indent="0" algn="ctr">
              <a:buNone/>
            </a:pPr>
            <a:r>
              <a:rPr lang="en-US" sz="1300" dirty="0">
                <a:solidFill>
                  <a:srgbClr val="36312D"/>
                </a:solidFill>
                <a:latin typeface="Arial" pitchFamily="34" charset="0"/>
                <a:ea typeface="Arial" pitchFamily="34" charset="-122"/>
                <a:cs typeface="Arial" pitchFamily="34" charset="-120"/>
              </a:rPr>
              <a:t>OpenCV</a:t>
            </a:r>
            <a:endParaRPr lang="en-US" sz="1300" dirty="0"/>
          </a:p>
        </p:txBody>
      </p:sp>
      <p:sp>
        <p:nvSpPr>
          <p:cNvPr id="9" name="Text 6"/>
          <p:cNvSpPr txBox="1"/>
          <p:nvPr/>
        </p:nvSpPr>
        <p:spPr>
          <a:xfrm>
            <a:off x="4919472" y="1371600"/>
            <a:ext cx="2057400" cy="384048"/>
          </a:xfrm>
          <a:prstGeom prst="roundRect">
            <a:avLst>
              <a:gd name="adj" fmla="val 19048"/>
            </a:avLst>
          </a:prstGeom>
          <a:solidFill>
            <a:srgbClr val="F4F2F0"/>
          </a:solidFill>
          <a:ln/>
        </p:spPr>
        <p:txBody>
          <a:bodyPr wrap="square" lIns="0" tIns="0" rIns="0" bIns="0" rtlCol="0" anchor="ctr"/>
          <a:lstStyle/>
          <a:p>
            <a:pPr marL="0" indent="0" algn="ctr">
              <a:buNone/>
            </a:pPr>
            <a:r>
              <a:rPr lang="en-US" sz="1300" dirty="0">
                <a:solidFill>
                  <a:srgbClr val="36312D"/>
                </a:solidFill>
                <a:latin typeface="Arial" pitchFamily="34" charset="0"/>
                <a:ea typeface="Arial" pitchFamily="34" charset="-122"/>
                <a:cs typeface="Arial" pitchFamily="34" charset="-120"/>
              </a:rPr>
              <a:t>YOLOv8 (Ultralytics)</a:t>
            </a:r>
            <a:endParaRPr lang="en-US" sz="1300" dirty="0"/>
          </a:p>
        </p:txBody>
      </p:sp>
      <p:sp>
        <p:nvSpPr>
          <p:cNvPr id="10" name="Text 7"/>
          <p:cNvSpPr txBox="1"/>
          <p:nvPr/>
        </p:nvSpPr>
        <p:spPr>
          <a:xfrm>
            <a:off x="7086600" y="1371600"/>
            <a:ext cx="928116" cy="384048"/>
          </a:xfrm>
          <a:prstGeom prst="roundRect">
            <a:avLst>
              <a:gd name="adj" fmla="val 19048"/>
            </a:avLst>
          </a:prstGeom>
          <a:solidFill>
            <a:srgbClr val="F4F2F0"/>
          </a:solidFill>
          <a:ln/>
        </p:spPr>
        <p:txBody>
          <a:bodyPr wrap="square" lIns="0" tIns="0" rIns="0" bIns="0" rtlCol="0" anchor="ctr"/>
          <a:lstStyle/>
          <a:p>
            <a:pPr marL="0" indent="0" algn="ctr">
              <a:buNone/>
            </a:pPr>
            <a:r>
              <a:rPr lang="en-US" sz="1300" dirty="0">
                <a:solidFill>
                  <a:srgbClr val="36312D"/>
                </a:solidFill>
                <a:latin typeface="Arial" pitchFamily="34" charset="0"/>
                <a:ea typeface="Arial" pitchFamily="34" charset="-122"/>
                <a:cs typeface="Arial" pitchFamily="34" charset="-120"/>
              </a:rPr>
              <a:t>PyTorch</a:t>
            </a:r>
            <a:endParaRPr lang="en-US" sz="1300" dirty="0"/>
          </a:p>
        </p:txBody>
      </p:sp>
      <p:sp>
        <p:nvSpPr>
          <p:cNvPr id="11" name="Shape 8"/>
          <p:cNvSpPr/>
          <p:nvPr/>
        </p:nvSpPr>
        <p:spPr>
          <a:xfrm>
            <a:off x="457200" y="2048256"/>
            <a:ext cx="2286000" cy="749808"/>
          </a:xfrm>
          <a:prstGeom prst="roundRect">
            <a:avLst>
              <a:gd name="adj" fmla="val 9756"/>
            </a:avLst>
          </a:prstGeom>
          <a:solidFill>
            <a:srgbClr val="3A332E"/>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640080" y="2267712"/>
            <a:ext cx="310896" cy="310896"/>
          </a:xfrm>
          <a:prstGeom prst="rect">
            <a:avLst/>
          </a:prstGeom>
        </p:spPr>
      </p:pic>
      <p:sp>
        <p:nvSpPr>
          <p:cNvPr id="13" name="Text 9"/>
          <p:cNvSpPr txBox="1"/>
          <p:nvPr/>
        </p:nvSpPr>
        <p:spPr>
          <a:xfrm>
            <a:off x="1097280" y="2048256"/>
            <a:ext cx="1600200" cy="749808"/>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Backend</a:t>
            </a:r>
            <a:endParaRPr lang="en-US" sz="1500" dirty="0"/>
          </a:p>
        </p:txBody>
      </p:sp>
      <p:sp>
        <p:nvSpPr>
          <p:cNvPr id="14" name="Shape 10"/>
          <p:cNvSpPr/>
          <p:nvPr/>
        </p:nvSpPr>
        <p:spPr>
          <a:xfrm>
            <a:off x="2834640" y="2048256"/>
            <a:ext cx="5852160" cy="749808"/>
          </a:xfrm>
          <a:prstGeom prst="roundRect">
            <a:avLst>
              <a:gd name="adj" fmla="val 9756"/>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15" name="Text 11"/>
          <p:cNvSpPr txBox="1"/>
          <p:nvPr/>
        </p:nvSpPr>
        <p:spPr>
          <a:xfrm>
            <a:off x="3017520" y="2231136"/>
            <a:ext cx="928116" cy="384048"/>
          </a:xfrm>
          <a:prstGeom prst="roundRect">
            <a:avLst>
              <a:gd name="adj" fmla="val 19048"/>
            </a:avLst>
          </a:prstGeom>
          <a:solidFill>
            <a:srgbClr val="F4F2F0"/>
          </a:solidFill>
          <a:ln/>
        </p:spPr>
        <p:txBody>
          <a:bodyPr wrap="square" lIns="0" tIns="0" rIns="0" bIns="0" rtlCol="0" anchor="ctr"/>
          <a:lstStyle/>
          <a:p>
            <a:pPr marL="0" indent="0" algn="ctr">
              <a:buNone/>
            </a:pPr>
            <a:r>
              <a:rPr lang="en-US" sz="1300" dirty="0">
                <a:solidFill>
                  <a:srgbClr val="36312D"/>
                </a:solidFill>
                <a:latin typeface="Arial" pitchFamily="34" charset="0"/>
                <a:ea typeface="Arial" pitchFamily="34" charset="-122"/>
                <a:cs typeface="Arial" pitchFamily="34" charset="-120"/>
              </a:rPr>
              <a:t>FastAPI</a:t>
            </a:r>
            <a:endParaRPr lang="en-US" sz="1300" dirty="0"/>
          </a:p>
        </p:txBody>
      </p:sp>
      <p:sp>
        <p:nvSpPr>
          <p:cNvPr id="16" name="Text 12"/>
          <p:cNvSpPr txBox="1"/>
          <p:nvPr/>
        </p:nvSpPr>
        <p:spPr>
          <a:xfrm>
            <a:off x="4055364" y="2231136"/>
            <a:ext cx="1188720" cy="384048"/>
          </a:xfrm>
          <a:prstGeom prst="roundRect">
            <a:avLst>
              <a:gd name="adj" fmla="val 19048"/>
            </a:avLst>
          </a:prstGeom>
          <a:solidFill>
            <a:srgbClr val="F4F2F0"/>
          </a:solidFill>
          <a:ln/>
        </p:spPr>
        <p:txBody>
          <a:bodyPr wrap="square" lIns="0" tIns="0" rIns="0" bIns="0" rtlCol="0" anchor="ctr"/>
          <a:lstStyle/>
          <a:p>
            <a:pPr marL="0" indent="0" algn="ctr">
              <a:buNone/>
            </a:pPr>
            <a:r>
              <a:rPr lang="en-US" sz="1300" dirty="0">
                <a:solidFill>
                  <a:srgbClr val="36312D"/>
                </a:solidFill>
                <a:latin typeface="Arial" pitchFamily="34" charset="0"/>
                <a:ea typeface="Arial" pitchFamily="34" charset="-122"/>
                <a:cs typeface="Arial" pitchFamily="34" charset="-120"/>
              </a:rPr>
              <a:t>WebSockets</a:t>
            </a:r>
            <a:endParaRPr lang="en-US" sz="1300" dirty="0"/>
          </a:p>
        </p:txBody>
      </p:sp>
      <p:sp>
        <p:nvSpPr>
          <p:cNvPr id="17" name="Text 13"/>
          <p:cNvSpPr txBox="1"/>
          <p:nvPr/>
        </p:nvSpPr>
        <p:spPr>
          <a:xfrm>
            <a:off x="5353812" y="2231136"/>
            <a:ext cx="1970532" cy="384048"/>
          </a:xfrm>
          <a:prstGeom prst="roundRect">
            <a:avLst>
              <a:gd name="adj" fmla="val 19048"/>
            </a:avLst>
          </a:prstGeom>
          <a:solidFill>
            <a:srgbClr val="F4F2F0"/>
          </a:solidFill>
          <a:ln/>
        </p:spPr>
        <p:txBody>
          <a:bodyPr wrap="square" lIns="0" tIns="0" rIns="0" bIns="0" rtlCol="0" anchor="ctr"/>
          <a:lstStyle/>
          <a:p>
            <a:pPr marL="0" indent="0" algn="ctr">
              <a:buNone/>
            </a:pPr>
            <a:r>
              <a:rPr lang="en-US" sz="1300" dirty="0">
                <a:solidFill>
                  <a:srgbClr val="36312D"/>
                </a:solidFill>
                <a:latin typeface="Arial" pitchFamily="34" charset="0"/>
                <a:ea typeface="Arial" pitchFamily="34" charset="-122"/>
                <a:cs typeface="Arial" pitchFamily="34" charset="-120"/>
              </a:rPr>
              <a:t>SQLite / PostgreSQL</a:t>
            </a:r>
            <a:endParaRPr lang="en-US" sz="1300" dirty="0"/>
          </a:p>
        </p:txBody>
      </p:sp>
      <p:sp>
        <p:nvSpPr>
          <p:cNvPr id="18" name="Shape 14"/>
          <p:cNvSpPr/>
          <p:nvPr/>
        </p:nvSpPr>
        <p:spPr>
          <a:xfrm>
            <a:off x="457200" y="2907792"/>
            <a:ext cx="2286000" cy="749808"/>
          </a:xfrm>
          <a:prstGeom prst="roundRect">
            <a:avLst>
              <a:gd name="adj" fmla="val 9756"/>
            </a:avLst>
          </a:prstGeom>
          <a:solidFill>
            <a:srgbClr val="3A332E"/>
          </a:solidFill>
          <a:ln/>
        </p:spPr>
        <p:txBody>
          <a:bodyPr/>
          <a:lstStyle/>
          <a:p>
            <a:endParaRPr lang="en-IN"/>
          </a:p>
        </p:txBody>
      </p:sp>
      <p:pic>
        <p:nvPicPr>
          <p:cNvPr id="19" name="Image 2" descr="preencoded.png"/>
          <p:cNvPicPr>
            <a:picLocks noChangeAspect="1"/>
          </p:cNvPicPr>
          <p:nvPr/>
        </p:nvPicPr>
        <p:blipFill>
          <a:blip r:embed="rId5"/>
          <a:stretch>
            <a:fillRect/>
          </a:stretch>
        </p:blipFill>
        <p:spPr>
          <a:xfrm>
            <a:off x="640080" y="3127248"/>
            <a:ext cx="310896" cy="310896"/>
          </a:xfrm>
          <a:prstGeom prst="rect">
            <a:avLst/>
          </a:prstGeom>
        </p:spPr>
      </p:pic>
      <p:sp>
        <p:nvSpPr>
          <p:cNvPr id="20" name="Text 15"/>
          <p:cNvSpPr txBox="1"/>
          <p:nvPr/>
        </p:nvSpPr>
        <p:spPr>
          <a:xfrm>
            <a:off x="1097280" y="2907792"/>
            <a:ext cx="1600200" cy="749808"/>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Web dashboard</a:t>
            </a:r>
            <a:endParaRPr lang="en-US" sz="1500" dirty="0"/>
          </a:p>
        </p:txBody>
      </p:sp>
      <p:sp>
        <p:nvSpPr>
          <p:cNvPr id="21" name="Shape 16"/>
          <p:cNvSpPr/>
          <p:nvPr/>
        </p:nvSpPr>
        <p:spPr>
          <a:xfrm>
            <a:off x="2834640" y="2907792"/>
            <a:ext cx="5852160" cy="749808"/>
          </a:xfrm>
          <a:prstGeom prst="roundRect">
            <a:avLst>
              <a:gd name="adj" fmla="val 9756"/>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22" name="Text 17"/>
          <p:cNvSpPr txBox="1"/>
          <p:nvPr/>
        </p:nvSpPr>
        <p:spPr>
          <a:xfrm>
            <a:off x="3017520" y="3090672"/>
            <a:ext cx="754380" cy="384048"/>
          </a:xfrm>
          <a:prstGeom prst="roundRect">
            <a:avLst>
              <a:gd name="adj" fmla="val 19048"/>
            </a:avLst>
          </a:prstGeom>
          <a:solidFill>
            <a:srgbClr val="F4F2F0"/>
          </a:solidFill>
          <a:ln/>
        </p:spPr>
        <p:txBody>
          <a:bodyPr wrap="square" lIns="0" tIns="0" rIns="0" bIns="0" rtlCol="0" anchor="ctr"/>
          <a:lstStyle/>
          <a:p>
            <a:pPr marL="0" indent="0" algn="ctr">
              <a:buNone/>
            </a:pPr>
            <a:r>
              <a:rPr lang="en-US" sz="1300" dirty="0">
                <a:solidFill>
                  <a:srgbClr val="36312D"/>
                </a:solidFill>
                <a:latin typeface="Arial" pitchFamily="34" charset="0"/>
                <a:ea typeface="Arial" pitchFamily="34" charset="-122"/>
                <a:cs typeface="Arial" pitchFamily="34" charset="-120"/>
              </a:rPr>
              <a:t>React</a:t>
            </a:r>
            <a:endParaRPr lang="en-US" sz="1300" dirty="0"/>
          </a:p>
        </p:txBody>
      </p:sp>
      <p:sp>
        <p:nvSpPr>
          <p:cNvPr id="23" name="Text 18"/>
          <p:cNvSpPr txBox="1"/>
          <p:nvPr/>
        </p:nvSpPr>
        <p:spPr>
          <a:xfrm>
            <a:off x="3881628" y="3090672"/>
            <a:ext cx="2057400" cy="384048"/>
          </a:xfrm>
          <a:prstGeom prst="roundRect">
            <a:avLst>
              <a:gd name="adj" fmla="val 19048"/>
            </a:avLst>
          </a:prstGeom>
          <a:solidFill>
            <a:srgbClr val="F4F2F0"/>
          </a:solidFill>
          <a:ln/>
        </p:spPr>
        <p:txBody>
          <a:bodyPr wrap="square" lIns="0" tIns="0" rIns="0" bIns="0" rtlCol="0" anchor="ctr"/>
          <a:lstStyle/>
          <a:p>
            <a:pPr marL="0" indent="0" algn="ctr">
              <a:buNone/>
            </a:pPr>
            <a:r>
              <a:rPr lang="en-US" sz="1300" dirty="0">
                <a:solidFill>
                  <a:srgbClr val="36312D"/>
                </a:solidFill>
                <a:latin typeface="Arial" pitchFamily="34" charset="0"/>
                <a:ea typeface="Arial" pitchFamily="34" charset="-122"/>
                <a:cs typeface="Arial" pitchFamily="34" charset="-120"/>
              </a:rPr>
              <a:t>Leaflet / Canvas map</a:t>
            </a:r>
            <a:endParaRPr lang="en-US" sz="1300" dirty="0"/>
          </a:p>
        </p:txBody>
      </p:sp>
      <p:sp>
        <p:nvSpPr>
          <p:cNvPr id="24" name="Text 19"/>
          <p:cNvSpPr txBox="1"/>
          <p:nvPr/>
        </p:nvSpPr>
        <p:spPr>
          <a:xfrm>
            <a:off x="6048756" y="3090672"/>
            <a:ext cx="1362456" cy="384048"/>
          </a:xfrm>
          <a:prstGeom prst="roundRect">
            <a:avLst>
              <a:gd name="adj" fmla="val 19048"/>
            </a:avLst>
          </a:prstGeom>
          <a:solidFill>
            <a:srgbClr val="F4F2F0"/>
          </a:solidFill>
          <a:ln/>
        </p:spPr>
        <p:txBody>
          <a:bodyPr wrap="square" lIns="0" tIns="0" rIns="0" bIns="0" rtlCol="0" anchor="ctr"/>
          <a:lstStyle/>
          <a:p>
            <a:pPr marL="0" indent="0" algn="ctr">
              <a:buNone/>
            </a:pPr>
            <a:r>
              <a:rPr lang="en-US" sz="1300" dirty="0">
                <a:solidFill>
                  <a:srgbClr val="36312D"/>
                </a:solidFill>
                <a:latin typeface="Arial" pitchFamily="34" charset="0"/>
                <a:ea typeface="Arial" pitchFamily="34" charset="-122"/>
                <a:cs typeface="Arial" pitchFamily="34" charset="-120"/>
              </a:rPr>
              <a:t>Tailwind CSS</a:t>
            </a:r>
            <a:endParaRPr lang="en-US" sz="1300" dirty="0"/>
          </a:p>
        </p:txBody>
      </p:sp>
      <p:sp>
        <p:nvSpPr>
          <p:cNvPr id="25" name="Shape 20"/>
          <p:cNvSpPr/>
          <p:nvPr/>
        </p:nvSpPr>
        <p:spPr>
          <a:xfrm>
            <a:off x="457200" y="3767328"/>
            <a:ext cx="2286000" cy="749808"/>
          </a:xfrm>
          <a:prstGeom prst="roundRect">
            <a:avLst>
              <a:gd name="adj" fmla="val 9756"/>
            </a:avLst>
          </a:prstGeom>
          <a:solidFill>
            <a:srgbClr val="3A332E"/>
          </a:solidFill>
          <a:ln/>
        </p:spPr>
        <p:txBody>
          <a:bodyPr/>
          <a:lstStyle/>
          <a:p>
            <a:endParaRPr lang="en-IN"/>
          </a:p>
        </p:txBody>
      </p:sp>
      <p:pic>
        <p:nvPicPr>
          <p:cNvPr id="26" name="Image 3" descr="preencoded.png"/>
          <p:cNvPicPr>
            <a:picLocks noChangeAspect="1"/>
          </p:cNvPicPr>
          <p:nvPr/>
        </p:nvPicPr>
        <p:blipFill>
          <a:blip r:embed="rId6"/>
          <a:stretch>
            <a:fillRect/>
          </a:stretch>
        </p:blipFill>
        <p:spPr>
          <a:xfrm>
            <a:off x="640080" y="3986784"/>
            <a:ext cx="310896" cy="310896"/>
          </a:xfrm>
          <a:prstGeom prst="rect">
            <a:avLst/>
          </a:prstGeom>
        </p:spPr>
      </p:pic>
      <p:sp>
        <p:nvSpPr>
          <p:cNvPr id="27" name="Text 21"/>
          <p:cNvSpPr txBox="1"/>
          <p:nvPr/>
        </p:nvSpPr>
        <p:spPr>
          <a:xfrm>
            <a:off x="1097280" y="3767328"/>
            <a:ext cx="1600200" cy="749808"/>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Routing and deploy</a:t>
            </a:r>
            <a:endParaRPr lang="en-US" sz="1500" dirty="0"/>
          </a:p>
        </p:txBody>
      </p:sp>
      <p:sp>
        <p:nvSpPr>
          <p:cNvPr id="28" name="Shape 22"/>
          <p:cNvSpPr/>
          <p:nvPr/>
        </p:nvSpPr>
        <p:spPr>
          <a:xfrm>
            <a:off x="2834640" y="3767328"/>
            <a:ext cx="5852160" cy="749808"/>
          </a:xfrm>
          <a:prstGeom prst="roundRect">
            <a:avLst>
              <a:gd name="adj" fmla="val 9756"/>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29" name="Text 23"/>
          <p:cNvSpPr txBox="1"/>
          <p:nvPr/>
        </p:nvSpPr>
        <p:spPr>
          <a:xfrm>
            <a:off x="3017520" y="3950208"/>
            <a:ext cx="1449324" cy="384048"/>
          </a:xfrm>
          <a:prstGeom prst="roundRect">
            <a:avLst>
              <a:gd name="adj" fmla="val 19048"/>
            </a:avLst>
          </a:prstGeom>
          <a:solidFill>
            <a:srgbClr val="F4F2F0"/>
          </a:solidFill>
          <a:ln/>
        </p:spPr>
        <p:txBody>
          <a:bodyPr wrap="square" lIns="0" tIns="0" rIns="0" bIns="0" rtlCol="0" anchor="ctr"/>
          <a:lstStyle/>
          <a:p>
            <a:pPr marL="0" indent="0" algn="ctr">
              <a:buNone/>
            </a:pPr>
            <a:r>
              <a:rPr lang="en-US" sz="1300" dirty="0">
                <a:solidFill>
                  <a:srgbClr val="36312D"/>
                </a:solidFill>
                <a:latin typeface="Arial" pitchFamily="34" charset="0"/>
                <a:ea typeface="Arial" pitchFamily="34" charset="-122"/>
                <a:cs typeface="Arial" pitchFamily="34" charset="-120"/>
              </a:rPr>
              <a:t>NetworkX (A*)</a:t>
            </a:r>
            <a:endParaRPr lang="en-US" sz="1300" dirty="0"/>
          </a:p>
        </p:txBody>
      </p:sp>
      <p:sp>
        <p:nvSpPr>
          <p:cNvPr id="30" name="Text 24"/>
          <p:cNvSpPr txBox="1"/>
          <p:nvPr/>
        </p:nvSpPr>
        <p:spPr>
          <a:xfrm>
            <a:off x="4576572" y="3950208"/>
            <a:ext cx="1883664" cy="384048"/>
          </a:xfrm>
          <a:prstGeom prst="roundRect">
            <a:avLst>
              <a:gd name="adj" fmla="val 19048"/>
            </a:avLst>
          </a:prstGeom>
          <a:solidFill>
            <a:srgbClr val="F4F2F0"/>
          </a:solidFill>
          <a:ln/>
        </p:spPr>
        <p:txBody>
          <a:bodyPr wrap="square" lIns="0" tIns="0" rIns="0" bIns="0" rtlCol="0" anchor="ctr"/>
          <a:lstStyle/>
          <a:p>
            <a:pPr marL="0" indent="0" algn="ctr">
              <a:buNone/>
            </a:pPr>
            <a:r>
              <a:rPr lang="en-US" sz="1300" dirty="0">
                <a:solidFill>
                  <a:srgbClr val="36312D"/>
                </a:solidFill>
                <a:latin typeface="Arial" pitchFamily="34" charset="0"/>
                <a:ea typeface="Arial" pitchFamily="34" charset="-122"/>
                <a:cs typeface="Arial" pitchFamily="34" charset="-120"/>
              </a:rPr>
              <a:t>RTSP video streams</a:t>
            </a:r>
            <a:endParaRPr lang="en-US" sz="1300" dirty="0"/>
          </a:p>
        </p:txBody>
      </p:sp>
      <p:sp>
        <p:nvSpPr>
          <p:cNvPr id="31" name="Text 25"/>
          <p:cNvSpPr txBox="1"/>
          <p:nvPr/>
        </p:nvSpPr>
        <p:spPr>
          <a:xfrm>
            <a:off x="6569964" y="3950208"/>
            <a:ext cx="841248" cy="384048"/>
          </a:xfrm>
          <a:prstGeom prst="roundRect">
            <a:avLst>
              <a:gd name="adj" fmla="val 19048"/>
            </a:avLst>
          </a:prstGeom>
          <a:solidFill>
            <a:srgbClr val="F4F2F0"/>
          </a:solidFill>
          <a:ln/>
        </p:spPr>
        <p:txBody>
          <a:bodyPr wrap="square" lIns="0" tIns="0" rIns="0" bIns="0" rtlCol="0" anchor="ctr"/>
          <a:lstStyle/>
          <a:p>
            <a:pPr marL="0" indent="0" algn="ctr">
              <a:buNone/>
            </a:pPr>
            <a:r>
              <a:rPr lang="en-US" sz="1300" dirty="0">
                <a:solidFill>
                  <a:srgbClr val="36312D"/>
                </a:solidFill>
                <a:latin typeface="Arial" pitchFamily="34" charset="0"/>
                <a:ea typeface="Arial" pitchFamily="34" charset="-122"/>
                <a:cs typeface="Arial" pitchFamily="34" charset="-120"/>
              </a:rPr>
              <a:t>Docker</a:t>
            </a:r>
            <a:endParaRPr lang="en-US" sz="1300" dirty="0"/>
          </a:p>
        </p:txBody>
      </p:sp>
      <p:sp>
        <p:nvSpPr>
          <p:cNvPr id="32" name="Text 26"/>
          <p:cNvSpPr txBox="1"/>
          <p:nvPr/>
        </p:nvSpPr>
        <p:spPr>
          <a:xfrm>
            <a:off x="457200" y="4846320"/>
            <a:ext cx="5486400" cy="201168"/>
          </a:xfrm>
          <a:prstGeom prst="rect">
            <a:avLst/>
          </a:prstGeom>
          <a:noFill/>
          <a:ln/>
        </p:spPr>
        <p:txBody>
          <a:bodyPr wrap="square" lIns="0" tIns="0" rIns="0" bIns="0" rtlCol="0" anchor="t"/>
          <a:lstStyle/>
          <a:p>
            <a:r>
              <a:rPr lang="en-US" sz="1000" dirty="0" err="1">
                <a:solidFill>
                  <a:srgbClr val="79736E"/>
                </a:solidFill>
                <a:latin typeface="Arial" pitchFamily="34" charset="0"/>
                <a:ea typeface="Arial" pitchFamily="34" charset="-122"/>
                <a:cs typeface="Arial" pitchFamily="34" charset="-120"/>
              </a:rPr>
              <a:t>ParkSense</a:t>
            </a:r>
            <a:r>
              <a:rPr lang="en-US" sz="1000" dirty="0">
                <a:solidFill>
                  <a:srgbClr val="79736E"/>
                </a:solidFill>
                <a:latin typeface="Arial" pitchFamily="34" charset="0"/>
                <a:ea typeface="Arial" pitchFamily="34" charset="-122"/>
                <a:cs typeface="Arial" pitchFamily="34" charset="-120"/>
              </a:rPr>
              <a:t>   ·  Final Review</a:t>
            </a:r>
            <a:endParaRPr lang="en-US" sz="1000" dirty="0"/>
          </a:p>
        </p:txBody>
      </p:sp>
      <p:sp>
        <p:nvSpPr>
          <p:cNvPr id="33" name="Text 27"/>
          <p:cNvSpPr txBox="1"/>
          <p:nvPr/>
        </p:nvSpPr>
        <p:spPr>
          <a:xfrm>
            <a:off x="8229600" y="4846320"/>
            <a:ext cx="457200" cy="201168"/>
          </a:xfrm>
          <a:prstGeom prst="rect">
            <a:avLst/>
          </a:prstGeom>
          <a:noFill/>
          <a:ln/>
        </p:spPr>
        <p:txBody>
          <a:bodyPr wrap="square" lIns="0" tIns="0" rIns="0" bIns="0" rtlCol="0" anchor="t"/>
          <a:lstStyle/>
          <a:p>
            <a:pPr marL="0" indent="0" algn="r">
              <a:buNone/>
            </a:pPr>
            <a:r>
              <a:rPr lang="en-US" sz="1000" dirty="0">
                <a:solidFill>
                  <a:srgbClr val="79736E"/>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9F8F7"/>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ctr"/>
          <a:lstStyle/>
          <a:p>
            <a:pPr marL="0" indent="0">
              <a:buNone/>
            </a:pPr>
            <a:r>
              <a:rPr lang="en-US" sz="3400" b="1" dirty="0">
                <a:solidFill>
                  <a:srgbClr val="36312D"/>
                </a:solidFill>
                <a:latin typeface="Cambria" pitchFamily="34" charset="0"/>
                <a:ea typeface="Cambria" pitchFamily="34" charset="-122"/>
                <a:cs typeface="Cambria" pitchFamily="34" charset="-120"/>
              </a:rPr>
              <a:t>What makes it different</a:t>
            </a:r>
            <a:endParaRPr lang="en-US" sz="3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3200400"/>
        </p:xfrm>
        <a:graphic>
          <a:graphicData uri="http://schemas.openxmlformats.org/drawingml/2006/table">
            <a:tbl>
              <a:tblPr/>
              <a:tblGrid>
                <a:gridCol w="22860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457200">
                <a:tc>
                  <a:txBody>
                    <a:bodyPr/>
                    <a:lstStyle/>
                    <a:p>
                      <a:pPr marL="0" indent="0" algn="l">
                        <a:buNone/>
                      </a:pPr>
                      <a:endParaRPr lang="en-US" sz="14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3A332E"/>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In-ground sensors</a:t>
                      </a:r>
                      <a:endParaRPr lang="en-US" sz="14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3A332E"/>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Gate counter</a:t>
                      </a:r>
                      <a:endParaRPr lang="en-US" sz="14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3A332E"/>
                    </a:solidFill>
                  </a:tcPr>
                </a:tc>
                <a:tc>
                  <a:txBody>
                    <a:bodyPr/>
                    <a:lstStyle/>
                    <a:p>
                      <a:pPr marL="0" indent="0" algn="ctr">
                        <a:buNone/>
                      </a:pPr>
                      <a:r>
                        <a:rPr lang="en-US" sz="1400" b="1" dirty="0">
                          <a:solidFill>
                            <a:srgbClr val="26211E"/>
                          </a:solidFill>
                          <a:latin typeface="Arial" pitchFamily="34" charset="0"/>
                          <a:ea typeface="Arial" pitchFamily="34" charset="-122"/>
                          <a:cs typeface="Arial" pitchFamily="34" charset="-120"/>
                        </a:rPr>
                        <a:t>ParkSense</a:t>
                      </a:r>
                      <a:endParaRPr lang="en-US" sz="14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1FBF75"/>
                    </a:solidFill>
                  </a:tcPr>
                </a:tc>
                <a:extLst>
                  <a:ext uri="{0D108BD9-81ED-4DB2-BD59-A6C34878D82A}">
                    <a16:rowId xmlns:a16="http://schemas.microsoft.com/office/drawing/2014/main" val="10000"/>
                  </a:ext>
                </a:extLst>
              </a:tr>
              <a:tr h="548640">
                <a:tc>
                  <a:txBody>
                    <a:bodyPr/>
                    <a:lstStyle/>
                    <a:p>
                      <a:pPr marL="0" indent="0">
                        <a:buNone/>
                      </a:pPr>
                      <a:r>
                        <a:rPr lang="en-US" sz="1300" b="1" dirty="0">
                          <a:solidFill>
                            <a:srgbClr val="36312D"/>
                          </a:solidFill>
                          <a:latin typeface="Arial" pitchFamily="34" charset="0"/>
                          <a:ea typeface="Arial" pitchFamily="34" charset="-122"/>
                          <a:cs typeface="Arial" pitchFamily="34" charset="-120"/>
                        </a:rPr>
                        <a:t>Hardware cost</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C93A3F"/>
                          </a:solidFill>
                          <a:latin typeface="Arial" pitchFamily="34" charset="0"/>
                          <a:ea typeface="Arial" pitchFamily="34" charset="-122"/>
                          <a:cs typeface="Arial" pitchFamily="34" charset="-120"/>
                        </a:rPr>
                        <a:t>High (per bay)</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38A52"/>
                          </a:solidFill>
                          <a:latin typeface="Arial" pitchFamily="34" charset="0"/>
                          <a:ea typeface="Arial" pitchFamily="34" charset="-122"/>
                          <a:cs typeface="Arial" pitchFamily="34" charset="-120"/>
                        </a:rPr>
                        <a:t>Low</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36312D"/>
                          </a:solidFill>
                          <a:latin typeface="Arial" pitchFamily="34" charset="0"/>
                          <a:ea typeface="Arial" pitchFamily="34" charset="-122"/>
                          <a:cs typeface="Arial" pitchFamily="34" charset="-120"/>
                        </a:rPr>
                        <a:t>Low (reuse cameras)</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E3F7EC"/>
                    </a:solidFill>
                  </a:tcPr>
                </a:tc>
                <a:extLst>
                  <a:ext uri="{0D108BD9-81ED-4DB2-BD59-A6C34878D82A}">
                    <a16:rowId xmlns:a16="http://schemas.microsoft.com/office/drawing/2014/main" val="10001"/>
                  </a:ext>
                </a:extLst>
              </a:tr>
              <a:tr h="548640">
                <a:tc>
                  <a:txBody>
                    <a:bodyPr/>
                    <a:lstStyle/>
                    <a:p>
                      <a:pPr marL="0" indent="0">
                        <a:buNone/>
                      </a:pPr>
                      <a:r>
                        <a:rPr lang="en-US" sz="1300" b="1" dirty="0">
                          <a:solidFill>
                            <a:srgbClr val="36312D"/>
                          </a:solidFill>
                          <a:latin typeface="Arial" pitchFamily="34" charset="0"/>
                          <a:ea typeface="Arial" pitchFamily="34" charset="-122"/>
                          <a:cs typeface="Arial" pitchFamily="34" charset="-120"/>
                        </a:rPr>
                        <a:t>Shows which bay is free</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9F8F7"/>
                    </a:solidFill>
                  </a:tcPr>
                </a:tc>
                <a:tc>
                  <a:txBody>
                    <a:bodyPr/>
                    <a:lstStyle/>
                    <a:p>
                      <a:pPr marL="0" indent="0" algn="ctr">
                        <a:buNone/>
                      </a:pPr>
                      <a:r>
                        <a:rPr lang="en-US" sz="1300" dirty="0">
                          <a:solidFill>
                            <a:srgbClr val="138A52"/>
                          </a:solidFill>
                          <a:latin typeface="Arial" pitchFamily="34" charset="0"/>
                          <a:ea typeface="Arial" pitchFamily="34" charset="-122"/>
                          <a:cs typeface="Arial" pitchFamily="34" charset="-120"/>
                        </a:rPr>
                        <a:t>Yes</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9F8F7"/>
                    </a:solidFill>
                  </a:tcPr>
                </a:tc>
                <a:tc>
                  <a:txBody>
                    <a:bodyPr/>
                    <a:lstStyle/>
                    <a:p>
                      <a:pPr marL="0" indent="0" algn="ctr">
                        <a:buNone/>
                      </a:pPr>
                      <a:r>
                        <a:rPr lang="en-US" sz="1300" dirty="0">
                          <a:solidFill>
                            <a:srgbClr val="C93A3F"/>
                          </a:solidFill>
                          <a:latin typeface="Arial" pitchFamily="34" charset="0"/>
                          <a:ea typeface="Arial" pitchFamily="34" charset="-122"/>
                          <a:cs typeface="Arial" pitchFamily="34" charset="-120"/>
                        </a:rPr>
                        <a:t>No, count only</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9F8F7"/>
                    </a:solidFill>
                  </a:tcPr>
                </a:tc>
                <a:tc>
                  <a:txBody>
                    <a:bodyPr/>
                    <a:lstStyle/>
                    <a:p>
                      <a:pPr marL="0" indent="0" algn="ctr">
                        <a:buNone/>
                      </a:pPr>
                      <a:r>
                        <a:rPr lang="en-US" sz="1300" b="1" dirty="0">
                          <a:solidFill>
                            <a:srgbClr val="36312D"/>
                          </a:solidFill>
                          <a:latin typeface="Arial" pitchFamily="34" charset="0"/>
                          <a:ea typeface="Arial" pitchFamily="34" charset="-122"/>
                          <a:cs typeface="Arial" pitchFamily="34" charset="-120"/>
                        </a:rPr>
                        <a:t>Yes</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E3F7EC"/>
                    </a:solidFill>
                  </a:tcPr>
                </a:tc>
                <a:extLst>
                  <a:ext uri="{0D108BD9-81ED-4DB2-BD59-A6C34878D82A}">
                    <a16:rowId xmlns:a16="http://schemas.microsoft.com/office/drawing/2014/main" val="10002"/>
                  </a:ext>
                </a:extLst>
              </a:tr>
              <a:tr h="548640">
                <a:tc>
                  <a:txBody>
                    <a:bodyPr/>
                    <a:lstStyle/>
                    <a:p>
                      <a:pPr marL="0" indent="0">
                        <a:buNone/>
                      </a:pPr>
                      <a:r>
                        <a:rPr lang="en-US" sz="1300" b="1" dirty="0">
                          <a:solidFill>
                            <a:srgbClr val="36312D"/>
                          </a:solidFill>
                          <a:latin typeface="Arial" pitchFamily="34" charset="0"/>
                          <a:ea typeface="Arial" pitchFamily="34" charset="-122"/>
                          <a:cs typeface="Arial" pitchFamily="34" charset="-120"/>
                        </a:rPr>
                        <a:t>Guides driver to a bay</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C93A3F"/>
                          </a:solidFill>
                          <a:latin typeface="Arial" pitchFamily="34" charset="0"/>
                          <a:ea typeface="Arial" pitchFamily="34" charset="-122"/>
                          <a:cs typeface="Arial" pitchFamily="34" charset="-120"/>
                        </a:rPr>
                        <a:t>No</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C93A3F"/>
                          </a:solidFill>
                          <a:latin typeface="Arial" pitchFamily="34" charset="0"/>
                          <a:ea typeface="Arial" pitchFamily="34" charset="-122"/>
                          <a:cs typeface="Arial" pitchFamily="34" charset="-120"/>
                        </a:rPr>
                        <a:t>No</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36312D"/>
                          </a:solidFill>
                          <a:latin typeface="Arial" pitchFamily="34" charset="0"/>
                          <a:ea typeface="Arial" pitchFamily="34" charset="-122"/>
                          <a:cs typeface="Arial" pitchFamily="34" charset="-120"/>
                        </a:rPr>
                        <a:t>Yes</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E3F7EC"/>
                    </a:solidFill>
                  </a:tcPr>
                </a:tc>
                <a:extLst>
                  <a:ext uri="{0D108BD9-81ED-4DB2-BD59-A6C34878D82A}">
                    <a16:rowId xmlns:a16="http://schemas.microsoft.com/office/drawing/2014/main" val="10003"/>
                  </a:ext>
                </a:extLst>
              </a:tr>
              <a:tr h="548640">
                <a:tc>
                  <a:txBody>
                    <a:bodyPr/>
                    <a:lstStyle/>
                    <a:p>
                      <a:pPr marL="0" indent="0">
                        <a:buNone/>
                      </a:pPr>
                      <a:r>
                        <a:rPr lang="en-US" sz="1300" b="1" dirty="0">
                          <a:solidFill>
                            <a:srgbClr val="36312D"/>
                          </a:solidFill>
                          <a:latin typeface="Arial" pitchFamily="34" charset="0"/>
                          <a:ea typeface="Arial" pitchFamily="34" charset="-122"/>
                          <a:cs typeface="Arial" pitchFamily="34" charset="-120"/>
                        </a:rPr>
                        <a:t>Setup effort</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9F8F7"/>
                    </a:solidFill>
                  </a:tcPr>
                </a:tc>
                <a:tc>
                  <a:txBody>
                    <a:bodyPr/>
                    <a:lstStyle/>
                    <a:p>
                      <a:pPr marL="0" indent="0" algn="ctr">
                        <a:buNone/>
                      </a:pPr>
                      <a:r>
                        <a:rPr lang="en-US" sz="1300" dirty="0">
                          <a:solidFill>
                            <a:srgbClr val="C93A3F"/>
                          </a:solidFill>
                          <a:latin typeface="Arial" pitchFamily="34" charset="0"/>
                          <a:ea typeface="Arial" pitchFamily="34" charset="-122"/>
                          <a:cs typeface="Arial" pitchFamily="34" charset="-120"/>
                        </a:rPr>
                        <a:t>Civil work</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9F8F7"/>
                    </a:solidFill>
                  </a:tcPr>
                </a:tc>
                <a:tc>
                  <a:txBody>
                    <a:bodyPr/>
                    <a:lstStyle/>
                    <a:p>
                      <a:pPr marL="0" indent="0" algn="ctr">
                        <a:buNone/>
                      </a:pPr>
                      <a:r>
                        <a:rPr lang="en-US" sz="1300" dirty="0">
                          <a:solidFill>
                            <a:srgbClr val="138A52"/>
                          </a:solidFill>
                          <a:latin typeface="Arial" pitchFamily="34" charset="0"/>
                          <a:ea typeface="Arial" pitchFamily="34" charset="-122"/>
                          <a:cs typeface="Arial" pitchFamily="34" charset="-120"/>
                        </a:rPr>
                        <a:t>Simple</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9F8F7"/>
                    </a:solidFill>
                  </a:tcPr>
                </a:tc>
                <a:tc>
                  <a:txBody>
                    <a:bodyPr/>
                    <a:lstStyle/>
                    <a:p>
                      <a:pPr marL="0" indent="0" algn="ctr">
                        <a:buNone/>
                      </a:pPr>
                      <a:r>
                        <a:rPr lang="en-US" sz="1300" b="1" dirty="0">
                          <a:solidFill>
                            <a:srgbClr val="36312D"/>
                          </a:solidFill>
                          <a:latin typeface="Arial" pitchFamily="34" charset="0"/>
                          <a:ea typeface="Arial" pitchFamily="34" charset="-122"/>
                          <a:cs typeface="Arial" pitchFamily="34" charset="-120"/>
                        </a:rPr>
                        <a:t>Mark bays in minutes</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E3F7EC"/>
                    </a:solidFill>
                  </a:tcPr>
                </a:tc>
                <a:extLst>
                  <a:ext uri="{0D108BD9-81ED-4DB2-BD59-A6C34878D82A}">
                    <a16:rowId xmlns:a16="http://schemas.microsoft.com/office/drawing/2014/main" val="10004"/>
                  </a:ext>
                </a:extLst>
              </a:tr>
              <a:tr h="548640">
                <a:tc>
                  <a:txBody>
                    <a:bodyPr/>
                    <a:lstStyle/>
                    <a:p>
                      <a:pPr marL="0" indent="0">
                        <a:buNone/>
                      </a:pPr>
                      <a:r>
                        <a:rPr lang="en-US" sz="1300" b="1" dirty="0">
                          <a:solidFill>
                            <a:srgbClr val="36312D"/>
                          </a:solidFill>
                          <a:latin typeface="Arial" pitchFamily="34" charset="0"/>
                          <a:ea typeface="Arial" pitchFamily="34" charset="-122"/>
                          <a:cs typeface="Arial" pitchFamily="34" charset="-120"/>
                        </a:rPr>
                        <a:t>Extra insight</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79736E"/>
                          </a:solidFill>
                          <a:latin typeface="Arial" pitchFamily="34" charset="0"/>
                          <a:ea typeface="Arial" pitchFamily="34" charset="-122"/>
                          <a:cs typeface="Arial" pitchFamily="34" charset="-120"/>
                        </a:rPr>
                        <a:t>Occupancy only</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79736E"/>
                          </a:solidFill>
                          <a:latin typeface="Arial" pitchFamily="34" charset="0"/>
                          <a:ea typeface="Arial" pitchFamily="34" charset="-122"/>
                          <a:cs typeface="Arial" pitchFamily="34" charset="-120"/>
                        </a:rPr>
                        <a:t>Count only</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36312D"/>
                          </a:solidFill>
                          <a:latin typeface="Arial" pitchFamily="34" charset="0"/>
                          <a:ea typeface="Arial" pitchFamily="34" charset="-122"/>
                          <a:cs typeface="Arial" pitchFamily="34" charset="-120"/>
                        </a:rPr>
                        <a:t>Vehicle type, analytics</a:t>
                      </a:r>
                      <a:endParaRPr lang="en-US" sz="1300" dirty="0">
                        <a:latin typeface="Arial" charset="0"/>
                        <a:ea typeface="Arial" charset="0"/>
                        <a:cs typeface="Arial" charset="0"/>
                      </a:endParaRPr>
                    </a:p>
                  </a:txBody>
                  <a:tcPr marL="109728" marR="109728" anchor="ctr">
                    <a:lnL w="6350" cap="flat" cmpd="sng" algn="ctr">
                      <a:solidFill>
                        <a:srgbClr val="EAE7E4"/>
                      </a:solidFill>
                      <a:prstDash val="solid"/>
                      <a:round/>
                      <a:headEnd type="none" w="med" len="med"/>
                      <a:tailEnd type="none" w="med" len="med"/>
                    </a:lnL>
                    <a:lnR w="6350" cap="flat" cmpd="sng" algn="ctr">
                      <a:solidFill>
                        <a:srgbClr val="EAE7E4"/>
                      </a:solidFill>
                      <a:prstDash val="solid"/>
                      <a:round/>
                      <a:headEnd type="none" w="med" len="med"/>
                      <a:tailEnd type="none" w="med" len="med"/>
                    </a:lnR>
                    <a:lnT w="6350" cap="flat" cmpd="sng" algn="ctr">
                      <a:solidFill>
                        <a:srgbClr val="EAE7E4"/>
                      </a:solidFill>
                      <a:prstDash val="solid"/>
                      <a:round/>
                      <a:headEnd type="none" w="med" len="med"/>
                      <a:tailEnd type="none" w="med" len="med"/>
                    </a:lnT>
                    <a:lnB w="6350" cap="flat" cmpd="sng" algn="ctr">
                      <a:solidFill>
                        <a:srgbClr val="EAE7E4"/>
                      </a:solidFill>
                      <a:prstDash val="solid"/>
                      <a:round/>
                      <a:headEnd type="none" w="med" len="med"/>
                      <a:tailEnd type="none" w="med" len="med"/>
                    </a:lnB>
                    <a:solidFill>
                      <a:srgbClr val="E3F7EC"/>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457200" y="4846320"/>
            <a:ext cx="5486400" cy="201168"/>
          </a:xfrm>
          <a:prstGeom prst="rect">
            <a:avLst/>
          </a:prstGeom>
          <a:noFill/>
          <a:ln/>
        </p:spPr>
        <p:txBody>
          <a:bodyPr wrap="square" lIns="0" tIns="0" rIns="0" bIns="0" rtlCol="0" anchor="t"/>
          <a:lstStyle/>
          <a:p>
            <a:r>
              <a:rPr lang="en-US" sz="1000" dirty="0" err="1">
                <a:solidFill>
                  <a:srgbClr val="79736E"/>
                </a:solidFill>
                <a:latin typeface="Arial" pitchFamily="34" charset="0"/>
                <a:ea typeface="Arial" pitchFamily="34" charset="-122"/>
                <a:cs typeface="Arial" pitchFamily="34" charset="-120"/>
              </a:rPr>
              <a:t>ParkSense</a:t>
            </a:r>
            <a:r>
              <a:rPr lang="en-US" sz="1000" dirty="0">
                <a:solidFill>
                  <a:srgbClr val="79736E"/>
                </a:solidFill>
                <a:latin typeface="Arial" pitchFamily="34" charset="0"/>
                <a:ea typeface="Arial" pitchFamily="34" charset="-122"/>
                <a:cs typeface="Arial" pitchFamily="34" charset="-120"/>
              </a:rPr>
              <a:t>   ·  Final Review</a:t>
            </a:r>
            <a:endParaRPr lang="en-US" sz="1000" dirty="0"/>
          </a:p>
        </p:txBody>
      </p:sp>
      <p:sp>
        <p:nvSpPr>
          <p:cNvPr id="5" name="Text 2"/>
          <p:cNvSpPr txBox="1"/>
          <p:nvPr/>
        </p:nvSpPr>
        <p:spPr>
          <a:xfrm>
            <a:off x="8229600" y="4846320"/>
            <a:ext cx="457200" cy="201168"/>
          </a:xfrm>
          <a:prstGeom prst="rect">
            <a:avLst/>
          </a:prstGeom>
          <a:noFill/>
          <a:ln/>
        </p:spPr>
        <p:txBody>
          <a:bodyPr wrap="square" lIns="0" tIns="0" rIns="0" bIns="0" rtlCol="0" anchor="t"/>
          <a:lstStyle/>
          <a:p>
            <a:pPr marL="0" indent="0" algn="r">
              <a:buNone/>
            </a:pPr>
            <a:r>
              <a:rPr lang="en-US" sz="1000" dirty="0">
                <a:solidFill>
                  <a:srgbClr val="79736E"/>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9F8F7"/>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ctr"/>
          <a:lstStyle/>
          <a:p>
            <a:pPr marL="0" indent="0">
              <a:buNone/>
            </a:pPr>
            <a:r>
              <a:rPr lang="en-US" sz="3400" b="1" dirty="0">
                <a:solidFill>
                  <a:srgbClr val="36312D"/>
                </a:solidFill>
                <a:latin typeface="Cambria" pitchFamily="34" charset="0"/>
                <a:ea typeface="Cambria" pitchFamily="34" charset="-122"/>
                <a:cs typeface="Cambria" pitchFamily="34" charset="-120"/>
              </a:rPr>
              <a:t>Challenges and mitigation</a:t>
            </a:r>
            <a:endParaRPr lang="en-US" sz="3400" dirty="0"/>
          </a:p>
        </p:txBody>
      </p:sp>
      <p:sp>
        <p:nvSpPr>
          <p:cNvPr id="3" name="Shape 1"/>
          <p:cNvSpPr/>
          <p:nvPr/>
        </p:nvSpPr>
        <p:spPr>
          <a:xfrm>
            <a:off x="457200" y="1188720"/>
            <a:ext cx="3291840" cy="749808"/>
          </a:xfrm>
          <a:prstGeom prst="roundRect">
            <a:avLst>
              <a:gd name="adj" fmla="val 9756"/>
            </a:avLst>
          </a:prstGeom>
          <a:solidFill>
            <a:srgbClr val="3A332E"/>
          </a:solidFill>
          <a:ln/>
        </p:spPr>
        <p:txBody>
          <a:bodyPr/>
          <a:lstStyle/>
          <a:p>
            <a:endParaRPr lang="en-IN"/>
          </a:p>
        </p:txBody>
      </p:sp>
      <p:sp>
        <p:nvSpPr>
          <p:cNvPr id="4" name="Shape 2"/>
          <p:cNvSpPr/>
          <p:nvPr/>
        </p:nvSpPr>
        <p:spPr>
          <a:xfrm>
            <a:off x="640080" y="1335024"/>
            <a:ext cx="457200" cy="457200"/>
          </a:xfrm>
          <a:prstGeom prst="ellipse">
            <a:avLst/>
          </a:prstGeom>
          <a:solidFill>
            <a:srgbClr val="1FBF75"/>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754380" y="1449324"/>
            <a:ext cx="228600" cy="228600"/>
          </a:xfrm>
          <a:prstGeom prst="rect">
            <a:avLst/>
          </a:prstGeom>
        </p:spPr>
      </p:pic>
      <p:sp>
        <p:nvSpPr>
          <p:cNvPr id="6" name="Text 3"/>
          <p:cNvSpPr txBox="1"/>
          <p:nvPr/>
        </p:nvSpPr>
        <p:spPr>
          <a:xfrm>
            <a:off x="1280160" y="1188720"/>
            <a:ext cx="2423160" cy="749808"/>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Occlusion and angles</a:t>
            </a:r>
            <a:endParaRPr lang="en-US" sz="1600" dirty="0"/>
          </a:p>
        </p:txBody>
      </p:sp>
      <p:sp>
        <p:nvSpPr>
          <p:cNvPr id="7" name="Shape 4"/>
          <p:cNvSpPr/>
          <p:nvPr/>
        </p:nvSpPr>
        <p:spPr>
          <a:xfrm>
            <a:off x="3840480" y="1453896"/>
            <a:ext cx="274320" cy="219456"/>
          </a:xfrm>
          <a:prstGeom prst="rightArrow">
            <a:avLst/>
          </a:prstGeom>
          <a:solidFill>
            <a:srgbClr val="F5A524"/>
          </a:solidFill>
          <a:ln/>
        </p:spPr>
        <p:txBody>
          <a:bodyPr/>
          <a:lstStyle/>
          <a:p>
            <a:endParaRPr lang="en-IN"/>
          </a:p>
        </p:txBody>
      </p:sp>
      <p:sp>
        <p:nvSpPr>
          <p:cNvPr id="8" name="Shape 5"/>
          <p:cNvSpPr/>
          <p:nvPr/>
        </p:nvSpPr>
        <p:spPr>
          <a:xfrm>
            <a:off x="4206240" y="1188720"/>
            <a:ext cx="4480560" cy="749808"/>
          </a:xfrm>
          <a:prstGeom prst="roundRect">
            <a:avLst>
              <a:gd name="adj" fmla="val 9756"/>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9" name="Text 6"/>
          <p:cNvSpPr txBox="1"/>
          <p:nvPr/>
        </p:nvSpPr>
        <p:spPr>
          <a:xfrm>
            <a:off x="4389120" y="1188720"/>
            <a:ext cx="4114800" cy="749808"/>
          </a:xfrm>
          <a:prstGeom prst="rect">
            <a:avLst/>
          </a:prstGeom>
          <a:noFill/>
          <a:ln/>
        </p:spPr>
        <p:txBody>
          <a:bodyPr wrap="square" lIns="0" tIns="0" rIns="0" bIns="0" rtlCol="0" anchor="ctr"/>
          <a:lstStyle/>
          <a:p>
            <a:pPr marL="0" indent="0">
              <a:buNone/>
            </a:pPr>
            <a:r>
              <a:rPr lang="en-US" sz="1400" dirty="0">
                <a:solidFill>
                  <a:srgbClr val="36312D"/>
                </a:solidFill>
                <a:latin typeface="Arial" pitchFamily="34" charset="0"/>
                <a:ea typeface="Arial" pitchFamily="34" charset="-122"/>
                <a:cs typeface="Arial" pitchFamily="34" charset="-120"/>
              </a:rPr>
              <a:t>Overhead mounting, overlapping cameras, per-bay polygons</a:t>
            </a:r>
            <a:endParaRPr lang="en-US" sz="1400" dirty="0"/>
          </a:p>
        </p:txBody>
      </p:sp>
      <p:sp>
        <p:nvSpPr>
          <p:cNvPr id="10" name="Shape 7"/>
          <p:cNvSpPr/>
          <p:nvPr/>
        </p:nvSpPr>
        <p:spPr>
          <a:xfrm>
            <a:off x="457200" y="2048256"/>
            <a:ext cx="3291840" cy="749808"/>
          </a:xfrm>
          <a:prstGeom prst="roundRect">
            <a:avLst>
              <a:gd name="adj" fmla="val 9756"/>
            </a:avLst>
          </a:prstGeom>
          <a:solidFill>
            <a:srgbClr val="3A332E"/>
          </a:solidFill>
          <a:ln/>
        </p:spPr>
        <p:txBody>
          <a:bodyPr/>
          <a:lstStyle/>
          <a:p>
            <a:endParaRPr lang="en-IN"/>
          </a:p>
        </p:txBody>
      </p:sp>
      <p:sp>
        <p:nvSpPr>
          <p:cNvPr id="11" name="Shape 8"/>
          <p:cNvSpPr/>
          <p:nvPr/>
        </p:nvSpPr>
        <p:spPr>
          <a:xfrm>
            <a:off x="640080" y="2194560"/>
            <a:ext cx="457200" cy="457200"/>
          </a:xfrm>
          <a:prstGeom prst="ellipse">
            <a:avLst/>
          </a:prstGeom>
          <a:solidFill>
            <a:srgbClr val="1FBF75"/>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754380" y="2308860"/>
            <a:ext cx="228600" cy="228600"/>
          </a:xfrm>
          <a:prstGeom prst="rect">
            <a:avLst/>
          </a:prstGeom>
        </p:spPr>
      </p:pic>
      <p:sp>
        <p:nvSpPr>
          <p:cNvPr id="13" name="Text 9"/>
          <p:cNvSpPr txBox="1"/>
          <p:nvPr/>
        </p:nvSpPr>
        <p:spPr>
          <a:xfrm>
            <a:off x="1280160" y="2048256"/>
            <a:ext cx="2423160" cy="749808"/>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Night and bad weather</a:t>
            </a:r>
            <a:endParaRPr lang="en-US" sz="1600" dirty="0"/>
          </a:p>
        </p:txBody>
      </p:sp>
      <p:sp>
        <p:nvSpPr>
          <p:cNvPr id="14" name="Shape 10"/>
          <p:cNvSpPr/>
          <p:nvPr/>
        </p:nvSpPr>
        <p:spPr>
          <a:xfrm>
            <a:off x="3840480" y="2313432"/>
            <a:ext cx="274320" cy="219456"/>
          </a:xfrm>
          <a:prstGeom prst="rightArrow">
            <a:avLst/>
          </a:prstGeom>
          <a:solidFill>
            <a:srgbClr val="F5A524"/>
          </a:solidFill>
          <a:ln/>
        </p:spPr>
        <p:txBody>
          <a:bodyPr/>
          <a:lstStyle/>
          <a:p>
            <a:endParaRPr lang="en-IN"/>
          </a:p>
        </p:txBody>
      </p:sp>
      <p:sp>
        <p:nvSpPr>
          <p:cNvPr id="15" name="Shape 11"/>
          <p:cNvSpPr/>
          <p:nvPr/>
        </p:nvSpPr>
        <p:spPr>
          <a:xfrm>
            <a:off x="4206240" y="2048256"/>
            <a:ext cx="4480560" cy="749808"/>
          </a:xfrm>
          <a:prstGeom prst="roundRect">
            <a:avLst>
              <a:gd name="adj" fmla="val 9756"/>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16" name="Text 12"/>
          <p:cNvSpPr txBox="1"/>
          <p:nvPr/>
        </p:nvSpPr>
        <p:spPr>
          <a:xfrm>
            <a:off x="4389120" y="2048256"/>
            <a:ext cx="4114800" cy="749808"/>
          </a:xfrm>
          <a:prstGeom prst="rect">
            <a:avLst/>
          </a:prstGeom>
          <a:noFill/>
          <a:ln/>
        </p:spPr>
        <p:txBody>
          <a:bodyPr wrap="square" lIns="0" tIns="0" rIns="0" bIns="0" rtlCol="0" anchor="ctr"/>
          <a:lstStyle/>
          <a:p>
            <a:pPr marL="0" indent="0">
              <a:buNone/>
            </a:pPr>
            <a:r>
              <a:rPr lang="en-US" sz="1400" dirty="0">
                <a:solidFill>
                  <a:srgbClr val="36312D"/>
                </a:solidFill>
                <a:latin typeface="Arial" pitchFamily="34" charset="0"/>
                <a:ea typeface="Arial" pitchFamily="34" charset="-122"/>
                <a:cs typeface="Arial" pitchFamily="34" charset="-120"/>
              </a:rPr>
              <a:t>Low-light or IR cameras, augmentation with night images</a:t>
            </a:r>
            <a:endParaRPr lang="en-US" sz="1400" dirty="0"/>
          </a:p>
        </p:txBody>
      </p:sp>
      <p:sp>
        <p:nvSpPr>
          <p:cNvPr id="17" name="Shape 13"/>
          <p:cNvSpPr/>
          <p:nvPr/>
        </p:nvSpPr>
        <p:spPr>
          <a:xfrm>
            <a:off x="457200" y="2907792"/>
            <a:ext cx="3291840" cy="749808"/>
          </a:xfrm>
          <a:prstGeom prst="roundRect">
            <a:avLst>
              <a:gd name="adj" fmla="val 9756"/>
            </a:avLst>
          </a:prstGeom>
          <a:solidFill>
            <a:srgbClr val="3A332E"/>
          </a:solidFill>
          <a:ln/>
        </p:spPr>
        <p:txBody>
          <a:bodyPr/>
          <a:lstStyle/>
          <a:p>
            <a:endParaRPr lang="en-IN"/>
          </a:p>
        </p:txBody>
      </p:sp>
      <p:sp>
        <p:nvSpPr>
          <p:cNvPr id="18" name="Shape 14"/>
          <p:cNvSpPr/>
          <p:nvPr/>
        </p:nvSpPr>
        <p:spPr>
          <a:xfrm>
            <a:off x="640080" y="3054096"/>
            <a:ext cx="457200" cy="457200"/>
          </a:xfrm>
          <a:prstGeom prst="ellipse">
            <a:avLst/>
          </a:prstGeom>
          <a:solidFill>
            <a:srgbClr val="1FBF75"/>
          </a:solidFill>
          <a:ln/>
        </p:spPr>
        <p:txBody>
          <a:bodyPr/>
          <a:lstStyle/>
          <a:p>
            <a:endParaRPr lang="en-IN"/>
          </a:p>
        </p:txBody>
      </p:sp>
      <p:pic>
        <p:nvPicPr>
          <p:cNvPr id="19" name="Image 2" descr="preencoded.png"/>
          <p:cNvPicPr>
            <a:picLocks noChangeAspect="1"/>
          </p:cNvPicPr>
          <p:nvPr/>
        </p:nvPicPr>
        <p:blipFill>
          <a:blip r:embed="rId5"/>
          <a:stretch>
            <a:fillRect/>
          </a:stretch>
        </p:blipFill>
        <p:spPr>
          <a:xfrm>
            <a:off x="754380" y="3168396"/>
            <a:ext cx="228600" cy="228600"/>
          </a:xfrm>
          <a:prstGeom prst="rect">
            <a:avLst/>
          </a:prstGeom>
        </p:spPr>
      </p:pic>
      <p:sp>
        <p:nvSpPr>
          <p:cNvPr id="20" name="Text 15"/>
          <p:cNvSpPr txBox="1"/>
          <p:nvPr/>
        </p:nvSpPr>
        <p:spPr>
          <a:xfrm>
            <a:off x="1280160" y="2907792"/>
            <a:ext cx="2423160" cy="749808"/>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Flicker and false hits</a:t>
            </a:r>
            <a:endParaRPr lang="en-US" sz="1600" dirty="0"/>
          </a:p>
        </p:txBody>
      </p:sp>
      <p:sp>
        <p:nvSpPr>
          <p:cNvPr id="21" name="Shape 16"/>
          <p:cNvSpPr/>
          <p:nvPr/>
        </p:nvSpPr>
        <p:spPr>
          <a:xfrm>
            <a:off x="3840480" y="3172968"/>
            <a:ext cx="274320" cy="219456"/>
          </a:xfrm>
          <a:prstGeom prst="rightArrow">
            <a:avLst/>
          </a:prstGeom>
          <a:solidFill>
            <a:srgbClr val="F5A524"/>
          </a:solidFill>
          <a:ln/>
        </p:spPr>
        <p:txBody>
          <a:bodyPr/>
          <a:lstStyle/>
          <a:p>
            <a:endParaRPr lang="en-IN"/>
          </a:p>
        </p:txBody>
      </p:sp>
      <p:sp>
        <p:nvSpPr>
          <p:cNvPr id="22" name="Shape 17"/>
          <p:cNvSpPr/>
          <p:nvPr/>
        </p:nvSpPr>
        <p:spPr>
          <a:xfrm>
            <a:off x="4206240" y="2907792"/>
            <a:ext cx="4480560" cy="749808"/>
          </a:xfrm>
          <a:prstGeom prst="roundRect">
            <a:avLst>
              <a:gd name="adj" fmla="val 9756"/>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23" name="Text 18"/>
          <p:cNvSpPr txBox="1"/>
          <p:nvPr/>
        </p:nvSpPr>
        <p:spPr>
          <a:xfrm>
            <a:off x="4389120" y="2907792"/>
            <a:ext cx="4114800" cy="749808"/>
          </a:xfrm>
          <a:prstGeom prst="rect">
            <a:avLst/>
          </a:prstGeom>
          <a:noFill/>
          <a:ln/>
        </p:spPr>
        <p:txBody>
          <a:bodyPr wrap="square" lIns="0" tIns="0" rIns="0" bIns="0" rtlCol="0" anchor="ctr"/>
          <a:lstStyle/>
          <a:p>
            <a:pPr marL="0" indent="0">
              <a:buNone/>
            </a:pPr>
            <a:r>
              <a:rPr lang="en-US" sz="1400" dirty="0">
                <a:solidFill>
                  <a:srgbClr val="36312D"/>
                </a:solidFill>
                <a:latin typeface="Arial" pitchFamily="34" charset="0"/>
                <a:ea typeface="Arial" pitchFamily="34" charset="-122"/>
                <a:cs typeface="Arial" pitchFamily="34" charset="-120"/>
              </a:rPr>
              <a:t>Confidence threshold plus majority vote over recent frames</a:t>
            </a:r>
            <a:endParaRPr lang="en-US" sz="1400" dirty="0"/>
          </a:p>
        </p:txBody>
      </p:sp>
      <p:sp>
        <p:nvSpPr>
          <p:cNvPr id="24" name="Shape 19"/>
          <p:cNvSpPr/>
          <p:nvPr/>
        </p:nvSpPr>
        <p:spPr>
          <a:xfrm>
            <a:off x="457200" y="3767328"/>
            <a:ext cx="3291840" cy="749808"/>
          </a:xfrm>
          <a:prstGeom prst="roundRect">
            <a:avLst>
              <a:gd name="adj" fmla="val 9756"/>
            </a:avLst>
          </a:prstGeom>
          <a:solidFill>
            <a:srgbClr val="3A332E"/>
          </a:solidFill>
          <a:ln/>
        </p:spPr>
        <p:txBody>
          <a:bodyPr/>
          <a:lstStyle/>
          <a:p>
            <a:endParaRPr lang="en-IN"/>
          </a:p>
        </p:txBody>
      </p:sp>
      <p:sp>
        <p:nvSpPr>
          <p:cNvPr id="25" name="Shape 20"/>
          <p:cNvSpPr/>
          <p:nvPr/>
        </p:nvSpPr>
        <p:spPr>
          <a:xfrm>
            <a:off x="640080" y="3913632"/>
            <a:ext cx="457200" cy="457200"/>
          </a:xfrm>
          <a:prstGeom prst="ellipse">
            <a:avLst/>
          </a:prstGeom>
          <a:solidFill>
            <a:srgbClr val="1FBF75"/>
          </a:solidFill>
          <a:ln/>
        </p:spPr>
        <p:txBody>
          <a:bodyPr/>
          <a:lstStyle/>
          <a:p>
            <a:endParaRPr lang="en-IN"/>
          </a:p>
        </p:txBody>
      </p:sp>
      <p:pic>
        <p:nvPicPr>
          <p:cNvPr id="26" name="Image 3" descr="preencoded.png"/>
          <p:cNvPicPr>
            <a:picLocks noChangeAspect="1"/>
          </p:cNvPicPr>
          <p:nvPr/>
        </p:nvPicPr>
        <p:blipFill>
          <a:blip r:embed="rId6"/>
          <a:stretch>
            <a:fillRect/>
          </a:stretch>
        </p:blipFill>
        <p:spPr>
          <a:xfrm>
            <a:off x="754380" y="4027932"/>
            <a:ext cx="228600" cy="228600"/>
          </a:xfrm>
          <a:prstGeom prst="rect">
            <a:avLst/>
          </a:prstGeom>
        </p:spPr>
      </p:pic>
      <p:sp>
        <p:nvSpPr>
          <p:cNvPr id="27" name="Text 21"/>
          <p:cNvSpPr txBox="1"/>
          <p:nvPr/>
        </p:nvSpPr>
        <p:spPr>
          <a:xfrm>
            <a:off x="1280160" y="3767328"/>
            <a:ext cx="2423160" cy="749808"/>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Privacy</a:t>
            </a:r>
            <a:endParaRPr lang="en-US" sz="1600" dirty="0"/>
          </a:p>
        </p:txBody>
      </p:sp>
      <p:sp>
        <p:nvSpPr>
          <p:cNvPr id="28" name="Shape 22"/>
          <p:cNvSpPr/>
          <p:nvPr/>
        </p:nvSpPr>
        <p:spPr>
          <a:xfrm>
            <a:off x="3840480" y="4032504"/>
            <a:ext cx="274320" cy="219456"/>
          </a:xfrm>
          <a:prstGeom prst="rightArrow">
            <a:avLst/>
          </a:prstGeom>
          <a:solidFill>
            <a:srgbClr val="F5A524"/>
          </a:solidFill>
          <a:ln/>
        </p:spPr>
        <p:txBody>
          <a:bodyPr/>
          <a:lstStyle/>
          <a:p>
            <a:endParaRPr lang="en-IN"/>
          </a:p>
        </p:txBody>
      </p:sp>
      <p:sp>
        <p:nvSpPr>
          <p:cNvPr id="29" name="Shape 23"/>
          <p:cNvSpPr/>
          <p:nvPr/>
        </p:nvSpPr>
        <p:spPr>
          <a:xfrm>
            <a:off x="4206240" y="3767328"/>
            <a:ext cx="4480560" cy="749808"/>
          </a:xfrm>
          <a:prstGeom prst="roundRect">
            <a:avLst>
              <a:gd name="adj" fmla="val 9756"/>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30" name="Text 24"/>
          <p:cNvSpPr txBox="1"/>
          <p:nvPr/>
        </p:nvSpPr>
        <p:spPr>
          <a:xfrm>
            <a:off x="4389120" y="3767328"/>
            <a:ext cx="4114800" cy="749808"/>
          </a:xfrm>
          <a:prstGeom prst="rect">
            <a:avLst/>
          </a:prstGeom>
          <a:noFill/>
          <a:ln/>
        </p:spPr>
        <p:txBody>
          <a:bodyPr wrap="square" lIns="0" tIns="0" rIns="0" bIns="0" rtlCol="0" anchor="ctr"/>
          <a:lstStyle/>
          <a:p>
            <a:pPr marL="0" indent="0">
              <a:buNone/>
            </a:pPr>
            <a:r>
              <a:rPr lang="en-US" sz="1400" dirty="0">
                <a:solidFill>
                  <a:srgbClr val="36312D"/>
                </a:solidFill>
                <a:latin typeface="Arial" pitchFamily="34" charset="0"/>
                <a:ea typeface="Arial" pitchFamily="34" charset="-122"/>
                <a:cs typeface="Arial" pitchFamily="34" charset="-120"/>
              </a:rPr>
              <a:t>Process locally; only slot status is shared, no plates stored</a:t>
            </a:r>
            <a:endParaRPr lang="en-US" sz="1400" dirty="0"/>
          </a:p>
        </p:txBody>
      </p:sp>
      <p:sp>
        <p:nvSpPr>
          <p:cNvPr id="31" name="Text 25"/>
          <p:cNvSpPr txBox="1"/>
          <p:nvPr/>
        </p:nvSpPr>
        <p:spPr>
          <a:xfrm>
            <a:off x="457200" y="4846320"/>
            <a:ext cx="5486400" cy="201168"/>
          </a:xfrm>
          <a:prstGeom prst="rect">
            <a:avLst/>
          </a:prstGeom>
          <a:noFill/>
          <a:ln/>
        </p:spPr>
        <p:txBody>
          <a:bodyPr wrap="square" lIns="0" tIns="0" rIns="0" bIns="0" rtlCol="0" anchor="t"/>
          <a:lstStyle/>
          <a:p>
            <a:r>
              <a:rPr lang="en-US" sz="1000" dirty="0" err="1">
                <a:solidFill>
                  <a:srgbClr val="79736E"/>
                </a:solidFill>
                <a:latin typeface="Arial" pitchFamily="34" charset="0"/>
                <a:ea typeface="Arial" pitchFamily="34" charset="-122"/>
                <a:cs typeface="Arial" pitchFamily="34" charset="-120"/>
              </a:rPr>
              <a:t>ParkSense</a:t>
            </a:r>
            <a:r>
              <a:rPr lang="en-US" sz="1000" dirty="0">
                <a:solidFill>
                  <a:srgbClr val="79736E"/>
                </a:solidFill>
                <a:latin typeface="Arial" pitchFamily="34" charset="0"/>
                <a:ea typeface="Arial" pitchFamily="34" charset="-122"/>
                <a:cs typeface="Arial" pitchFamily="34" charset="-120"/>
              </a:rPr>
              <a:t>   ·  Final Review</a:t>
            </a:r>
            <a:endParaRPr lang="en-US" sz="1000" dirty="0"/>
          </a:p>
        </p:txBody>
      </p:sp>
      <p:sp>
        <p:nvSpPr>
          <p:cNvPr id="32" name="Text 26"/>
          <p:cNvSpPr txBox="1"/>
          <p:nvPr/>
        </p:nvSpPr>
        <p:spPr>
          <a:xfrm>
            <a:off x="8229600" y="4846320"/>
            <a:ext cx="457200" cy="201168"/>
          </a:xfrm>
          <a:prstGeom prst="rect">
            <a:avLst/>
          </a:prstGeom>
          <a:noFill/>
          <a:ln/>
        </p:spPr>
        <p:txBody>
          <a:bodyPr wrap="square" lIns="0" tIns="0" rIns="0" bIns="0" rtlCol="0" anchor="t"/>
          <a:lstStyle/>
          <a:p>
            <a:pPr marL="0" indent="0" algn="r">
              <a:buNone/>
            </a:pPr>
            <a:r>
              <a:rPr lang="en-US" sz="1000" dirty="0">
                <a:solidFill>
                  <a:srgbClr val="79736E"/>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9F8F7"/>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ctr"/>
          <a:lstStyle/>
          <a:p>
            <a:pPr marL="0" indent="0">
              <a:buNone/>
            </a:pPr>
            <a:r>
              <a:rPr lang="en-US" sz="3400" b="1" dirty="0">
                <a:solidFill>
                  <a:srgbClr val="36312D"/>
                </a:solidFill>
                <a:latin typeface="Cambria" pitchFamily="34" charset="0"/>
                <a:ea typeface="Cambria" pitchFamily="34" charset="-122"/>
                <a:cs typeface="Cambria" pitchFamily="34" charset="-120"/>
              </a:rPr>
              <a:t>Plan to the final demo</a:t>
            </a:r>
            <a:endParaRPr lang="en-US" sz="3400" dirty="0"/>
          </a:p>
        </p:txBody>
      </p:sp>
      <p:sp>
        <p:nvSpPr>
          <p:cNvPr id="3" name="Shape 1"/>
          <p:cNvSpPr/>
          <p:nvPr/>
        </p:nvSpPr>
        <p:spPr>
          <a:xfrm>
            <a:off x="685800" y="1508760"/>
            <a:ext cx="6309360" cy="0"/>
          </a:xfrm>
          <a:prstGeom prst="line">
            <a:avLst/>
          </a:prstGeom>
          <a:noFill/>
          <a:ln w="25400">
            <a:solidFill>
              <a:srgbClr val="EAE7E4"/>
            </a:solidFill>
            <a:prstDash val="solid"/>
          </a:ln>
        </p:spPr>
        <p:txBody>
          <a:bodyPr/>
          <a:lstStyle/>
          <a:p>
            <a:endParaRPr lang="en-IN"/>
          </a:p>
        </p:txBody>
      </p:sp>
      <p:sp>
        <p:nvSpPr>
          <p:cNvPr id="4" name="Text 2"/>
          <p:cNvSpPr txBox="1"/>
          <p:nvPr/>
        </p:nvSpPr>
        <p:spPr>
          <a:xfrm>
            <a:off x="457200" y="1280160"/>
            <a:ext cx="457200" cy="457200"/>
          </a:xfrm>
          <a:prstGeom prst="ellipse">
            <a:avLst/>
          </a:prstGeom>
          <a:solidFill>
            <a:srgbClr val="1FBF75"/>
          </a:solidFill>
          <a:ln/>
        </p:spPr>
        <p:txBody>
          <a:bodyPr wrap="square" lIns="0" tIns="0" rIns="0" bIns="0" rtlCol="0" anchor="ctr"/>
          <a:lstStyle/>
          <a:p>
            <a:pPr marL="0" indent="0" algn="ctr">
              <a:buNone/>
            </a:pPr>
            <a:r>
              <a:rPr lang="en-US" sz="1400" b="1" dirty="0">
                <a:solidFill>
                  <a:srgbClr val="26211E"/>
                </a:solidFill>
                <a:latin typeface="Arial" pitchFamily="34" charset="0"/>
                <a:ea typeface="Arial" pitchFamily="34" charset="-122"/>
                <a:cs typeface="Arial" pitchFamily="34" charset="-120"/>
              </a:rPr>
              <a:t>1</a:t>
            </a:r>
            <a:endParaRPr lang="en-US" sz="1400" dirty="0"/>
          </a:p>
        </p:txBody>
      </p:sp>
      <p:sp>
        <p:nvSpPr>
          <p:cNvPr id="5" name="Shape 3"/>
          <p:cNvSpPr/>
          <p:nvPr/>
        </p:nvSpPr>
        <p:spPr>
          <a:xfrm>
            <a:off x="457200" y="2011680"/>
            <a:ext cx="1920240" cy="1691640"/>
          </a:xfrm>
          <a:prstGeom prst="roundRect">
            <a:avLst>
              <a:gd name="adj" fmla="val 4324"/>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6" name="Text 4"/>
          <p:cNvSpPr txBox="1"/>
          <p:nvPr/>
        </p:nvSpPr>
        <p:spPr>
          <a:xfrm>
            <a:off x="640080" y="2148840"/>
            <a:ext cx="1554480" cy="201168"/>
          </a:xfrm>
          <a:prstGeom prst="rect">
            <a:avLst/>
          </a:prstGeom>
          <a:noFill/>
          <a:ln/>
        </p:spPr>
        <p:txBody>
          <a:bodyPr wrap="square" lIns="0" tIns="0" rIns="0" bIns="0" rtlCol="0" anchor="t"/>
          <a:lstStyle/>
          <a:p>
            <a:pPr marL="0" indent="0">
              <a:buNone/>
            </a:pPr>
            <a:r>
              <a:rPr lang="en-US" sz="1100" b="1" kern="0" spc="200" dirty="0">
                <a:solidFill>
                  <a:srgbClr val="138A52"/>
                </a:solidFill>
                <a:latin typeface="Arial" pitchFamily="34" charset="0"/>
                <a:ea typeface="Arial" pitchFamily="34" charset="-122"/>
                <a:cs typeface="Arial" pitchFamily="34" charset="-120"/>
              </a:rPr>
              <a:t>PHASE 1</a:t>
            </a:r>
            <a:endParaRPr lang="en-US" sz="1100" dirty="0"/>
          </a:p>
        </p:txBody>
      </p:sp>
      <p:sp>
        <p:nvSpPr>
          <p:cNvPr id="7" name="Text 5"/>
          <p:cNvSpPr txBox="1"/>
          <p:nvPr/>
        </p:nvSpPr>
        <p:spPr>
          <a:xfrm>
            <a:off x="640080" y="2377440"/>
            <a:ext cx="1554480" cy="292608"/>
          </a:xfrm>
          <a:prstGeom prst="rect">
            <a:avLst/>
          </a:prstGeom>
          <a:noFill/>
          <a:ln/>
        </p:spPr>
        <p:txBody>
          <a:bodyPr wrap="square" lIns="0" tIns="0" rIns="0" bIns="0" rtlCol="0" anchor="t"/>
          <a:lstStyle/>
          <a:p>
            <a:pPr marL="0" indent="0">
              <a:buNone/>
            </a:pPr>
            <a:r>
              <a:rPr lang="en-US" sz="1700" b="1" dirty="0">
                <a:solidFill>
                  <a:srgbClr val="36312D"/>
                </a:solidFill>
                <a:latin typeface="Arial" pitchFamily="34" charset="0"/>
                <a:ea typeface="Arial" pitchFamily="34" charset="-122"/>
                <a:cs typeface="Arial" pitchFamily="34" charset="-120"/>
              </a:rPr>
              <a:t>Review 1</a:t>
            </a:r>
            <a:endParaRPr lang="en-US" sz="1700" dirty="0"/>
          </a:p>
        </p:txBody>
      </p:sp>
      <p:sp>
        <p:nvSpPr>
          <p:cNvPr id="8" name="Text 6"/>
          <p:cNvSpPr txBox="1"/>
          <p:nvPr/>
        </p:nvSpPr>
        <p:spPr>
          <a:xfrm>
            <a:off x="640080" y="2743200"/>
            <a:ext cx="1600200" cy="9144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79736E"/>
                </a:solidFill>
                <a:latin typeface="Arial" pitchFamily="34" charset="0"/>
                <a:ea typeface="Arial" pitchFamily="34" charset="-122"/>
                <a:cs typeface="Arial" pitchFamily="34" charset="-120"/>
              </a:rPr>
              <a:t>Problem analysis</a:t>
            </a:r>
            <a:endParaRPr lang="en-US" sz="1300" dirty="0"/>
          </a:p>
          <a:p>
            <a:pPr marL="342900" indent="-342900">
              <a:spcAft>
                <a:spcPts val="400"/>
              </a:spcAft>
              <a:buSzPct val="100000"/>
              <a:buChar char="•"/>
            </a:pPr>
            <a:r>
              <a:rPr lang="en-US" sz="1300" dirty="0">
                <a:solidFill>
                  <a:srgbClr val="79736E"/>
                </a:solidFill>
                <a:latin typeface="Arial" pitchFamily="34" charset="0"/>
                <a:ea typeface="Arial" pitchFamily="34" charset="-122"/>
                <a:cs typeface="Arial" pitchFamily="34" charset="-120"/>
              </a:rPr>
              <a:t>Pipeline design</a:t>
            </a:r>
            <a:endParaRPr lang="en-US" sz="1300" dirty="0"/>
          </a:p>
          <a:p>
            <a:pPr marL="342900" indent="-342900">
              <a:spcAft>
                <a:spcPts val="400"/>
              </a:spcAft>
              <a:buSzPct val="100000"/>
              <a:buChar char="•"/>
            </a:pPr>
            <a:r>
              <a:rPr lang="en-US" sz="1300" dirty="0">
                <a:solidFill>
                  <a:srgbClr val="79736E"/>
                </a:solidFill>
                <a:latin typeface="Arial" pitchFamily="34" charset="0"/>
                <a:ea typeface="Arial" pitchFamily="34" charset="-122"/>
                <a:cs typeface="Arial" pitchFamily="34" charset="-120"/>
              </a:rPr>
              <a:t>Model choice</a:t>
            </a:r>
            <a:endParaRPr lang="en-US" sz="1300" dirty="0"/>
          </a:p>
        </p:txBody>
      </p:sp>
      <p:sp>
        <p:nvSpPr>
          <p:cNvPr id="9" name="Text 7"/>
          <p:cNvSpPr txBox="1"/>
          <p:nvPr/>
        </p:nvSpPr>
        <p:spPr>
          <a:xfrm>
            <a:off x="2560320" y="1280160"/>
            <a:ext cx="457200" cy="457200"/>
          </a:xfrm>
          <a:prstGeom prst="ellipse">
            <a:avLst/>
          </a:prstGeom>
          <a:solidFill>
            <a:srgbClr val="3A332E"/>
          </a:solid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Shape 8"/>
          <p:cNvSpPr/>
          <p:nvPr/>
        </p:nvSpPr>
        <p:spPr>
          <a:xfrm>
            <a:off x="2560320" y="2011680"/>
            <a:ext cx="1920240" cy="1691640"/>
          </a:xfrm>
          <a:prstGeom prst="roundRect">
            <a:avLst>
              <a:gd name="adj" fmla="val 4324"/>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11" name="Text 9"/>
          <p:cNvSpPr txBox="1"/>
          <p:nvPr/>
        </p:nvSpPr>
        <p:spPr>
          <a:xfrm>
            <a:off x="2743200" y="2148840"/>
            <a:ext cx="1554480" cy="201168"/>
          </a:xfrm>
          <a:prstGeom prst="rect">
            <a:avLst/>
          </a:prstGeom>
          <a:noFill/>
          <a:ln/>
        </p:spPr>
        <p:txBody>
          <a:bodyPr wrap="square" lIns="0" tIns="0" rIns="0" bIns="0" rtlCol="0" anchor="t"/>
          <a:lstStyle/>
          <a:p>
            <a:pPr marL="0" indent="0">
              <a:buNone/>
            </a:pPr>
            <a:r>
              <a:rPr lang="en-US" sz="1100" b="1" kern="0" spc="200" dirty="0">
                <a:solidFill>
                  <a:srgbClr val="138A52"/>
                </a:solidFill>
                <a:latin typeface="Arial" pitchFamily="34" charset="0"/>
                <a:ea typeface="Arial" pitchFamily="34" charset="-122"/>
                <a:cs typeface="Arial" pitchFamily="34" charset="-120"/>
              </a:rPr>
              <a:t>PHASE 2</a:t>
            </a:r>
            <a:endParaRPr lang="en-US" sz="1100" dirty="0"/>
          </a:p>
        </p:txBody>
      </p:sp>
      <p:sp>
        <p:nvSpPr>
          <p:cNvPr id="12" name="Text 10"/>
          <p:cNvSpPr txBox="1"/>
          <p:nvPr/>
        </p:nvSpPr>
        <p:spPr>
          <a:xfrm>
            <a:off x="2743200" y="2377440"/>
            <a:ext cx="1554480" cy="292608"/>
          </a:xfrm>
          <a:prstGeom prst="rect">
            <a:avLst/>
          </a:prstGeom>
          <a:noFill/>
          <a:ln/>
        </p:spPr>
        <p:txBody>
          <a:bodyPr wrap="square" lIns="0" tIns="0" rIns="0" bIns="0" rtlCol="0" anchor="t"/>
          <a:lstStyle/>
          <a:p>
            <a:pPr marL="0" indent="0">
              <a:buNone/>
            </a:pPr>
            <a:r>
              <a:rPr lang="en-US" sz="1700" b="1" dirty="0">
                <a:solidFill>
                  <a:srgbClr val="36312D"/>
                </a:solidFill>
                <a:latin typeface="Arial" pitchFamily="34" charset="0"/>
                <a:ea typeface="Arial" pitchFamily="34" charset="-122"/>
                <a:cs typeface="Arial" pitchFamily="34" charset="-120"/>
              </a:rPr>
              <a:t>Detect</a:t>
            </a:r>
            <a:endParaRPr lang="en-US" sz="1700" dirty="0"/>
          </a:p>
        </p:txBody>
      </p:sp>
      <p:sp>
        <p:nvSpPr>
          <p:cNvPr id="13" name="Text 11"/>
          <p:cNvSpPr txBox="1"/>
          <p:nvPr/>
        </p:nvSpPr>
        <p:spPr>
          <a:xfrm>
            <a:off x="2743200" y="2743200"/>
            <a:ext cx="1600200" cy="9144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79736E"/>
                </a:solidFill>
                <a:latin typeface="Arial" pitchFamily="34" charset="0"/>
                <a:ea typeface="Arial" pitchFamily="34" charset="-122"/>
                <a:cs typeface="Arial" pitchFamily="34" charset="-120"/>
              </a:rPr>
              <a:t>Slot marking tool</a:t>
            </a:r>
            <a:endParaRPr lang="en-US" sz="1300" dirty="0"/>
          </a:p>
          <a:p>
            <a:pPr marL="342900" indent="-342900">
              <a:spcAft>
                <a:spcPts val="400"/>
              </a:spcAft>
              <a:buSzPct val="100000"/>
              <a:buChar char="•"/>
            </a:pPr>
            <a:r>
              <a:rPr lang="en-US" sz="1300" dirty="0">
                <a:solidFill>
                  <a:srgbClr val="79736E"/>
                </a:solidFill>
                <a:latin typeface="Arial" pitchFamily="34" charset="0"/>
                <a:ea typeface="Arial" pitchFamily="34" charset="-122"/>
                <a:cs typeface="Arial" pitchFamily="34" charset="-120"/>
              </a:rPr>
              <a:t>YOLO on video</a:t>
            </a:r>
            <a:endParaRPr lang="en-US" sz="1300" dirty="0"/>
          </a:p>
          <a:p>
            <a:pPr marL="342900" indent="-342900">
              <a:spcAft>
                <a:spcPts val="400"/>
              </a:spcAft>
              <a:buSzPct val="100000"/>
              <a:buChar char="•"/>
            </a:pPr>
            <a:r>
              <a:rPr lang="en-US" sz="1300" dirty="0">
                <a:solidFill>
                  <a:srgbClr val="79736E"/>
                </a:solidFill>
                <a:latin typeface="Arial" pitchFamily="34" charset="0"/>
                <a:ea typeface="Arial" pitchFamily="34" charset="-122"/>
                <a:cs typeface="Arial" pitchFamily="34" charset="-120"/>
              </a:rPr>
              <a:t>Occupancy logic</a:t>
            </a:r>
            <a:endParaRPr lang="en-US" sz="1300" dirty="0"/>
          </a:p>
        </p:txBody>
      </p:sp>
      <p:sp>
        <p:nvSpPr>
          <p:cNvPr id="14" name="Text 12"/>
          <p:cNvSpPr txBox="1"/>
          <p:nvPr/>
        </p:nvSpPr>
        <p:spPr>
          <a:xfrm>
            <a:off x="4663440" y="1280160"/>
            <a:ext cx="457200" cy="457200"/>
          </a:xfrm>
          <a:prstGeom prst="ellipse">
            <a:avLst/>
          </a:prstGeom>
          <a:solidFill>
            <a:srgbClr val="3A332E"/>
          </a:solid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Shape 13"/>
          <p:cNvSpPr/>
          <p:nvPr/>
        </p:nvSpPr>
        <p:spPr>
          <a:xfrm>
            <a:off x="4663440" y="2011680"/>
            <a:ext cx="1920240" cy="1691640"/>
          </a:xfrm>
          <a:prstGeom prst="roundRect">
            <a:avLst>
              <a:gd name="adj" fmla="val 4324"/>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16" name="Text 14"/>
          <p:cNvSpPr txBox="1"/>
          <p:nvPr/>
        </p:nvSpPr>
        <p:spPr>
          <a:xfrm>
            <a:off x="4846320" y="2148840"/>
            <a:ext cx="1554480" cy="201168"/>
          </a:xfrm>
          <a:prstGeom prst="rect">
            <a:avLst/>
          </a:prstGeom>
          <a:noFill/>
          <a:ln/>
        </p:spPr>
        <p:txBody>
          <a:bodyPr wrap="square" lIns="0" tIns="0" rIns="0" bIns="0" rtlCol="0" anchor="t"/>
          <a:lstStyle/>
          <a:p>
            <a:pPr marL="0" indent="0">
              <a:buNone/>
            </a:pPr>
            <a:r>
              <a:rPr lang="en-US" sz="1100" b="1" kern="0" spc="200" dirty="0">
                <a:solidFill>
                  <a:srgbClr val="138A52"/>
                </a:solidFill>
                <a:latin typeface="Arial" pitchFamily="34" charset="0"/>
                <a:ea typeface="Arial" pitchFamily="34" charset="-122"/>
                <a:cs typeface="Arial" pitchFamily="34" charset="-120"/>
              </a:rPr>
              <a:t>PHASE 3</a:t>
            </a:r>
            <a:endParaRPr lang="en-US" sz="1100" dirty="0"/>
          </a:p>
        </p:txBody>
      </p:sp>
      <p:sp>
        <p:nvSpPr>
          <p:cNvPr id="17" name="Text 15"/>
          <p:cNvSpPr txBox="1"/>
          <p:nvPr/>
        </p:nvSpPr>
        <p:spPr>
          <a:xfrm>
            <a:off x="4846320" y="2377440"/>
            <a:ext cx="1554480" cy="292608"/>
          </a:xfrm>
          <a:prstGeom prst="rect">
            <a:avLst/>
          </a:prstGeom>
          <a:noFill/>
          <a:ln/>
        </p:spPr>
        <p:txBody>
          <a:bodyPr wrap="square" lIns="0" tIns="0" rIns="0" bIns="0" rtlCol="0" anchor="t"/>
          <a:lstStyle/>
          <a:p>
            <a:pPr marL="0" indent="0">
              <a:buNone/>
            </a:pPr>
            <a:r>
              <a:rPr lang="en-US" sz="1700" b="1" dirty="0">
                <a:solidFill>
                  <a:srgbClr val="36312D"/>
                </a:solidFill>
                <a:latin typeface="Arial" pitchFamily="34" charset="0"/>
                <a:ea typeface="Arial" pitchFamily="34" charset="-122"/>
                <a:cs typeface="Arial" pitchFamily="34" charset="-120"/>
              </a:rPr>
              <a:t>Connect</a:t>
            </a:r>
            <a:endParaRPr lang="en-US" sz="1700" dirty="0"/>
          </a:p>
        </p:txBody>
      </p:sp>
      <p:sp>
        <p:nvSpPr>
          <p:cNvPr id="18" name="Text 16"/>
          <p:cNvSpPr txBox="1"/>
          <p:nvPr/>
        </p:nvSpPr>
        <p:spPr>
          <a:xfrm>
            <a:off x="4846320" y="2743200"/>
            <a:ext cx="1600200" cy="9144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79736E"/>
                </a:solidFill>
                <a:latin typeface="Arial" pitchFamily="34" charset="0"/>
                <a:ea typeface="Arial" pitchFamily="34" charset="-122"/>
                <a:cs typeface="Arial" pitchFamily="34" charset="-120"/>
              </a:rPr>
              <a:t>FastAPI backend</a:t>
            </a:r>
            <a:endParaRPr lang="en-US" sz="1300" dirty="0"/>
          </a:p>
          <a:p>
            <a:pPr marL="342900" indent="-342900">
              <a:spcAft>
                <a:spcPts val="400"/>
              </a:spcAft>
              <a:buSzPct val="100000"/>
              <a:buChar char="•"/>
            </a:pPr>
            <a:r>
              <a:rPr lang="en-US" sz="1300" dirty="0">
                <a:solidFill>
                  <a:srgbClr val="79736E"/>
                </a:solidFill>
                <a:latin typeface="Arial" pitchFamily="34" charset="0"/>
                <a:ea typeface="Arial" pitchFamily="34" charset="-122"/>
                <a:cs typeface="Arial" pitchFamily="34" charset="-120"/>
              </a:rPr>
              <a:t>Web dashboard</a:t>
            </a:r>
            <a:endParaRPr lang="en-US" sz="1300" dirty="0"/>
          </a:p>
          <a:p>
            <a:pPr marL="342900" indent="-342900">
              <a:spcAft>
                <a:spcPts val="400"/>
              </a:spcAft>
              <a:buSzPct val="100000"/>
              <a:buChar char="•"/>
            </a:pPr>
            <a:r>
              <a:rPr lang="en-US" sz="1300" dirty="0">
                <a:solidFill>
                  <a:srgbClr val="79736E"/>
                </a:solidFill>
                <a:latin typeface="Arial" pitchFamily="34" charset="0"/>
                <a:ea typeface="Arial" pitchFamily="34" charset="-122"/>
                <a:cs typeface="Arial" pitchFamily="34" charset="-120"/>
              </a:rPr>
              <a:t>Route finding</a:t>
            </a:r>
            <a:endParaRPr lang="en-US" sz="1300" dirty="0"/>
          </a:p>
        </p:txBody>
      </p:sp>
      <p:sp>
        <p:nvSpPr>
          <p:cNvPr id="19" name="Text 17"/>
          <p:cNvSpPr txBox="1"/>
          <p:nvPr/>
        </p:nvSpPr>
        <p:spPr>
          <a:xfrm>
            <a:off x="6766560" y="1280160"/>
            <a:ext cx="457200" cy="457200"/>
          </a:xfrm>
          <a:prstGeom prst="ellipse">
            <a:avLst/>
          </a:prstGeom>
          <a:solidFill>
            <a:srgbClr val="3A332E"/>
          </a:solid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0" name="Shape 18"/>
          <p:cNvSpPr/>
          <p:nvPr/>
        </p:nvSpPr>
        <p:spPr>
          <a:xfrm>
            <a:off x="6766560" y="2011680"/>
            <a:ext cx="1920240" cy="1691640"/>
          </a:xfrm>
          <a:prstGeom prst="roundRect">
            <a:avLst>
              <a:gd name="adj" fmla="val 4324"/>
            </a:avLst>
          </a:prstGeom>
          <a:solidFill>
            <a:srgbClr val="FFFFFF"/>
          </a:solidFill>
          <a:ln/>
          <a:effectLst>
            <a:outerShdw blurRad="101600" dist="25400" dir="5400000" algn="bl" rotWithShape="0">
              <a:srgbClr val="000000">
                <a:alpha val="12000"/>
              </a:srgbClr>
            </a:outerShdw>
          </a:effectLst>
        </p:spPr>
        <p:txBody>
          <a:bodyPr/>
          <a:lstStyle/>
          <a:p>
            <a:endParaRPr lang="en-IN"/>
          </a:p>
        </p:txBody>
      </p:sp>
      <p:sp>
        <p:nvSpPr>
          <p:cNvPr id="21" name="Text 19"/>
          <p:cNvSpPr txBox="1"/>
          <p:nvPr/>
        </p:nvSpPr>
        <p:spPr>
          <a:xfrm>
            <a:off x="6949440" y="2148840"/>
            <a:ext cx="1554480" cy="201168"/>
          </a:xfrm>
          <a:prstGeom prst="rect">
            <a:avLst/>
          </a:prstGeom>
          <a:noFill/>
          <a:ln/>
        </p:spPr>
        <p:txBody>
          <a:bodyPr wrap="square" lIns="0" tIns="0" rIns="0" bIns="0" rtlCol="0" anchor="t"/>
          <a:lstStyle/>
          <a:p>
            <a:pPr marL="0" indent="0">
              <a:buNone/>
            </a:pPr>
            <a:r>
              <a:rPr lang="en-US" sz="1100" b="1" kern="0" spc="200" dirty="0">
                <a:solidFill>
                  <a:srgbClr val="138A52"/>
                </a:solidFill>
                <a:latin typeface="Arial" pitchFamily="34" charset="0"/>
                <a:ea typeface="Arial" pitchFamily="34" charset="-122"/>
                <a:cs typeface="Arial" pitchFamily="34" charset="-120"/>
              </a:rPr>
              <a:t>PHASE 4</a:t>
            </a:r>
            <a:endParaRPr lang="en-US" sz="1100" dirty="0"/>
          </a:p>
        </p:txBody>
      </p:sp>
      <p:sp>
        <p:nvSpPr>
          <p:cNvPr id="22" name="Text 20"/>
          <p:cNvSpPr txBox="1"/>
          <p:nvPr/>
        </p:nvSpPr>
        <p:spPr>
          <a:xfrm>
            <a:off x="6949440" y="2377440"/>
            <a:ext cx="1554480" cy="292608"/>
          </a:xfrm>
          <a:prstGeom prst="rect">
            <a:avLst/>
          </a:prstGeom>
          <a:noFill/>
          <a:ln/>
        </p:spPr>
        <p:txBody>
          <a:bodyPr wrap="square" lIns="0" tIns="0" rIns="0" bIns="0" rtlCol="0" anchor="t"/>
          <a:lstStyle/>
          <a:p>
            <a:pPr marL="0" indent="0">
              <a:buNone/>
            </a:pPr>
            <a:r>
              <a:rPr lang="en-US" sz="1700" b="1" dirty="0">
                <a:solidFill>
                  <a:srgbClr val="36312D"/>
                </a:solidFill>
                <a:latin typeface="Arial" pitchFamily="34" charset="0"/>
                <a:ea typeface="Arial" pitchFamily="34" charset="-122"/>
                <a:cs typeface="Arial" pitchFamily="34" charset="-120"/>
              </a:rPr>
              <a:t>Polish</a:t>
            </a:r>
            <a:endParaRPr lang="en-US" sz="1700" dirty="0"/>
          </a:p>
        </p:txBody>
      </p:sp>
      <p:sp>
        <p:nvSpPr>
          <p:cNvPr id="23" name="Text 21"/>
          <p:cNvSpPr txBox="1"/>
          <p:nvPr/>
        </p:nvSpPr>
        <p:spPr>
          <a:xfrm>
            <a:off x="6949440" y="2743200"/>
            <a:ext cx="1600200" cy="9144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79736E"/>
                </a:solidFill>
                <a:latin typeface="Arial" pitchFamily="34" charset="0"/>
                <a:ea typeface="Arial" pitchFamily="34" charset="-122"/>
                <a:cs typeface="Arial" pitchFamily="34" charset="-120"/>
              </a:rPr>
              <a:t>Accuracy testing</a:t>
            </a:r>
            <a:endParaRPr lang="en-US" sz="1300" dirty="0"/>
          </a:p>
          <a:p>
            <a:pPr marL="342900" indent="-342900">
              <a:spcAft>
                <a:spcPts val="400"/>
              </a:spcAft>
              <a:buSzPct val="100000"/>
              <a:buChar char="•"/>
            </a:pPr>
            <a:r>
              <a:rPr lang="en-US" sz="1300" dirty="0">
                <a:solidFill>
                  <a:srgbClr val="79736E"/>
                </a:solidFill>
                <a:latin typeface="Arial" pitchFamily="34" charset="0"/>
                <a:ea typeface="Arial" pitchFamily="34" charset="-122"/>
                <a:cs typeface="Arial" pitchFamily="34" charset="-120"/>
              </a:rPr>
              <a:t>Admin analytics</a:t>
            </a:r>
            <a:endParaRPr lang="en-US" sz="1300" dirty="0"/>
          </a:p>
          <a:p>
            <a:pPr marL="342900" indent="-342900">
              <a:spcAft>
                <a:spcPts val="400"/>
              </a:spcAft>
              <a:buSzPct val="100000"/>
              <a:buChar char="•"/>
            </a:pPr>
            <a:r>
              <a:rPr lang="en-US" sz="1300" dirty="0">
                <a:solidFill>
                  <a:srgbClr val="79736E"/>
                </a:solidFill>
                <a:latin typeface="Arial" pitchFamily="34" charset="0"/>
                <a:ea typeface="Arial" pitchFamily="34" charset="-122"/>
                <a:cs typeface="Arial" pitchFamily="34" charset="-120"/>
              </a:rPr>
              <a:t>Demo and pitch</a:t>
            </a:r>
            <a:endParaRPr lang="en-US" sz="1300" dirty="0"/>
          </a:p>
        </p:txBody>
      </p:sp>
      <p:sp>
        <p:nvSpPr>
          <p:cNvPr id="24" name="Shape 22"/>
          <p:cNvSpPr/>
          <p:nvPr/>
        </p:nvSpPr>
        <p:spPr>
          <a:xfrm>
            <a:off x="457200" y="3886200"/>
            <a:ext cx="8229600" cy="685800"/>
          </a:xfrm>
          <a:prstGeom prst="roundRect">
            <a:avLst>
              <a:gd name="adj" fmla="val 10667"/>
            </a:avLst>
          </a:prstGeom>
          <a:solidFill>
            <a:srgbClr val="26211E"/>
          </a:solidFill>
          <a:ln/>
        </p:spPr>
        <p:txBody>
          <a:bodyPr/>
          <a:lstStyle/>
          <a:p>
            <a:endParaRPr lang="en-IN"/>
          </a:p>
        </p:txBody>
      </p:sp>
      <p:sp>
        <p:nvSpPr>
          <p:cNvPr id="25" name="Text 23"/>
          <p:cNvSpPr txBox="1"/>
          <p:nvPr/>
        </p:nvSpPr>
        <p:spPr>
          <a:xfrm>
            <a:off x="685800" y="3886200"/>
            <a:ext cx="7772400" cy="685800"/>
          </a:xfrm>
          <a:prstGeom prst="rect">
            <a:avLst/>
          </a:prstGeom>
          <a:noFill/>
          <a:ln/>
        </p:spPr>
        <p:txBody>
          <a:bodyPr wrap="square" lIns="0" tIns="0" rIns="0" bIns="0" rtlCol="0" anchor="ctr"/>
          <a:lstStyle/>
          <a:p>
            <a:pPr marL="0" indent="0">
              <a:buNone/>
            </a:pPr>
            <a:r>
              <a:rPr lang="en-US" sz="1300" b="1" dirty="0">
                <a:solidFill>
                  <a:srgbClr val="1FBF75"/>
                </a:solidFill>
                <a:latin typeface="Arial" pitchFamily="34" charset="0"/>
                <a:ea typeface="Arial" pitchFamily="34" charset="-122"/>
                <a:cs typeface="Arial" pitchFamily="34" charset="-120"/>
              </a:rPr>
              <a:t>Demo plan: </a:t>
            </a:r>
            <a:r>
              <a:rPr lang="en-US" sz="1300" dirty="0">
                <a:solidFill>
                  <a:srgbClr val="FFFFFF"/>
                </a:solidFill>
                <a:latin typeface="Arial" pitchFamily="34" charset="0"/>
                <a:ea typeface="Arial" pitchFamily="34" charset="-122"/>
                <a:cs typeface="Arial" pitchFamily="34" charset="-120"/>
              </a:rPr>
              <a:t>recorded parking-lot video plus a live webcam over a printed mini-lot; validate on public datasets such as PKLot and CNRPark-EXT.</a:t>
            </a:r>
            <a:endParaRPr lang="en-US" sz="1300" dirty="0"/>
          </a:p>
        </p:txBody>
      </p:sp>
      <p:sp>
        <p:nvSpPr>
          <p:cNvPr id="26" name="Text 24"/>
          <p:cNvSpPr txBox="1"/>
          <p:nvPr/>
        </p:nvSpPr>
        <p:spPr>
          <a:xfrm>
            <a:off x="457200" y="4846320"/>
            <a:ext cx="5486400" cy="201168"/>
          </a:xfrm>
          <a:prstGeom prst="rect">
            <a:avLst/>
          </a:prstGeom>
          <a:noFill/>
          <a:ln/>
        </p:spPr>
        <p:txBody>
          <a:bodyPr wrap="square" lIns="0" tIns="0" rIns="0" bIns="0" rtlCol="0" anchor="t"/>
          <a:lstStyle/>
          <a:p>
            <a:r>
              <a:rPr lang="en-US" sz="1000" dirty="0" err="1">
                <a:solidFill>
                  <a:srgbClr val="79736E"/>
                </a:solidFill>
                <a:latin typeface="Arial" pitchFamily="34" charset="0"/>
                <a:ea typeface="Arial" pitchFamily="34" charset="-122"/>
                <a:cs typeface="Arial" pitchFamily="34" charset="-120"/>
              </a:rPr>
              <a:t>ParkSense</a:t>
            </a:r>
            <a:r>
              <a:rPr lang="en-US" sz="1000" dirty="0">
                <a:solidFill>
                  <a:srgbClr val="79736E"/>
                </a:solidFill>
                <a:latin typeface="Arial" pitchFamily="34" charset="0"/>
                <a:ea typeface="Arial" pitchFamily="34" charset="-122"/>
                <a:cs typeface="Arial" pitchFamily="34" charset="-120"/>
              </a:rPr>
              <a:t>   ·  Final Review</a:t>
            </a:r>
            <a:endParaRPr lang="en-US" sz="1000" dirty="0"/>
          </a:p>
        </p:txBody>
      </p:sp>
      <p:sp>
        <p:nvSpPr>
          <p:cNvPr id="27" name="Text 25"/>
          <p:cNvSpPr txBox="1"/>
          <p:nvPr/>
        </p:nvSpPr>
        <p:spPr>
          <a:xfrm>
            <a:off x="8229600" y="4846320"/>
            <a:ext cx="457200" cy="201168"/>
          </a:xfrm>
          <a:prstGeom prst="rect">
            <a:avLst/>
          </a:prstGeom>
          <a:noFill/>
          <a:ln/>
        </p:spPr>
        <p:txBody>
          <a:bodyPr wrap="square" lIns="0" tIns="0" rIns="0" bIns="0" rtlCol="0" anchor="t"/>
          <a:lstStyle/>
          <a:p>
            <a:pPr marL="0" indent="0" algn="r">
              <a:buNone/>
            </a:pPr>
            <a:r>
              <a:rPr lang="en-US" sz="1000" dirty="0">
                <a:solidFill>
                  <a:srgbClr val="79736E"/>
                </a:solidFill>
                <a:latin typeface="Arial" pitchFamily="34" charset="0"/>
                <a:ea typeface="Arial" pitchFamily="34" charset="-122"/>
                <a:cs typeface="Arial"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6211E"/>
        </a:solidFill>
        <a:effectLst/>
      </p:bgPr>
    </p:bg>
    <p:spTree>
      <p:nvGrpSpPr>
        <p:cNvPr id="1" name=""/>
        <p:cNvGrpSpPr/>
        <p:nvPr/>
      </p:nvGrpSpPr>
      <p:grpSpPr>
        <a:xfrm>
          <a:off x="0" y="0"/>
          <a:ext cx="0" cy="0"/>
          <a:chOff x="0" y="0"/>
          <a:chExt cx="0" cy="0"/>
        </a:xfrm>
      </p:grpSpPr>
      <p:sp>
        <p:nvSpPr>
          <p:cNvPr id="2" name="Text 0"/>
          <p:cNvSpPr txBox="1"/>
          <p:nvPr/>
        </p:nvSpPr>
        <p:spPr>
          <a:xfrm>
            <a:off x="548640" y="640080"/>
            <a:ext cx="4846320" cy="146304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Smarter parking, one camera at a time</a:t>
            </a:r>
            <a:endParaRPr lang="en-US" sz="3800" dirty="0"/>
          </a:p>
        </p:txBody>
      </p:sp>
      <p:sp>
        <p:nvSpPr>
          <p:cNvPr id="3" name="Shape 1"/>
          <p:cNvSpPr/>
          <p:nvPr/>
        </p:nvSpPr>
        <p:spPr>
          <a:xfrm>
            <a:off x="548640" y="2377440"/>
            <a:ext cx="457200" cy="457200"/>
          </a:xfrm>
          <a:prstGeom prst="ellipse">
            <a:avLst/>
          </a:prstGeom>
          <a:solidFill>
            <a:srgbClr val="1FBF75"/>
          </a:solidFill>
          <a:ln/>
        </p:spPr>
        <p:txBody>
          <a:bodyPr/>
          <a:lstStyle/>
          <a:p>
            <a:endParaRPr lang="en-IN"/>
          </a:p>
        </p:txBody>
      </p:sp>
      <p:pic>
        <p:nvPicPr>
          <p:cNvPr id="4" name="Image 0" descr="preencoded.png"/>
          <p:cNvPicPr>
            <a:picLocks noChangeAspect="1"/>
          </p:cNvPicPr>
          <p:nvPr/>
        </p:nvPicPr>
        <p:blipFill>
          <a:blip r:embed="rId3"/>
          <a:stretch>
            <a:fillRect/>
          </a:stretch>
        </p:blipFill>
        <p:spPr>
          <a:xfrm>
            <a:off x="662940" y="2491740"/>
            <a:ext cx="228600" cy="228600"/>
          </a:xfrm>
          <a:prstGeom prst="rect">
            <a:avLst/>
          </a:prstGeom>
        </p:spPr>
      </p:pic>
      <p:sp>
        <p:nvSpPr>
          <p:cNvPr id="5" name="Text 2"/>
          <p:cNvSpPr txBox="1"/>
          <p:nvPr/>
        </p:nvSpPr>
        <p:spPr>
          <a:xfrm>
            <a:off x="1188720" y="2377440"/>
            <a:ext cx="4206240" cy="457200"/>
          </a:xfrm>
          <a:prstGeom prst="rect">
            <a:avLst/>
          </a:prstGeom>
          <a:noFill/>
          <a:ln/>
        </p:spPr>
        <p:txBody>
          <a:bodyPr wrap="square" lIns="0" tIns="0" rIns="0" bIns="0" rtlCol="0" anchor="ctr"/>
          <a:lstStyle/>
          <a:p>
            <a:pPr marL="0" indent="0">
              <a:buNone/>
            </a:pPr>
            <a:r>
              <a:rPr lang="en-US" sz="1600" dirty="0">
                <a:solidFill>
                  <a:srgbClr val="E1DDD9"/>
                </a:solidFill>
                <a:latin typeface="Arial" pitchFamily="34" charset="0"/>
                <a:ea typeface="Arial" pitchFamily="34" charset="-122"/>
                <a:cs typeface="Arial" pitchFamily="34" charset="-120"/>
              </a:rPr>
              <a:t>Less time searching for a bay</a:t>
            </a:r>
            <a:endParaRPr lang="en-US" sz="1600" dirty="0"/>
          </a:p>
        </p:txBody>
      </p:sp>
      <p:sp>
        <p:nvSpPr>
          <p:cNvPr id="6" name="Shape 3"/>
          <p:cNvSpPr/>
          <p:nvPr/>
        </p:nvSpPr>
        <p:spPr>
          <a:xfrm>
            <a:off x="548640" y="3063240"/>
            <a:ext cx="457200" cy="457200"/>
          </a:xfrm>
          <a:prstGeom prst="ellipse">
            <a:avLst/>
          </a:prstGeom>
          <a:solidFill>
            <a:srgbClr val="1FBF75"/>
          </a:solidFill>
          <a:ln/>
        </p:spPr>
        <p:txBody>
          <a:bodyPr/>
          <a:lstStyle/>
          <a:p>
            <a:endParaRPr lang="en-IN"/>
          </a:p>
        </p:txBody>
      </p:sp>
      <p:pic>
        <p:nvPicPr>
          <p:cNvPr id="7" name="Image 1" descr="preencoded.png"/>
          <p:cNvPicPr>
            <a:picLocks noChangeAspect="1"/>
          </p:cNvPicPr>
          <p:nvPr/>
        </p:nvPicPr>
        <p:blipFill>
          <a:blip r:embed="rId4"/>
          <a:stretch>
            <a:fillRect/>
          </a:stretch>
        </p:blipFill>
        <p:spPr>
          <a:xfrm>
            <a:off x="662940" y="3177540"/>
            <a:ext cx="228600" cy="228600"/>
          </a:xfrm>
          <a:prstGeom prst="rect">
            <a:avLst/>
          </a:prstGeom>
        </p:spPr>
      </p:pic>
      <p:sp>
        <p:nvSpPr>
          <p:cNvPr id="8" name="Text 4"/>
          <p:cNvSpPr txBox="1"/>
          <p:nvPr/>
        </p:nvSpPr>
        <p:spPr>
          <a:xfrm>
            <a:off x="1188720" y="3063240"/>
            <a:ext cx="4206240" cy="457200"/>
          </a:xfrm>
          <a:prstGeom prst="rect">
            <a:avLst/>
          </a:prstGeom>
          <a:noFill/>
          <a:ln/>
        </p:spPr>
        <p:txBody>
          <a:bodyPr wrap="square" lIns="0" tIns="0" rIns="0" bIns="0" rtlCol="0" anchor="ctr"/>
          <a:lstStyle/>
          <a:p>
            <a:pPr marL="0" indent="0">
              <a:buNone/>
            </a:pPr>
            <a:r>
              <a:rPr lang="en-US" sz="1600" dirty="0">
                <a:solidFill>
                  <a:srgbClr val="E1DDD9"/>
                </a:solidFill>
                <a:latin typeface="Arial" pitchFamily="34" charset="0"/>
                <a:ea typeface="Arial" pitchFamily="34" charset="-122"/>
                <a:cs typeface="Arial" pitchFamily="34" charset="-120"/>
              </a:rPr>
              <a:t>Lower congestion and emissions</a:t>
            </a:r>
            <a:endParaRPr lang="en-US" sz="1600" dirty="0"/>
          </a:p>
        </p:txBody>
      </p:sp>
      <p:sp>
        <p:nvSpPr>
          <p:cNvPr id="9" name="Shape 5"/>
          <p:cNvSpPr/>
          <p:nvPr/>
        </p:nvSpPr>
        <p:spPr>
          <a:xfrm>
            <a:off x="548640" y="3749040"/>
            <a:ext cx="457200" cy="457200"/>
          </a:xfrm>
          <a:prstGeom prst="ellipse">
            <a:avLst/>
          </a:prstGeom>
          <a:solidFill>
            <a:srgbClr val="1FBF75"/>
          </a:solidFill>
          <a:ln/>
        </p:spPr>
        <p:txBody>
          <a:bodyPr/>
          <a:lstStyle/>
          <a:p>
            <a:endParaRPr lang="en-IN"/>
          </a:p>
        </p:txBody>
      </p:sp>
      <p:pic>
        <p:nvPicPr>
          <p:cNvPr id="10" name="Image 2" descr="preencoded.png"/>
          <p:cNvPicPr>
            <a:picLocks noChangeAspect="1"/>
          </p:cNvPicPr>
          <p:nvPr/>
        </p:nvPicPr>
        <p:blipFill>
          <a:blip r:embed="rId5"/>
          <a:stretch>
            <a:fillRect/>
          </a:stretch>
        </p:blipFill>
        <p:spPr>
          <a:xfrm>
            <a:off x="662940" y="3863340"/>
            <a:ext cx="228600" cy="228600"/>
          </a:xfrm>
          <a:prstGeom prst="rect">
            <a:avLst/>
          </a:prstGeom>
        </p:spPr>
      </p:pic>
      <p:sp>
        <p:nvSpPr>
          <p:cNvPr id="11" name="Text 6"/>
          <p:cNvSpPr txBox="1"/>
          <p:nvPr/>
        </p:nvSpPr>
        <p:spPr>
          <a:xfrm>
            <a:off x="1188720" y="3749040"/>
            <a:ext cx="4206240" cy="457200"/>
          </a:xfrm>
          <a:prstGeom prst="rect">
            <a:avLst/>
          </a:prstGeom>
          <a:noFill/>
          <a:ln/>
        </p:spPr>
        <p:txBody>
          <a:bodyPr wrap="square" lIns="0" tIns="0" rIns="0" bIns="0" rtlCol="0" anchor="ctr"/>
          <a:lstStyle/>
          <a:p>
            <a:pPr marL="0" indent="0">
              <a:buNone/>
            </a:pPr>
            <a:r>
              <a:rPr lang="en-US" sz="1600" dirty="0">
                <a:solidFill>
                  <a:srgbClr val="E1DDD9"/>
                </a:solidFill>
                <a:latin typeface="Arial" pitchFamily="34" charset="0"/>
                <a:ea typeface="Arial" pitchFamily="34" charset="-122"/>
                <a:cs typeface="Arial" pitchFamily="34" charset="-120"/>
              </a:rPr>
              <a:t>Scales to malls, campuses, hospitals and airports</a:t>
            </a:r>
            <a:endParaRPr lang="en-US" sz="1600" dirty="0"/>
          </a:p>
        </p:txBody>
      </p:sp>
      <p:sp>
        <p:nvSpPr>
          <p:cNvPr id="12" name="Shape 7"/>
          <p:cNvSpPr/>
          <p:nvPr/>
        </p:nvSpPr>
        <p:spPr>
          <a:xfrm>
            <a:off x="5760720" y="640080"/>
            <a:ext cx="2926080" cy="3840480"/>
          </a:xfrm>
          <a:prstGeom prst="roundRect">
            <a:avLst>
              <a:gd name="adj" fmla="val 3750"/>
            </a:avLst>
          </a:prstGeom>
          <a:solidFill>
            <a:srgbClr val="3A332E"/>
          </a:solidFill>
          <a:ln/>
        </p:spPr>
        <p:txBody>
          <a:bodyPr/>
          <a:lstStyle/>
          <a:p>
            <a:endParaRPr lang="en-IN"/>
          </a:p>
        </p:txBody>
      </p:sp>
      <p:sp>
        <p:nvSpPr>
          <p:cNvPr id="13" name="Shape 8"/>
          <p:cNvSpPr/>
          <p:nvPr/>
        </p:nvSpPr>
        <p:spPr>
          <a:xfrm>
            <a:off x="5989320" y="914400"/>
            <a:ext cx="713232" cy="640080"/>
          </a:xfrm>
          <a:prstGeom prst="roundRect">
            <a:avLst>
              <a:gd name="adj" fmla="val 8571"/>
            </a:avLst>
          </a:prstGeom>
          <a:solidFill>
            <a:srgbClr val="E5484D">
              <a:alpha val="20000"/>
            </a:srgbClr>
          </a:solidFill>
          <a:ln w="19050">
            <a:solidFill>
              <a:srgbClr val="E5484D"/>
            </a:solidFill>
            <a:prstDash val="solid"/>
          </a:ln>
        </p:spPr>
        <p:txBody>
          <a:bodyPr/>
          <a:lstStyle/>
          <a:p>
            <a:endParaRPr lang="en-IN"/>
          </a:p>
        </p:txBody>
      </p:sp>
      <p:pic>
        <p:nvPicPr>
          <p:cNvPr id="14" name="Image 3" descr="preencoded.png"/>
          <p:cNvPicPr>
            <a:picLocks noChangeAspect="1"/>
          </p:cNvPicPr>
          <p:nvPr/>
        </p:nvPicPr>
        <p:blipFill>
          <a:blip r:embed="rId6"/>
          <a:stretch>
            <a:fillRect/>
          </a:stretch>
        </p:blipFill>
        <p:spPr>
          <a:xfrm>
            <a:off x="6185916" y="1074420"/>
            <a:ext cx="320040" cy="320040"/>
          </a:xfrm>
          <a:prstGeom prst="rect">
            <a:avLst/>
          </a:prstGeom>
        </p:spPr>
      </p:pic>
      <p:sp>
        <p:nvSpPr>
          <p:cNvPr id="15" name="Text 9"/>
          <p:cNvSpPr txBox="1"/>
          <p:nvPr/>
        </p:nvSpPr>
        <p:spPr>
          <a:xfrm>
            <a:off x="6812280" y="914400"/>
            <a:ext cx="713232" cy="640080"/>
          </a:xfrm>
          <a:prstGeom prst="roundRect">
            <a:avLst>
              <a:gd name="adj" fmla="val 8571"/>
            </a:avLst>
          </a:prstGeom>
          <a:solidFill>
            <a:srgbClr val="1FBF75">
              <a:alpha val="12000"/>
            </a:srgbClr>
          </a:solidFill>
          <a:ln w="19050">
            <a:solidFill>
              <a:srgbClr val="1FBF75"/>
            </a:solidFill>
          </a:ln>
        </p:spPr>
        <p:txBody>
          <a:bodyPr wrap="square" lIns="0" tIns="0" rIns="0" bIns="0" rtlCol="0" anchor="ctr"/>
          <a:lstStyle/>
          <a:p>
            <a:pPr marL="0" indent="0" algn="ctr">
              <a:buNone/>
            </a:pPr>
            <a:r>
              <a:rPr lang="en-US" sz="1800" b="1" dirty="0">
                <a:solidFill>
                  <a:srgbClr val="1FBF75"/>
                </a:solidFill>
                <a:latin typeface="Arial" pitchFamily="34" charset="0"/>
                <a:ea typeface="Arial" pitchFamily="34" charset="-122"/>
                <a:cs typeface="Arial" pitchFamily="34" charset="-120"/>
              </a:rPr>
              <a:t>P</a:t>
            </a:r>
            <a:endParaRPr lang="en-US" sz="1800" dirty="0"/>
          </a:p>
        </p:txBody>
      </p:sp>
      <p:sp>
        <p:nvSpPr>
          <p:cNvPr id="16" name="Shape 10"/>
          <p:cNvSpPr/>
          <p:nvPr/>
        </p:nvSpPr>
        <p:spPr>
          <a:xfrm>
            <a:off x="7635240" y="914400"/>
            <a:ext cx="713232" cy="640080"/>
          </a:xfrm>
          <a:prstGeom prst="roundRect">
            <a:avLst>
              <a:gd name="adj" fmla="val 8571"/>
            </a:avLst>
          </a:prstGeom>
          <a:solidFill>
            <a:srgbClr val="E5484D">
              <a:alpha val="20000"/>
            </a:srgbClr>
          </a:solidFill>
          <a:ln w="19050">
            <a:solidFill>
              <a:srgbClr val="E5484D"/>
            </a:solidFill>
            <a:prstDash val="solid"/>
          </a:ln>
        </p:spPr>
        <p:txBody>
          <a:bodyPr/>
          <a:lstStyle/>
          <a:p>
            <a:endParaRPr lang="en-IN"/>
          </a:p>
        </p:txBody>
      </p:sp>
      <p:pic>
        <p:nvPicPr>
          <p:cNvPr id="17" name="Image 4" descr="preencoded.png"/>
          <p:cNvPicPr>
            <a:picLocks noChangeAspect="1"/>
          </p:cNvPicPr>
          <p:nvPr/>
        </p:nvPicPr>
        <p:blipFill>
          <a:blip r:embed="rId6"/>
          <a:stretch>
            <a:fillRect/>
          </a:stretch>
        </p:blipFill>
        <p:spPr>
          <a:xfrm>
            <a:off x="7831836" y="1074420"/>
            <a:ext cx="320040" cy="320040"/>
          </a:xfrm>
          <a:prstGeom prst="rect">
            <a:avLst/>
          </a:prstGeom>
        </p:spPr>
      </p:pic>
      <p:sp>
        <p:nvSpPr>
          <p:cNvPr id="18" name="Text 11"/>
          <p:cNvSpPr txBox="1"/>
          <p:nvPr/>
        </p:nvSpPr>
        <p:spPr>
          <a:xfrm>
            <a:off x="5989320" y="1737360"/>
            <a:ext cx="713232" cy="640080"/>
          </a:xfrm>
          <a:prstGeom prst="roundRect">
            <a:avLst>
              <a:gd name="adj" fmla="val 8571"/>
            </a:avLst>
          </a:prstGeom>
          <a:solidFill>
            <a:srgbClr val="1FBF75">
              <a:alpha val="12000"/>
            </a:srgbClr>
          </a:solidFill>
          <a:ln w="19050">
            <a:solidFill>
              <a:srgbClr val="1FBF75"/>
            </a:solidFill>
          </a:ln>
        </p:spPr>
        <p:txBody>
          <a:bodyPr wrap="square" lIns="0" tIns="0" rIns="0" bIns="0" rtlCol="0" anchor="ctr"/>
          <a:lstStyle/>
          <a:p>
            <a:pPr marL="0" indent="0" algn="ctr">
              <a:buNone/>
            </a:pPr>
            <a:r>
              <a:rPr lang="en-US" sz="1800" b="1" dirty="0">
                <a:solidFill>
                  <a:srgbClr val="1FBF75"/>
                </a:solidFill>
                <a:latin typeface="Arial" pitchFamily="34" charset="0"/>
                <a:ea typeface="Arial" pitchFamily="34" charset="-122"/>
                <a:cs typeface="Arial" pitchFamily="34" charset="-120"/>
              </a:rPr>
              <a:t>P</a:t>
            </a:r>
            <a:endParaRPr lang="en-US" sz="1800" dirty="0"/>
          </a:p>
        </p:txBody>
      </p:sp>
      <p:sp>
        <p:nvSpPr>
          <p:cNvPr id="19" name="Shape 12"/>
          <p:cNvSpPr/>
          <p:nvPr/>
        </p:nvSpPr>
        <p:spPr>
          <a:xfrm>
            <a:off x="6812280" y="1737360"/>
            <a:ext cx="713232" cy="640080"/>
          </a:xfrm>
          <a:prstGeom prst="roundRect">
            <a:avLst>
              <a:gd name="adj" fmla="val 8571"/>
            </a:avLst>
          </a:prstGeom>
          <a:solidFill>
            <a:srgbClr val="E5484D">
              <a:alpha val="20000"/>
            </a:srgbClr>
          </a:solidFill>
          <a:ln w="19050">
            <a:solidFill>
              <a:srgbClr val="E5484D"/>
            </a:solidFill>
            <a:prstDash val="solid"/>
          </a:ln>
        </p:spPr>
        <p:txBody>
          <a:bodyPr/>
          <a:lstStyle/>
          <a:p>
            <a:endParaRPr lang="en-IN"/>
          </a:p>
        </p:txBody>
      </p:sp>
      <p:pic>
        <p:nvPicPr>
          <p:cNvPr id="20" name="Image 5" descr="preencoded.png"/>
          <p:cNvPicPr>
            <a:picLocks noChangeAspect="1"/>
          </p:cNvPicPr>
          <p:nvPr/>
        </p:nvPicPr>
        <p:blipFill>
          <a:blip r:embed="rId6"/>
          <a:stretch>
            <a:fillRect/>
          </a:stretch>
        </p:blipFill>
        <p:spPr>
          <a:xfrm>
            <a:off x="7008876" y="1897380"/>
            <a:ext cx="320040" cy="320040"/>
          </a:xfrm>
          <a:prstGeom prst="rect">
            <a:avLst/>
          </a:prstGeom>
        </p:spPr>
      </p:pic>
      <p:sp>
        <p:nvSpPr>
          <p:cNvPr id="21" name="Text 13"/>
          <p:cNvSpPr txBox="1"/>
          <p:nvPr/>
        </p:nvSpPr>
        <p:spPr>
          <a:xfrm>
            <a:off x="7635240" y="1737360"/>
            <a:ext cx="713232" cy="640080"/>
          </a:xfrm>
          <a:prstGeom prst="roundRect">
            <a:avLst>
              <a:gd name="adj" fmla="val 8571"/>
            </a:avLst>
          </a:prstGeom>
          <a:solidFill>
            <a:srgbClr val="1FBF75">
              <a:alpha val="12000"/>
            </a:srgbClr>
          </a:solidFill>
          <a:ln w="19050">
            <a:solidFill>
              <a:srgbClr val="1FBF75"/>
            </a:solidFill>
          </a:ln>
        </p:spPr>
        <p:txBody>
          <a:bodyPr wrap="square" lIns="0" tIns="0" rIns="0" bIns="0" rtlCol="0" anchor="ctr"/>
          <a:lstStyle/>
          <a:p>
            <a:pPr marL="0" indent="0" algn="ctr">
              <a:buNone/>
            </a:pPr>
            <a:r>
              <a:rPr lang="en-US" sz="1800" b="1" dirty="0">
                <a:solidFill>
                  <a:srgbClr val="1FBF75"/>
                </a:solidFill>
                <a:latin typeface="Arial" pitchFamily="34" charset="0"/>
                <a:ea typeface="Arial" pitchFamily="34" charset="-122"/>
                <a:cs typeface="Arial" pitchFamily="34" charset="-120"/>
              </a:rPr>
              <a:t>P</a:t>
            </a:r>
            <a:endParaRPr lang="en-US" sz="1800" dirty="0"/>
          </a:p>
        </p:txBody>
      </p:sp>
      <p:sp>
        <p:nvSpPr>
          <p:cNvPr id="22" name="Text 14"/>
          <p:cNvSpPr txBox="1"/>
          <p:nvPr/>
        </p:nvSpPr>
        <p:spPr>
          <a:xfrm>
            <a:off x="5989320" y="2788920"/>
            <a:ext cx="2468880" cy="54864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Thank you</a:t>
            </a:r>
            <a:endParaRPr lang="en-US" sz="3200" dirty="0"/>
          </a:p>
        </p:txBody>
      </p:sp>
      <p:sp>
        <p:nvSpPr>
          <p:cNvPr id="23" name="Text 15"/>
          <p:cNvSpPr txBox="1"/>
          <p:nvPr/>
        </p:nvSpPr>
        <p:spPr>
          <a:xfrm>
            <a:off x="5989320" y="3383280"/>
            <a:ext cx="2468880" cy="548640"/>
          </a:xfrm>
          <a:prstGeom prst="rect">
            <a:avLst/>
          </a:prstGeom>
          <a:noFill/>
          <a:ln/>
        </p:spPr>
        <p:txBody>
          <a:bodyPr wrap="square" lIns="0" tIns="0" rIns="0" bIns="0" rtlCol="0" anchor="t"/>
          <a:lstStyle/>
          <a:p>
            <a:pPr marL="0" indent="0">
              <a:buNone/>
            </a:pPr>
            <a:r>
              <a:rPr lang="en-US" sz="1400" dirty="0">
                <a:solidFill>
                  <a:srgbClr val="E1DDD9"/>
                </a:solidFill>
                <a:latin typeface="Arial" pitchFamily="34" charset="0"/>
                <a:ea typeface="Arial" pitchFamily="34" charset="-122"/>
                <a:cs typeface="Arial" pitchFamily="34" charset="-120"/>
              </a:rPr>
              <a:t>Questions and feedback welcome</a:t>
            </a:r>
            <a:endParaRPr lang="en-US" sz="1400" dirty="0"/>
          </a:p>
        </p:txBody>
      </p:sp>
      <p:sp>
        <p:nvSpPr>
          <p:cNvPr id="24" name="Text 16"/>
          <p:cNvSpPr txBox="1"/>
          <p:nvPr/>
        </p:nvSpPr>
        <p:spPr>
          <a:xfrm>
            <a:off x="457200" y="4846320"/>
            <a:ext cx="5486400" cy="201168"/>
          </a:xfrm>
          <a:prstGeom prst="rect">
            <a:avLst/>
          </a:prstGeom>
          <a:noFill/>
          <a:ln/>
        </p:spPr>
        <p:txBody>
          <a:bodyPr wrap="square" lIns="0" tIns="0" rIns="0" bIns="0" rtlCol="0" anchor="t"/>
          <a:lstStyle/>
          <a:p>
            <a:r>
              <a:rPr lang="en-US" sz="1000" dirty="0" err="1">
                <a:solidFill>
                  <a:srgbClr val="79736E"/>
                </a:solidFill>
                <a:latin typeface="Arial" pitchFamily="34" charset="0"/>
                <a:ea typeface="Arial" pitchFamily="34" charset="-122"/>
                <a:cs typeface="Arial" pitchFamily="34" charset="-120"/>
              </a:rPr>
              <a:t>ParkSense</a:t>
            </a:r>
            <a:r>
              <a:rPr lang="en-US" sz="1000">
                <a:solidFill>
                  <a:srgbClr val="79736E"/>
                </a:solidFill>
                <a:latin typeface="Arial" pitchFamily="34" charset="0"/>
                <a:ea typeface="Arial" pitchFamily="34" charset="-122"/>
                <a:cs typeface="Arial" pitchFamily="34" charset="-120"/>
              </a:rPr>
              <a:t>   ·  Final Review</a:t>
            </a:r>
            <a:endParaRPr lang="en-US" sz="1000" dirty="0"/>
          </a:p>
        </p:txBody>
      </p:sp>
      <p:sp>
        <p:nvSpPr>
          <p:cNvPr id="25" name="Text 17"/>
          <p:cNvSpPr txBox="1"/>
          <p:nvPr/>
        </p:nvSpPr>
        <p:spPr>
          <a:xfrm>
            <a:off x="8229600" y="4846320"/>
            <a:ext cx="457200" cy="201168"/>
          </a:xfrm>
          <a:prstGeom prst="rect">
            <a:avLst/>
          </a:prstGeom>
          <a:noFill/>
          <a:ln/>
        </p:spPr>
        <p:txBody>
          <a:bodyPr wrap="square" lIns="0" tIns="0" rIns="0" bIns="0" rtlCol="0" anchor="t"/>
          <a:lstStyle/>
          <a:p>
            <a:pPr marL="0" indent="0" algn="r">
              <a:buNone/>
            </a:pPr>
            <a:r>
              <a:rPr lang="en-US" sz="1000" dirty="0">
                <a:solidFill>
                  <a:srgbClr val="B8B1AB"/>
                </a:solidFill>
                <a:latin typeface="Arial" pitchFamily="34" charset="0"/>
                <a:ea typeface="Arial" pitchFamily="34" charset="-122"/>
                <a:cs typeface="Arial" pitchFamily="34" charset="-120"/>
              </a:rPr>
              <a:t>17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B2420"/>
      </a:dk2>
      <a:lt2>
        <a:srgbClr val="F7F4F0"/>
      </a:lt2>
      <a:accent1>
        <a:srgbClr val="F26B2D"/>
      </a:accent1>
      <a:accent2>
        <a:srgbClr val="1FBF75"/>
      </a:accent2>
      <a:accent3>
        <a:srgbClr val="E5484D"/>
      </a:accent3>
      <a:accent4>
        <a:srgbClr val="F5A524"/>
      </a:accent4>
      <a:accent5>
        <a:srgbClr val="B8754F"/>
      </a:accent5>
      <a:accent6>
        <a:srgbClr val="FF8A4C"/>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1996</Words>
  <Application>Microsoft Office PowerPoint</Application>
  <PresentationFormat>On-screen Show (16:9)</PresentationFormat>
  <Paragraphs>397</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ParkSense - PrismTech Hackathon Final Review</dc:title>
  <dc:subject>PptxGenJS Presentation</dc:subject>
  <dc:creator>PptxGenJS</dc:creator>
  <cp:lastModifiedBy>dhamireddy likitha sai</cp:lastModifiedBy>
  <cp:revision>2</cp:revision>
  <dcterms:created xsi:type="dcterms:W3CDTF">2026-09-19T06:51:23Z</dcterms:created>
  <dcterms:modified xsi:type="dcterms:W3CDTF">2026-10-22T17:15:14Z</dcterms:modified>
</cp:coreProperties>
</file>